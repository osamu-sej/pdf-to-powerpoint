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59.jpeg" ContentType="image/jpeg"/>
  <Override PartName="/ppt/media/image42.jpeg" ContentType="image/jpeg"/>
  <Override PartName="/ppt/media/image83.png" ContentType="image/png"/>
  <Override PartName="/ppt/media/image58.png" ContentType="image/png"/>
  <Override PartName="/ppt/media/image46.jpeg" ContentType="image/jpeg"/>
  <Override PartName="/ppt/media/image57.jpeg" ContentType="image/jpeg"/>
  <Override PartName="/ppt/media/image63.png" ContentType="image/png"/>
  <Override PartName="/ppt/media/image56.jpeg" ContentType="image/jpeg"/>
  <Override PartName="/ppt/media/image54.jpeg" ContentType="image/jpeg"/>
  <Override PartName="/ppt/media/image53.jpeg" ContentType="image/jpeg"/>
  <Override PartName="/ppt/media/image23.png" ContentType="image/png"/>
  <Override PartName="/ppt/media/image51.png" ContentType="image/png"/>
  <Override PartName="/ppt/media/image4.jpeg" ContentType="image/jpeg"/>
  <Override PartName="/ppt/media/image49.jpeg" ContentType="image/jpeg"/>
  <Override PartName="/ppt/media/image48.jpeg" ContentType="image/jpeg"/>
  <Override PartName="/ppt/media/image47.jpeg" ContentType="image/jpeg"/>
  <Override PartName="/ppt/media/image45.jpeg" ContentType="image/jpeg"/>
  <Override PartName="/ppt/media/image44.jpeg" ContentType="image/jpeg"/>
  <Override PartName="/ppt/media/image41.png" ContentType="image/png"/>
  <Override PartName="/ppt/media/image3.jpeg" ContentType="image/jpeg"/>
  <Override PartName="/ppt/media/image34.jpeg" ContentType="image/jpeg"/>
  <Override PartName="/ppt/media/image33.jpeg" ContentType="image/jpeg"/>
  <Override PartName="/ppt/media/image32.jpeg" ContentType="image/jpeg"/>
  <Override PartName="/ppt/media/image31.jpeg" ContentType="image/jpeg"/>
  <Override PartName="/ppt/media/image30.jpeg" ContentType="image/jpeg"/>
  <Override PartName="/ppt/media/image12.png" ContentType="image/png"/>
  <Override PartName="/ppt/media/image20.jpeg" ContentType="image/jpeg"/>
  <Override PartName="/ppt/media/image39.jpeg" ContentType="image/jpeg"/>
  <Override PartName="/ppt/media/image5.png" ContentType="image/png"/>
  <Override PartName="/ppt/media/image82.png" ContentType="image/png"/>
  <Override PartName="/ppt/media/image98.jpeg" ContentType="image/jpeg"/>
  <Override PartName="/ppt/media/image8.jpeg" ContentType="image/jpeg"/>
  <Override PartName="/ppt/media/image91.png" ContentType="image/png"/>
  <Override PartName="/ppt/media/image43.jpeg" ContentType="image/jpeg"/>
  <Override PartName="/ppt/media/image52.jpeg" ContentType="image/jpeg"/>
  <Override PartName="/ppt/media/image29.jpeg" ContentType="image/jpeg"/>
  <Override PartName="/ppt/media/image88.jpeg" ContentType="image/jpeg"/>
  <Override PartName="/ppt/media/image9.jpeg" ContentType="image/jpeg"/>
  <Override PartName="/ppt/media/image11.jpeg" ContentType="image/jpeg"/>
  <Override PartName="/ppt/media/image28.jpeg" ContentType="image/jpeg"/>
  <Override PartName="/ppt/media/image87.jpeg" ContentType="image/jpeg"/>
  <Override PartName="/ppt/media/image40.jpeg" ContentType="image/jpeg"/>
  <Override PartName="/ppt/media/image13.jpeg" ContentType="image/jpeg"/>
  <Override PartName="/ppt/media/image18.jpeg" ContentType="image/jpeg"/>
  <Override PartName="/ppt/media/image77.jpeg" ContentType="image/jpeg"/>
  <Override PartName="/ppt/media/image60.jpeg" ContentType="image/jpeg"/>
  <Override PartName="/ppt/media/image37.jpeg" ContentType="image/jpeg"/>
  <Override PartName="/ppt/media/image62.jpeg" ContentType="image/jpeg"/>
  <Override PartName="/ppt/media/image79.jpeg" ContentType="image/jpeg"/>
  <Override PartName="/ppt/media/image64.jpeg" ContentType="image/jpeg"/>
  <Override PartName="/ppt/media/image7.jpeg" ContentType="image/jpeg"/>
  <Override PartName="/ppt/media/image65.jpeg" ContentType="image/jpeg"/>
  <Override PartName="/ppt/media/image92.jpeg" ContentType="image/jpeg"/>
  <Override PartName="/ppt/media/image80.png" ContentType="image/png"/>
  <Override PartName="/ppt/media/image66.jpeg" ContentType="image/jpeg"/>
  <Override PartName="/ppt/media/image67.jpeg" ContentType="image/jpeg"/>
  <Override PartName="/ppt/media/image69.jpeg" ContentType="image/jpeg"/>
  <Override PartName="/ppt/media/image71.jpeg" ContentType="image/jpeg"/>
  <Override PartName="/ppt/media/image102.png" ContentType="image/png"/>
  <Override PartName="/ppt/media/image76.jpeg" ContentType="image/jpeg"/>
  <Override PartName="/ppt/media/image101.png" ContentType="image/png"/>
  <Override PartName="/ppt/media/image26.jpeg" ContentType="image/jpeg"/>
  <Override PartName="/ppt/media/image70.jpeg" ContentType="image/jpeg"/>
  <Override PartName="/ppt/media/image99.jpeg" ContentType="image/jpeg"/>
  <Override PartName="/ppt/media/image85.png" ContentType="image/png"/>
  <Override PartName="/ppt/media/image68.jpeg" ContentType="image/jpeg"/>
  <Override PartName="/ppt/media/image96.png" ContentType="image/png"/>
  <Override PartName="/ppt/media/image93.jpeg" ContentType="image/jpeg"/>
  <Override PartName="/ppt/media/image95.jpeg" ContentType="image/jpeg"/>
  <Override PartName="/ppt/media/image61.jpeg" ContentType="image/jpeg"/>
  <Override PartName="/ppt/media/image78.jpeg" ContentType="image/jpeg"/>
  <Override PartName="/ppt/media/image94.jpeg" ContentType="image/jpeg"/>
  <Override PartName="/ppt/media/image90.jpeg" ContentType="image/jpeg"/>
  <Override PartName="/ppt/media/image6.jpeg" ContentType="image/jpeg"/>
  <Override PartName="/ppt/media/image74.jpeg" ContentType="image/jpeg"/>
  <Override PartName="/ppt/media/image73.jpeg" ContentType="image/jpeg"/>
  <Override PartName="/ppt/media/image21.jpeg" ContentType="image/jpeg"/>
  <Override PartName="/ppt/media/image100.jpeg" ContentType="image/jpeg"/>
  <Override PartName="/ppt/media/image19.jpeg" ContentType="image/jpeg"/>
  <Override PartName="/ppt/media/image17.jpeg" ContentType="image/jpeg"/>
  <Override PartName="/ppt/media/image16.jpeg" ContentType="image/jpeg"/>
  <Override PartName="/ppt/media/image15.jpeg" ContentType="image/jpeg"/>
  <Override PartName="/ppt/media/image72.jpeg" ContentType="image/jpeg"/>
  <Override PartName="/ppt/media/image14.png" ContentType="image/png"/>
  <Override PartName="/ppt/media/image55.jpeg" ContentType="image/jpeg"/>
  <Override PartName="/ppt/media/image75.png" ContentType="image/png"/>
  <Override PartName="/ppt/media/image81.jpeg" ContentType="image/jpeg"/>
  <Override PartName="/ppt/media/image22.jpeg" ContentType="image/jpeg"/>
  <Override PartName="/ppt/media/image89.jpeg" ContentType="image/jpeg"/>
  <Override PartName="/ppt/media/image1.jpeg" ContentType="image/jpeg"/>
  <Override PartName="/ppt/media/image35.jpeg" ContentType="image/jpeg"/>
  <Override PartName="/ppt/media/image2.jpeg" ContentType="image/jpeg"/>
  <Override PartName="/ppt/media/image36.jpeg" ContentType="image/jpeg"/>
  <Override PartName="/ppt/media/image24.jpeg" ContentType="image/jpeg"/>
  <Override PartName="/ppt/media/image25.jpeg" ContentType="image/jpeg"/>
  <Override PartName="/ppt/media/image84.jpeg" ContentType="image/jpeg"/>
  <Override PartName="/ppt/media/image10.jpeg" ContentType="image/jpeg"/>
  <Override PartName="/ppt/media/image86.jpeg" ContentType="image/jpeg"/>
  <Override PartName="/ppt/media/image27.jpeg" ContentType="image/jpeg"/>
  <Override PartName="/ppt/media/image50.jpeg" ContentType="image/jpeg"/>
  <Override PartName="/ppt/media/image38.jpeg" ContentType="image/jpeg"/>
  <Override PartName="/ppt/media/image97.jpeg" ContentType="image/jpeg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5354280" cy="3768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520280"/>
            <a:ext cx="5354280" cy="3768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59200"/>
            <a:ext cx="10972080" cy="50292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520280"/>
            <a:ext cx="5354280" cy="3768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488760"/>
            <a:ext cx="5354280" cy="179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5354280" cy="3768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488760"/>
            <a:ext cx="5354280" cy="179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488760"/>
            <a:ext cx="10972080" cy="179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179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488760"/>
            <a:ext cx="10972080" cy="179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488760"/>
            <a:ext cx="5354280" cy="179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488760"/>
            <a:ext cx="5354280" cy="179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3532680" cy="179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280" y="1520280"/>
            <a:ext cx="3532680" cy="179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8720" y="1520280"/>
            <a:ext cx="3532680" cy="179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488760"/>
            <a:ext cx="3532680" cy="179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280" y="3488760"/>
            <a:ext cx="3532680" cy="179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8720" y="3488760"/>
            <a:ext cx="3532680" cy="179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image" Target="../media/image8.jpe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image" Target="../media/image12.png"/><Relationship Id="rId5" Type="http://schemas.openxmlformats.org/officeDocument/2006/relationships/image" Target="../media/image13.jpeg"/><Relationship Id="rId6" Type="http://schemas.openxmlformats.org/officeDocument/2006/relationships/image" Target="../media/image14.png"/><Relationship Id="rId7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image" Target="../media/image18.jpeg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image" Target="../media/image20.jpeg"/><Relationship Id="rId3" Type="http://schemas.openxmlformats.org/officeDocument/2006/relationships/image" Target="../media/image21.jpeg"/><Relationship Id="rId4" Type="http://schemas.openxmlformats.org/officeDocument/2006/relationships/image" Target="../media/image22.jpeg"/><Relationship Id="rId5" Type="http://schemas.openxmlformats.org/officeDocument/2006/relationships/image" Target="../media/image23.png"/><Relationship Id="rId6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image" Target="../media/image26.jpe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image" Target="../media/image30.jpeg"/><Relationship Id="rId5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image" Target="../media/image32.jpeg"/><Relationship Id="rId3" Type="http://schemas.openxmlformats.org/officeDocument/2006/relationships/image" Target="../media/image33.jpeg"/><Relationship Id="rId4" Type="http://schemas.openxmlformats.org/officeDocument/2006/relationships/image" Target="../media/image34.jpeg"/><Relationship Id="rId5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image" Target="../media/image36.jpeg"/><Relationship Id="rId3" Type="http://schemas.openxmlformats.org/officeDocument/2006/relationships/image" Target="../media/image37.jpeg"/><Relationship Id="rId4" Type="http://schemas.openxmlformats.org/officeDocument/2006/relationships/image" Target="../media/image38.jpeg"/><Relationship Id="rId5" Type="http://schemas.openxmlformats.org/officeDocument/2006/relationships/image" Target="../media/image39.jpeg"/><Relationship Id="rId6" Type="http://schemas.openxmlformats.org/officeDocument/2006/relationships/image" Target="../media/image40.jpeg"/><Relationship Id="rId7" Type="http://schemas.openxmlformats.org/officeDocument/2006/relationships/image" Target="../media/image41.png"/><Relationship Id="rId8" Type="http://schemas.openxmlformats.org/officeDocument/2006/relationships/image" Target="../media/image42.jpeg"/><Relationship Id="rId9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image" Target="../media/image44.jpeg"/><Relationship Id="rId3" Type="http://schemas.openxmlformats.org/officeDocument/2006/relationships/image" Target="../media/image45.jpeg"/><Relationship Id="rId4" Type="http://schemas.openxmlformats.org/officeDocument/2006/relationships/image" Target="../media/image46.jpeg"/><Relationship Id="rId5" Type="http://schemas.openxmlformats.org/officeDocument/2006/relationships/image" Target="../media/image47.jpeg"/><Relationship Id="rId6" Type="http://schemas.openxmlformats.org/officeDocument/2006/relationships/image" Target="../media/image48.jpeg"/><Relationship Id="rId7" Type="http://schemas.openxmlformats.org/officeDocument/2006/relationships/image" Target="../media/image49.jpeg"/><Relationship Id="rId8" Type="http://schemas.openxmlformats.org/officeDocument/2006/relationships/image" Target="../media/image50.jpeg"/><Relationship Id="rId9" Type="http://schemas.openxmlformats.org/officeDocument/2006/relationships/image" Target="../media/image51.png"/><Relationship Id="rId10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image" Target="../media/image53.jpeg"/><Relationship Id="rId3" Type="http://schemas.openxmlformats.org/officeDocument/2006/relationships/image" Target="../media/image54.jpeg"/><Relationship Id="rId4" Type="http://schemas.openxmlformats.org/officeDocument/2006/relationships/image" Target="../media/image55.jpeg"/><Relationship Id="rId5" Type="http://schemas.openxmlformats.org/officeDocument/2006/relationships/image" Target="../media/image56.jpeg"/><Relationship Id="rId6" Type="http://schemas.openxmlformats.org/officeDocument/2006/relationships/image" Target="../media/image57.jpeg"/><Relationship Id="rId7" Type="http://schemas.openxmlformats.org/officeDocument/2006/relationships/image" Target="../media/image58.png"/><Relationship Id="rId8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image" Target="../media/image60.jpeg"/><Relationship Id="rId3" Type="http://schemas.openxmlformats.org/officeDocument/2006/relationships/image" Target="../media/image61.jpeg"/><Relationship Id="rId4" Type="http://schemas.openxmlformats.org/officeDocument/2006/relationships/image" Target="../media/image62.jpeg"/><Relationship Id="rId5" Type="http://schemas.openxmlformats.org/officeDocument/2006/relationships/image" Target="../media/image63.png"/><Relationship Id="rId6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4.jpeg"/><Relationship Id="rId2" Type="http://schemas.openxmlformats.org/officeDocument/2006/relationships/image" Target="../media/image65.jpeg"/><Relationship Id="rId3" Type="http://schemas.openxmlformats.org/officeDocument/2006/relationships/image" Target="../media/image66.jpeg"/><Relationship Id="rId4" Type="http://schemas.openxmlformats.org/officeDocument/2006/relationships/image" Target="../media/image67.jpeg"/><Relationship Id="rId5" Type="http://schemas.openxmlformats.org/officeDocument/2006/relationships/image" Target="../media/image68.jpeg"/><Relationship Id="rId6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9.jpeg"/><Relationship Id="rId2" Type="http://schemas.openxmlformats.org/officeDocument/2006/relationships/image" Target="../media/image70.jpeg"/><Relationship Id="rId3" Type="http://schemas.openxmlformats.org/officeDocument/2006/relationships/image" Target="../media/image71.jpeg"/><Relationship Id="rId4" Type="http://schemas.openxmlformats.org/officeDocument/2006/relationships/image" Target="../media/image72.jpeg"/><Relationship Id="rId5" Type="http://schemas.openxmlformats.org/officeDocument/2006/relationships/image" Target="../media/image73.jpeg"/><Relationship Id="rId6" Type="http://schemas.openxmlformats.org/officeDocument/2006/relationships/image" Target="../media/image74.jpeg"/><Relationship Id="rId7" Type="http://schemas.openxmlformats.org/officeDocument/2006/relationships/image" Target="../media/image75.png"/><Relationship Id="rId8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6.jpeg"/><Relationship Id="rId2" Type="http://schemas.openxmlformats.org/officeDocument/2006/relationships/image" Target="../media/image77.jpeg"/><Relationship Id="rId3" Type="http://schemas.openxmlformats.org/officeDocument/2006/relationships/image" Target="../media/image78.jpeg"/><Relationship Id="rId4" Type="http://schemas.openxmlformats.org/officeDocument/2006/relationships/image" Target="../media/image79.jpeg"/><Relationship Id="rId5" Type="http://schemas.openxmlformats.org/officeDocument/2006/relationships/image" Target="../media/image80.png"/><Relationship Id="rId6" Type="http://schemas.openxmlformats.org/officeDocument/2006/relationships/image" Target="../media/image81.jpeg"/><Relationship Id="rId7" Type="http://schemas.openxmlformats.org/officeDocument/2006/relationships/image" Target="../media/image82.png"/><Relationship Id="rId8" Type="http://schemas.openxmlformats.org/officeDocument/2006/relationships/image" Target="../media/image83.png"/><Relationship Id="rId9" Type="http://schemas.openxmlformats.org/officeDocument/2006/relationships/image" Target="../media/image84.jpeg"/><Relationship Id="rId10" Type="http://schemas.openxmlformats.org/officeDocument/2006/relationships/image" Target="../media/image85.png"/><Relationship Id="rId11" Type="http://schemas.openxmlformats.org/officeDocument/2006/relationships/image" Target="../media/image86.jpeg"/><Relationship Id="rId1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7.jpeg"/><Relationship Id="rId2" Type="http://schemas.openxmlformats.org/officeDocument/2006/relationships/image" Target="../media/image88.jpeg"/><Relationship Id="rId3" Type="http://schemas.openxmlformats.org/officeDocument/2006/relationships/image" Target="../media/image89.jpeg"/><Relationship Id="rId4" Type="http://schemas.openxmlformats.org/officeDocument/2006/relationships/image" Target="../media/image90.jpeg"/><Relationship Id="rId5" Type="http://schemas.openxmlformats.org/officeDocument/2006/relationships/image" Target="../media/image91.png"/><Relationship Id="rId6" Type="http://schemas.openxmlformats.org/officeDocument/2006/relationships/image" Target="../media/image92.jpeg"/><Relationship Id="rId7" Type="http://schemas.openxmlformats.org/officeDocument/2006/relationships/image" Target="../media/image93.jpeg"/><Relationship Id="rId8" Type="http://schemas.openxmlformats.org/officeDocument/2006/relationships/image" Target="../media/image94.jpeg"/><Relationship Id="rId9" Type="http://schemas.openxmlformats.org/officeDocument/2006/relationships/image" Target="../media/image95.jpeg"/><Relationship Id="rId10" Type="http://schemas.openxmlformats.org/officeDocument/2006/relationships/image" Target="../media/image96.png"/><Relationship Id="rId1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7.jpeg"/><Relationship Id="rId2" Type="http://schemas.openxmlformats.org/officeDocument/2006/relationships/image" Target="../media/image98.jpeg"/><Relationship Id="rId3" Type="http://schemas.openxmlformats.org/officeDocument/2006/relationships/image" Target="../media/image99.jpeg"/><Relationship Id="rId4" Type="http://schemas.openxmlformats.org/officeDocument/2006/relationships/image" Target="../media/image100.jpeg"/><Relationship Id="rId5" Type="http://schemas.openxmlformats.org/officeDocument/2006/relationships/image" Target="../media/image101.png"/><Relationship Id="rId6" Type="http://schemas.openxmlformats.org/officeDocument/2006/relationships/image" Target="../media/image102.png"/><Relationship Id="rId7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1"/>
          <p:cNvSpPr/>
          <p:nvPr/>
        </p:nvSpPr>
        <p:spPr>
          <a:xfrm>
            <a:off x="0" y="-360"/>
            <a:ext cx="12192480" cy="6858720"/>
          </a:xfrm>
          <a:custGeom>
            <a:avLst/>
            <a:gdLst/>
            <a:ahLst/>
            <a:rect l="0" t="0" r="r" b="b"/>
            <a:pathLst>
              <a:path w="33868" h="19052">
                <a:moveTo>
                  <a:pt x="0" y="19051"/>
                </a:moveTo>
                <a:lnTo>
                  <a:pt x="33867" y="19051"/>
                </a:lnTo>
                <a:lnTo>
                  <a:pt x="33867" y="0"/>
                </a:lnTo>
                <a:lnTo>
                  <a:pt x="0" y="0"/>
                </a:lnTo>
                <a:lnTo>
                  <a:pt x="0" y="190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pic>
        <p:nvPicPr>
          <p:cNvPr id="39" name="" descr=""/>
          <p:cNvPicPr/>
          <p:nvPr/>
        </p:nvPicPr>
        <p:blipFill>
          <a:blip r:embed="rId1"/>
          <a:stretch/>
        </p:blipFill>
        <p:spPr>
          <a:xfrm>
            <a:off x="175320" y="586800"/>
            <a:ext cx="11841120" cy="209880"/>
          </a:xfrm>
          <a:prstGeom prst="rect">
            <a:avLst/>
          </a:prstGeom>
          <a:ln w="0">
            <a:noFill/>
          </a:ln>
        </p:spPr>
      </p:pic>
      <p:pic>
        <p:nvPicPr>
          <p:cNvPr id="40" name="" descr=""/>
          <p:cNvPicPr/>
          <p:nvPr/>
        </p:nvPicPr>
        <p:blipFill>
          <a:blip r:embed="rId2"/>
          <a:stretch/>
        </p:blipFill>
        <p:spPr>
          <a:xfrm>
            <a:off x="5122080" y="6681240"/>
            <a:ext cx="1947240" cy="115560"/>
          </a:xfrm>
          <a:prstGeom prst="rect">
            <a:avLst/>
          </a:prstGeom>
          <a:ln w="0">
            <a:noFill/>
          </a:ln>
        </p:spPr>
      </p:pic>
      <p:sp>
        <p:nvSpPr>
          <p:cNvPr id="41" name="Freeform 2"/>
          <p:cNvSpPr/>
          <p:nvPr/>
        </p:nvSpPr>
        <p:spPr>
          <a:xfrm>
            <a:off x="151560" y="6209280"/>
            <a:ext cx="1620720" cy="360360"/>
          </a:xfrm>
          <a:custGeom>
            <a:avLst/>
            <a:gdLst/>
            <a:ahLst/>
            <a:rect l="0" t="0" r="r" b="b"/>
            <a:pathLst>
              <a:path w="4502" h="1001">
                <a:moveTo>
                  <a:pt x="0" y="1000"/>
                </a:moveTo>
                <a:lnTo>
                  <a:pt x="4501" y="1000"/>
                </a:lnTo>
                <a:lnTo>
                  <a:pt x="4501" y="0"/>
                </a:lnTo>
                <a:lnTo>
                  <a:pt x="0" y="0"/>
                </a:lnTo>
                <a:lnTo>
                  <a:pt x="0" y="1000"/>
                </a:lnTo>
                <a:close/>
              </a:path>
            </a:pathLst>
          </a:custGeom>
          <a:solidFill>
            <a:srgbClr val="ffffff"/>
          </a:solidFill>
          <a:ln w="31680">
            <a:solidFill>
              <a:srgbClr val="ff0000"/>
            </a:solidFill>
            <a:round/>
          </a:ln>
        </p:spPr>
      </p:sp>
      <p:sp>
        <p:nvSpPr>
          <p:cNvPr id="42" name="TextShape 3"/>
          <p:cNvSpPr txBox="1"/>
          <p:nvPr/>
        </p:nvSpPr>
        <p:spPr>
          <a:xfrm>
            <a:off x="555840" y="627012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ff0000"/>
                </a:solidFill>
                <a:latin typeface="Meiryo"/>
              </a:rPr>
              <a:t>社内限り</a:t>
            </a:r>
            <a:endParaRPr b="0" lang="en-US" sz="1400" spc="-1" strike="noStrike">
              <a:latin typeface="Times New Roman"/>
            </a:endParaRPr>
          </a:p>
        </p:txBody>
      </p:sp>
      <p:pic>
        <p:nvPicPr>
          <p:cNvPr id="43" name="" descr=""/>
          <p:cNvPicPr/>
          <p:nvPr/>
        </p:nvPicPr>
        <p:blipFill>
          <a:blip r:embed="rId3"/>
          <a:stretch/>
        </p:blipFill>
        <p:spPr>
          <a:xfrm>
            <a:off x="11428560" y="149400"/>
            <a:ext cx="411120" cy="432360"/>
          </a:xfrm>
          <a:prstGeom prst="rect">
            <a:avLst/>
          </a:prstGeom>
          <a:ln w="0">
            <a:noFill/>
          </a:ln>
        </p:spPr>
      </p:pic>
      <p:sp>
        <p:nvSpPr>
          <p:cNvPr id="44" name="Freeform 4"/>
          <p:cNvSpPr/>
          <p:nvPr/>
        </p:nvSpPr>
        <p:spPr>
          <a:xfrm>
            <a:off x="9806040" y="204840"/>
            <a:ext cx="1497240" cy="361800"/>
          </a:xfrm>
          <a:custGeom>
            <a:avLst/>
            <a:gdLst/>
            <a:ahLst/>
            <a:rect l="0" t="0" r="r" b="b"/>
            <a:pathLst>
              <a:path w="4159" h="1005">
                <a:moveTo>
                  <a:pt x="0" y="1004"/>
                </a:moveTo>
                <a:lnTo>
                  <a:pt x="4158" y="1004"/>
                </a:lnTo>
                <a:lnTo>
                  <a:pt x="4158" y="0"/>
                </a:lnTo>
                <a:lnTo>
                  <a:pt x="0" y="0"/>
                </a:lnTo>
                <a:lnTo>
                  <a:pt x="0" y="1004"/>
                </a:lnTo>
                <a:close/>
              </a:path>
            </a:pathLst>
          </a:custGeom>
          <a:solidFill>
            <a:srgbClr val="ffffff"/>
          </a:solidFill>
          <a:ln w="18720">
            <a:solidFill>
              <a:srgbClr val="ff0000"/>
            </a:solidFill>
            <a:round/>
          </a:ln>
        </p:spPr>
      </p:sp>
      <p:sp>
        <p:nvSpPr>
          <p:cNvPr id="45" name="TextShape 5"/>
          <p:cNvSpPr txBox="1"/>
          <p:nvPr/>
        </p:nvSpPr>
        <p:spPr>
          <a:xfrm>
            <a:off x="9143280" y="6356520"/>
            <a:ext cx="23598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明日の笑顔を 共に創る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46" name="TextShape 6"/>
          <p:cNvSpPr txBox="1"/>
          <p:nvPr/>
        </p:nvSpPr>
        <p:spPr>
          <a:xfrm>
            <a:off x="10151280" y="262800"/>
            <a:ext cx="48240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0000"/>
                </a:solidFill>
                <a:latin typeface="Meiryo"/>
              </a:rPr>
              <a:t>秘</a:t>
            </a:r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（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47" name="TextShape 7"/>
          <p:cNvSpPr txBox="1"/>
          <p:nvPr/>
        </p:nvSpPr>
        <p:spPr>
          <a:xfrm>
            <a:off x="10707480" y="249840"/>
            <a:ext cx="2541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0000"/>
                </a:solidFill>
                <a:latin typeface="Meiryo"/>
              </a:rPr>
              <a:t>B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48" name="TextShape 8"/>
          <p:cNvSpPr txBox="1"/>
          <p:nvPr/>
        </p:nvSpPr>
        <p:spPr>
          <a:xfrm>
            <a:off x="10925640" y="262800"/>
            <a:ext cx="24156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）</a:t>
            </a:r>
            <a:endParaRPr b="0" lang="en-US" sz="1600" spc="-1" strike="noStrike">
              <a:latin typeface="Times New Roman"/>
            </a:endParaRPr>
          </a:p>
        </p:txBody>
      </p:sp>
      <p:pic>
        <p:nvPicPr>
          <p:cNvPr id="49" name="" descr=""/>
          <p:cNvPicPr/>
          <p:nvPr/>
        </p:nvPicPr>
        <p:blipFill>
          <a:blip r:embed="rId4"/>
          <a:stretch/>
        </p:blipFill>
        <p:spPr>
          <a:xfrm>
            <a:off x="6661440" y="745200"/>
            <a:ext cx="5350320" cy="5402160"/>
          </a:xfrm>
          <a:prstGeom prst="rect">
            <a:avLst/>
          </a:prstGeom>
          <a:ln w="0">
            <a:noFill/>
          </a:ln>
        </p:spPr>
      </p:pic>
      <p:sp>
        <p:nvSpPr>
          <p:cNvPr id="50" name="Freeform 9"/>
          <p:cNvSpPr/>
          <p:nvPr/>
        </p:nvSpPr>
        <p:spPr>
          <a:xfrm>
            <a:off x="6267960" y="745200"/>
            <a:ext cx="2111400" cy="5598360"/>
          </a:xfrm>
          <a:custGeom>
            <a:avLst/>
            <a:gdLst/>
            <a:ahLst/>
            <a:rect l="0" t="0" r="r" b="b"/>
            <a:pathLst>
              <a:path w="5865" h="15551">
                <a:moveTo>
                  <a:pt x="5864" y="0"/>
                </a:moveTo>
                <a:lnTo>
                  <a:pt x="964" y="15550"/>
                </a:lnTo>
                <a:lnTo>
                  <a:pt x="0" y="0"/>
                </a:lnTo>
                <a:lnTo>
                  <a:pt x="5864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51" name="Freeform 10"/>
          <p:cNvSpPr/>
          <p:nvPr/>
        </p:nvSpPr>
        <p:spPr>
          <a:xfrm>
            <a:off x="893520" y="1542960"/>
            <a:ext cx="107640" cy="209520"/>
          </a:xfrm>
          <a:custGeom>
            <a:avLst/>
            <a:gdLst/>
            <a:ahLst/>
            <a:rect l="0" t="0" r="r" b="b"/>
            <a:pathLst>
              <a:path w="299" h="582">
                <a:moveTo>
                  <a:pt x="0" y="581"/>
                </a:moveTo>
                <a:lnTo>
                  <a:pt x="298" y="272"/>
                </a:lnTo>
                <a:lnTo>
                  <a:pt x="32" y="0"/>
                </a:lnTo>
              </a:path>
            </a:pathLst>
          </a:custGeom>
          <a:ln cap="sq" w="31680">
            <a:solidFill>
              <a:srgbClr val="4f81bd"/>
            </a:solidFill>
            <a:miter/>
          </a:ln>
        </p:spPr>
      </p:sp>
      <p:sp>
        <p:nvSpPr>
          <p:cNvPr id="52" name="Freeform 11"/>
          <p:cNvSpPr/>
          <p:nvPr/>
        </p:nvSpPr>
        <p:spPr>
          <a:xfrm>
            <a:off x="730440" y="1536840"/>
            <a:ext cx="107640" cy="208080"/>
          </a:xfrm>
          <a:custGeom>
            <a:avLst/>
            <a:gdLst/>
            <a:ahLst/>
            <a:rect l="0" t="0" r="r" b="b"/>
            <a:pathLst>
              <a:path w="299" h="578">
                <a:moveTo>
                  <a:pt x="0" y="577"/>
                </a:moveTo>
                <a:lnTo>
                  <a:pt x="298" y="270"/>
                </a:lnTo>
                <a:lnTo>
                  <a:pt x="32" y="0"/>
                </a:lnTo>
              </a:path>
            </a:pathLst>
          </a:custGeom>
          <a:ln cap="sq" w="31680">
            <a:solidFill>
              <a:srgbClr val="4f81bd"/>
            </a:solidFill>
            <a:miter/>
          </a:ln>
        </p:spPr>
      </p:sp>
      <p:sp>
        <p:nvSpPr>
          <p:cNvPr id="53" name="Freeform 12"/>
          <p:cNvSpPr/>
          <p:nvPr/>
        </p:nvSpPr>
        <p:spPr>
          <a:xfrm>
            <a:off x="553680" y="1542960"/>
            <a:ext cx="107640" cy="209520"/>
          </a:xfrm>
          <a:custGeom>
            <a:avLst/>
            <a:gdLst/>
            <a:ahLst/>
            <a:rect l="0" t="0" r="r" b="b"/>
            <a:pathLst>
              <a:path w="299" h="582">
                <a:moveTo>
                  <a:pt x="0" y="581"/>
                </a:moveTo>
                <a:lnTo>
                  <a:pt x="298" y="272"/>
                </a:lnTo>
                <a:lnTo>
                  <a:pt x="32" y="0"/>
                </a:lnTo>
              </a:path>
            </a:pathLst>
          </a:custGeom>
          <a:ln cap="sq" w="31680">
            <a:solidFill>
              <a:srgbClr val="4f81bd"/>
            </a:solidFill>
            <a:miter/>
          </a:ln>
        </p:spPr>
      </p:sp>
      <p:sp>
        <p:nvSpPr>
          <p:cNvPr id="54" name="Freeform 13"/>
          <p:cNvSpPr/>
          <p:nvPr/>
        </p:nvSpPr>
        <p:spPr>
          <a:xfrm>
            <a:off x="6635160" y="73728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618ec4"/>
          </a:solidFill>
          <a:ln w="0">
            <a:noFill/>
          </a:ln>
        </p:spPr>
      </p:sp>
      <p:sp>
        <p:nvSpPr>
          <p:cNvPr id="55" name="Freeform 14"/>
          <p:cNvSpPr/>
          <p:nvPr/>
        </p:nvSpPr>
        <p:spPr>
          <a:xfrm>
            <a:off x="6635160" y="82152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608dc3"/>
          </a:solidFill>
          <a:ln w="0">
            <a:noFill/>
          </a:ln>
        </p:spPr>
      </p:sp>
      <p:sp>
        <p:nvSpPr>
          <p:cNvPr id="56" name="Freeform 15"/>
          <p:cNvSpPr/>
          <p:nvPr/>
        </p:nvSpPr>
        <p:spPr>
          <a:xfrm>
            <a:off x="6635160" y="905760"/>
            <a:ext cx="1759680" cy="84600"/>
          </a:xfrm>
          <a:custGeom>
            <a:avLst/>
            <a:gdLst/>
            <a:ahLst/>
            <a:rect l="0" t="0" r="r" b="b"/>
            <a:pathLst>
              <a:path w="4888" h="235">
                <a:moveTo>
                  <a:pt x="0" y="0"/>
                </a:moveTo>
                <a:lnTo>
                  <a:pt x="4887" y="0"/>
                </a:lnTo>
                <a:lnTo>
                  <a:pt x="4887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f8cc2"/>
          </a:solidFill>
          <a:ln w="0">
            <a:noFill/>
          </a:ln>
        </p:spPr>
      </p:sp>
      <p:sp>
        <p:nvSpPr>
          <p:cNvPr id="57" name="Freeform 16"/>
          <p:cNvSpPr/>
          <p:nvPr/>
        </p:nvSpPr>
        <p:spPr>
          <a:xfrm>
            <a:off x="6635160" y="98964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f8bc1"/>
          </a:solidFill>
          <a:ln w="0">
            <a:noFill/>
          </a:ln>
        </p:spPr>
      </p:sp>
      <p:sp>
        <p:nvSpPr>
          <p:cNvPr id="58" name="Freeform 17"/>
          <p:cNvSpPr/>
          <p:nvPr/>
        </p:nvSpPr>
        <p:spPr>
          <a:xfrm>
            <a:off x="6635160" y="107388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e8bc0"/>
          </a:solidFill>
          <a:ln w="0">
            <a:noFill/>
          </a:ln>
        </p:spPr>
      </p:sp>
      <p:sp>
        <p:nvSpPr>
          <p:cNvPr id="59" name="Freeform 18"/>
          <p:cNvSpPr/>
          <p:nvPr/>
        </p:nvSpPr>
        <p:spPr>
          <a:xfrm>
            <a:off x="6635160" y="1158120"/>
            <a:ext cx="1759680" cy="84600"/>
          </a:xfrm>
          <a:custGeom>
            <a:avLst/>
            <a:gdLst/>
            <a:ahLst/>
            <a:rect l="0" t="0" r="r" b="b"/>
            <a:pathLst>
              <a:path w="4888" h="235">
                <a:moveTo>
                  <a:pt x="0" y="0"/>
                </a:moveTo>
                <a:lnTo>
                  <a:pt x="4887" y="0"/>
                </a:lnTo>
                <a:lnTo>
                  <a:pt x="4887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d8abf"/>
          </a:solidFill>
          <a:ln w="0">
            <a:noFill/>
          </a:ln>
        </p:spPr>
      </p:sp>
      <p:sp>
        <p:nvSpPr>
          <p:cNvPr id="60" name="Freeform 19"/>
          <p:cNvSpPr/>
          <p:nvPr/>
        </p:nvSpPr>
        <p:spPr>
          <a:xfrm>
            <a:off x="6635160" y="124200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c89bf"/>
          </a:solidFill>
          <a:ln w="0">
            <a:noFill/>
          </a:ln>
        </p:spPr>
      </p:sp>
      <p:sp>
        <p:nvSpPr>
          <p:cNvPr id="61" name="Freeform 20"/>
          <p:cNvSpPr/>
          <p:nvPr/>
        </p:nvSpPr>
        <p:spPr>
          <a:xfrm>
            <a:off x="6635160" y="1326240"/>
            <a:ext cx="1759680" cy="84600"/>
          </a:xfrm>
          <a:custGeom>
            <a:avLst/>
            <a:gdLst/>
            <a:ahLst/>
            <a:rect l="0" t="0" r="r" b="b"/>
            <a:pathLst>
              <a:path w="4888" h="235">
                <a:moveTo>
                  <a:pt x="0" y="0"/>
                </a:moveTo>
                <a:lnTo>
                  <a:pt x="4887" y="0"/>
                </a:lnTo>
                <a:lnTo>
                  <a:pt x="4887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c88be"/>
          </a:solidFill>
          <a:ln w="0">
            <a:noFill/>
          </a:ln>
        </p:spPr>
      </p:sp>
      <p:sp>
        <p:nvSpPr>
          <p:cNvPr id="62" name="Freeform 21"/>
          <p:cNvSpPr/>
          <p:nvPr/>
        </p:nvSpPr>
        <p:spPr>
          <a:xfrm>
            <a:off x="6635160" y="141012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b87bd"/>
          </a:solidFill>
          <a:ln w="0">
            <a:noFill/>
          </a:ln>
        </p:spPr>
      </p:sp>
      <p:sp>
        <p:nvSpPr>
          <p:cNvPr id="63" name="Freeform 22"/>
          <p:cNvSpPr/>
          <p:nvPr/>
        </p:nvSpPr>
        <p:spPr>
          <a:xfrm>
            <a:off x="6635160" y="149436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a87bc"/>
          </a:solidFill>
          <a:ln w="0">
            <a:noFill/>
          </a:ln>
        </p:spPr>
      </p:sp>
      <p:sp>
        <p:nvSpPr>
          <p:cNvPr id="64" name="Freeform 23"/>
          <p:cNvSpPr/>
          <p:nvPr/>
        </p:nvSpPr>
        <p:spPr>
          <a:xfrm>
            <a:off x="6635160" y="1578600"/>
            <a:ext cx="1759680" cy="84600"/>
          </a:xfrm>
          <a:custGeom>
            <a:avLst/>
            <a:gdLst/>
            <a:ahLst/>
            <a:rect l="0" t="0" r="r" b="b"/>
            <a:pathLst>
              <a:path w="4888" h="235">
                <a:moveTo>
                  <a:pt x="0" y="0"/>
                </a:moveTo>
                <a:lnTo>
                  <a:pt x="4887" y="0"/>
                </a:lnTo>
                <a:lnTo>
                  <a:pt x="4887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a86bb"/>
          </a:solidFill>
          <a:ln w="0">
            <a:noFill/>
          </a:ln>
        </p:spPr>
      </p:sp>
      <p:sp>
        <p:nvSpPr>
          <p:cNvPr id="65" name="Freeform 24"/>
          <p:cNvSpPr/>
          <p:nvPr/>
        </p:nvSpPr>
        <p:spPr>
          <a:xfrm>
            <a:off x="6635160" y="166248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985ba"/>
          </a:solidFill>
          <a:ln w="0">
            <a:noFill/>
          </a:ln>
        </p:spPr>
      </p:sp>
      <p:sp>
        <p:nvSpPr>
          <p:cNvPr id="66" name="Freeform 25"/>
          <p:cNvSpPr/>
          <p:nvPr/>
        </p:nvSpPr>
        <p:spPr>
          <a:xfrm>
            <a:off x="6635160" y="174672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884ba"/>
          </a:solidFill>
          <a:ln w="0">
            <a:noFill/>
          </a:ln>
        </p:spPr>
      </p:sp>
      <p:sp>
        <p:nvSpPr>
          <p:cNvPr id="67" name="Freeform 26"/>
          <p:cNvSpPr/>
          <p:nvPr/>
        </p:nvSpPr>
        <p:spPr>
          <a:xfrm>
            <a:off x="6635160" y="1830960"/>
            <a:ext cx="1759680" cy="84600"/>
          </a:xfrm>
          <a:custGeom>
            <a:avLst/>
            <a:gdLst/>
            <a:ahLst/>
            <a:rect l="0" t="0" r="r" b="b"/>
            <a:pathLst>
              <a:path w="4888" h="235">
                <a:moveTo>
                  <a:pt x="0" y="0"/>
                </a:moveTo>
                <a:lnTo>
                  <a:pt x="4887" y="0"/>
                </a:lnTo>
                <a:lnTo>
                  <a:pt x="4887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884b9"/>
          </a:solidFill>
          <a:ln w="0">
            <a:noFill/>
          </a:ln>
        </p:spPr>
      </p:sp>
      <p:sp>
        <p:nvSpPr>
          <p:cNvPr id="68" name="Freeform 27"/>
          <p:cNvSpPr/>
          <p:nvPr/>
        </p:nvSpPr>
        <p:spPr>
          <a:xfrm>
            <a:off x="6635160" y="191484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783b8"/>
          </a:solidFill>
          <a:ln w="0">
            <a:noFill/>
          </a:ln>
        </p:spPr>
      </p:sp>
      <p:sp>
        <p:nvSpPr>
          <p:cNvPr id="69" name="Freeform 28"/>
          <p:cNvSpPr/>
          <p:nvPr/>
        </p:nvSpPr>
        <p:spPr>
          <a:xfrm>
            <a:off x="6635160" y="1999080"/>
            <a:ext cx="1759680" cy="84600"/>
          </a:xfrm>
          <a:custGeom>
            <a:avLst/>
            <a:gdLst/>
            <a:ahLst/>
            <a:rect l="0" t="0" r="r" b="b"/>
            <a:pathLst>
              <a:path w="4888" h="235">
                <a:moveTo>
                  <a:pt x="0" y="0"/>
                </a:moveTo>
                <a:lnTo>
                  <a:pt x="4887" y="0"/>
                </a:lnTo>
                <a:lnTo>
                  <a:pt x="4887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682b7"/>
          </a:solidFill>
          <a:ln w="0">
            <a:noFill/>
          </a:ln>
        </p:spPr>
      </p:sp>
      <p:sp>
        <p:nvSpPr>
          <p:cNvPr id="70" name="Freeform 29"/>
          <p:cNvSpPr/>
          <p:nvPr/>
        </p:nvSpPr>
        <p:spPr>
          <a:xfrm>
            <a:off x="6635160" y="208296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581b6"/>
          </a:solidFill>
          <a:ln w="0">
            <a:noFill/>
          </a:ln>
        </p:spPr>
      </p:sp>
      <p:sp>
        <p:nvSpPr>
          <p:cNvPr id="71" name="Freeform 30"/>
          <p:cNvSpPr/>
          <p:nvPr/>
        </p:nvSpPr>
        <p:spPr>
          <a:xfrm>
            <a:off x="6635160" y="216720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581b5"/>
          </a:solidFill>
          <a:ln w="0">
            <a:noFill/>
          </a:ln>
        </p:spPr>
      </p:sp>
      <p:sp>
        <p:nvSpPr>
          <p:cNvPr id="72" name="Freeform 31"/>
          <p:cNvSpPr/>
          <p:nvPr/>
        </p:nvSpPr>
        <p:spPr>
          <a:xfrm>
            <a:off x="6635160" y="2251440"/>
            <a:ext cx="1759680" cy="84600"/>
          </a:xfrm>
          <a:custGeom>
            <a:avLst/>
            <a:gdLst/>
            <a:ahLst/>
            <a:rect l="0" t="0" r="r" b="b"/>
            <a:pathLst>
              <a:path w="4888" h="235">
                <a:moveTo>
                  <a:pt x="0" y="0"/>
                </a:moveTo>
                <a:lnTo>
                  <a:pt x="4887" y="0"/>
                </a:lnTo>
                <a:lnTo>
                  <a:pt x="4887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480b5"/>
          </a:solidFill>
          <a:ln w="0">
            <a:noFill/>
          </a:ln>
        </p:spPr>
      </p:sp>
      <p:sp>
        <p:nvSpPr>
          <p:cNvPr id="73" name="Freeform 32"/>
          <p:cNvSpPr/>
          <p:nvPr/>
        </p:nvSpPr>
        <p:spPr>
          <a:xfrm>
            <a:off x="6635160" y="233532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37fb4"/>
          </a:solidFill>
          <a:ln w="0">
            <a:noFill/>
          </a:ln>
        </p:spPr>
      </p:sp>
      <p:sp>
        <p:nvSpPr>
          <p:cNvPr id="74" name="Freeform 33"/>
          <p:cNvSpPr/>
          <p:nvPr/>
        </p:nvSpPr>
        <p:spPr>
          <a:xfrm>
            <a:off x="6635160" y="241956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37eb3"/>
          </a:solidFill>
          <a:ln w="0">
            <a:noFill/>
          </a:ln>
        </p:spPr>
      </p:sp>
      <p:sp>
        <p:nvSpPr>
          <p:cNvPr id="75" name="Freeform 34"/>
          <p:cNvSpPr/>
          <p:nvPr/>
        </p:nvSpPr>
        <p:spPr>
          <a:xfrm>
            <a:off x="6635160" y="2503800"/>
            <a:ext cx="1759680" cy="84600"/>
          </a:xfrm>
          <a:custGeom>
            <a:avLst/>
            <a:gdLst/>
            <a:ahLst/>
            <a:rect l="0" t="0" r="r" b="b"/>
            <a:pathLst>
              <a:path w="4888" h="235">
                <a:moveTo>
                  <a:pt x="0" y="0"/>
                </a:moveTo>
                <a:lnTo>
                  <a:pt x="4887" y="0"/>
                </a:lnTo>
                <a:lnTo>
                  <a:pt x="4887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27eb2"/>
          </a:solidFill>
          <a:ln w="0">
            <a:noFill/>
          </a:ln>
        </p:spPr>
      </p:sp>
      <p:sp>
        <p:nvSpPr>
          <p:cNvPr id="76" name="Freeform 35"/>
          <p:cNvSpPr/>
          <p:nvPr/>
        </p:nvSpPr>
        <p:spPr>
          <a:xfrm>
            <a:off x="6635160" y="258768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17db1"/>
          </a:solidFill>
          <a:ln w="0">
            <a:noFill/>
          </a:ln>
        </p:spPr>
      </p:sp>
      <p:sp>
        <p:nvSpPr>
          <p:cNvPr id="77" name="Freeform 36"/>
          <p:cNvSpPr/>
          <p:nvPr/>
        </p:nvSpPr>
        <p:spPr>
          <a:xfrm>
            <a:off x="6635160" y="2671920"/>
            <a:ext cx="1759680" cy="84600"/>
          </a:xfrm>
          <a:custGeom>
            <a:avLst/>
            <a:gdLst/>
            <a:ahLst/>
            <a:rect l="0" t="0" r="r" b="b"/>
            <a:pathLst>
              <a:path w="4888" h="235">
                <a:moveTo>
                  <a:pt x="0" y="0"/>
                </a:moveTo>
                <a:lnTo>
                  <a:pt x="4887" y="0"/>
                </a:lnTo>
                <a:lnTo>
                  <a:pt x="4887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17cb0"/>
          </a:solidFill>
          <a:ln w="0">
            <a:noFill/>
          </a:ln>
        </p:spPr>
      </p:sp>
      <p:sp>
        <p:nvSpPr>
          <p:cNvPr id="78" name="Freeform 37"/>
          <p:cNvSpPr/>
          <p:nvPr/>
        </p:nvSpPr>
        <p:spPr>
          <a:xfrm>
            <a:off x="6635160" y="275580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07bb0"/>
          </a:solidFill>
          <a:ln w="0">
            <a:noFill/>
          </a:ln>
        </p:spPr>
      </p:sp>
      <p:sp>
        <p:nvSpPr>
          <p:cNvPr id="79" name="Freeform 38"/>
          <p:cNvSpPr/>
          <p:nvPr/>
        </p:nvSpPr>
        <p:spPr>
          <a:xfrm>
            <a:off x="6635160" y="284004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f7aaf"/>
          </a:solidFill>
          <a:ln w="0">
            <a:noFill/>
          </a:ln>
        </p:spPr>
      </p:sp>
      <p:sp>
        <p:nvSpPr>
          <p:cNvPr id="80" name="Freeform 39"/>
          <p:cNvSpPr/>
          <p:nvPr/>
        </p:nvSpPr>
        <p:spPr>
          <a:xfrm>
            <a:off x="6635160" y="2924280"/>
            <a:ext cx="1759680" cy="84600"/>
          </a:xfrm>
          <a:custGeom>
            <a:avLst/>
            <a:gdLst/>
            <a:ahLst/>
            <a:rect l="0" t="0" r="r" b="b"/>
            <a:pathLst>
              <a:path w="4888" h="235">
                <a:moveTo>
                  <a:pt x="0" y="0"/>
                </a:moveTo>
                <a:lnTo>
                  <a:pt x="4887" y="0"/>
                </a:lnTo>
                <a:lnTo>
                  <a:pt x="4887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e7aae"/>
          </a:solidFill>
          <a:ln w="0">
            <a:noFill/>
          </a:ln>
        </p:spPr>
      </p:sp>
      <p:sp>
        <p:nvSpPr>
          <p:cNvPr id="81" name="Freeform 40"/>
          <p:cNvSpPr/>
          <p:nvPr/>
        </p:nvSpPr>
        <p:spPr>
          <a:xfrm>
            <a:off x="6635160" y="300816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e79ad"/>
          </a:solidFill>
          <a:ln w="0">
            <a:noFill/>
          </a:ln>
        </p:spPr>
      </p:sp>
      <p:sp>
        <p:nvSpPr>
          <p:cNvPr id="82" name="Freeform 41"/>
          <p:cNvSpPr/>
          <p:nvPr/>
        </p:nvSpPr>
        <p:spPr>
          <a:xfrm>
            <a:off x="6635160" y="309240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d78ac"/>
          </a:solidFill>
          <a:ln w="0">
            <a:noFill/>
          </a:ln>
        </p:spPr>
      </p:sp>
      <p:sp>
        <p:nvSpPr>
          <p:cNvPr id="83" name="Freeform 42"/>
          <p:cNvSpPr/>
          <p:nvPr/>
        </p:nvSpPr>
        <p:spPr>
          <a:xfrm>
            <a:off x="6635160" y="3176640"/>
            <a:ext cx="1759680" cy="84600"/>
          </a:xfrm>
          <a:custGeom>
            <a:avLst/>
            <a:gdLst/>
            <a:ahLst/>
            <a:rect l="0" t="0" r="r" b="b"/>
            <a:pathLst>
              <a:path w="4888" h="235">
                <a:moveTo>
                  <a:pt x="0" y="0"/>
                </a:moveTo>
                <a:lnTo>
                  <a:pt x="4887" y="0"/>
                </a:lnTo>
                <a:lnTo>
                  <a:pt x="4887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c77ab"/>
          </a:solidFill>
          <a:ln w="0">
            <a:noFill/>
          </a:ln>
        </p:spPr>
      </p:sp>
      <p:sp>
        <p:nvSpPr>
          <p:cNvPr id="84" name="Freeform 43"/>
          <p:cNvSpPr/>
          <p:nvPr/>
        </p:nvSpPr>
        <p:spPr>
          <a:xfrm>
            <a:off x="6635160" y="326052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c77ab"/>
          </a:solidFill>
          <a:ln w="0">
            <a:noFill/>
          </a:ln>
        </p:spPr>
      </p:sp>
      <p:sp>
        <p:nvSpPr>
          <p:cNvPr id="85" name="Freeform 44"/>
          <p:cNvSpPr/>
          <p:nvPr/>
        </p:nvSpPr>
        <p:spPr>
          <a:xfrm>
            <a:off x="6635160" y="334476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b76aa"/>
          </a:solidFill>
          <a:ln w="0">
            <a:noFill/>
          </a:ln>
        </p:spPr>
      </p:sp>
      <p:sp>
        <p:nvSpPr>
          <p:cNvPr id="86" name="Freeform 45"/>
          <p:cNvSpPr/>
          <p:nvPr/>
        </p:nvSpPr>
        <p:spPr>
          <a:xfrm>
            <a:off x="6635160" y="3429000"/>
            <a:ext cx="1759680" cy="84600"/>
          </a:xfrm>
          <a:custGeom>
            <a:avLst/>
            <a:gdLst/>
            <a:ahLst/>
            <a:rect l="0" t="0" r="r" b="b"/>
            <a:pathLst>
              <a:path w="4888" h="235">
                <a:moveTo>
                  <a:pt x="0" y="0"/>
                </a:moveTo>
                <a:lnTo>
                  <a:pt x="4887" y="0"/>
                </a:lnTo>
                <a:lnTo>
                  <a:pt x="4887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a75a9"/>
          </a:solidFill>
          <a:ln w="0">
            <a:noFill/>
          </a:ln>
        </p:spPr>
      </p:sp>
      <p:sp>
        <p:nvSpPr>
          <p:cNvPr id="87" name="Freeform 46"/>
          <p:cNvSpPr/>
          <p:nvPr/>
        </p:nvSpPr>
        <p:spPr>
          <a:xfrm>
            <a:off x="6635160" y="351288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a74a8"/>
          </a:solidFill>
          <a:ln w="0">
            <a:noFill/>
          </a:ln>
        </p:spPr>
      </p:sp>
      <p:sp>
        <p:nvSpPr>
          <p:cNvPr id="88" name="Freeform 47"/>
          <p:cNvSpPr/>
          <p:nvPr/>
        </p:nvSpPr>
        <p:spPr>
          <a:xfrm>
            <a:off x="6635160" y="3597120"/>
            <a:ext cx="1759680" cy="84600"/>
          </a:xfrm>
          <a:custGeom>
            <a:avLst/>
            <a:gdLst/>
            <a:ahLst/>
            <a:rect l="0" t="0" r="r" b="b"/>
            <a:pathLst>
              <a:path w="4888" h="235">
                <a:moveTo>
                  <a:pt x="0" y="0"/>
                </a:moveTo>
                <a:lnTo>
                  <a:pt x="4887" y="0"/>
                </a:lnTo>
                <a:lnTo>
                  <a:pt x="4887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974a7"/>
          </a:solidFill>
          <a:ln w="0">
            <a:noFill/>
          </a:ln>
        </p:spPr>
      </p:sp>
      <p:sp>
        <p:nvSpPr>
          <p:cNvPr id="89" name="Freeform 48"/>
          <p:cNvSpPr/>
          <p:nvPr/>
        </p:nvSpPr>
        <p:spPr>
          <a:xfrm>
            <a:off x="6635160" y="368100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873a6"/>
          </a:solidFill>
          <a:ln w="0">
            <a:noFill/>
          </a:ln>
        </p:spPr>
      </p:sp>
      <p:sp>
        <p:nvSpPr>
          <p:cNvPr id="90" name="Freeform 49"/>
          <p:cNvSpPr/>
          <p:nvPr/>
        </p:nvSpPr>
        <p:spPr>
          <a:xfrm>
            <a:off x="6635160" y="376524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872a6"/>
          </a:solidFill>
          <a:ln w="0">
            <a:noFill/>
          </a:ln>
        </p:spPr>
      </p:sp>
      <p:sp>
        <p:nvSpPr>
          <p:cNvPr id="91" name="Freeform 50"/>
          <p:cNvSpPr/>
          <p:nvPr/>
        </p:nvSpPr>
        <p:spPr>
          <a:xfrm>
            <a:off x="6635160" y="3849480"/>
            <a:ext cx="1759680" cy="84600"/>
          </a:xfrm>
          <a:custGeom>
            <a:avLst/>
            <a:gdLst/>
            <a:ahLst/>
            <a:rect l="0" t="0" r="r" b="b"/>
            <a:pathLst>
              <a:path w="4888" h="235">
                <a:moveTo>
                  <a:pt x="0" y="0"/>
                </a:moveTo>
                <a:lnTo>
                  <a:pt x="4887" y="0"/>
                </a:lnTo>
                <a:lnTo>
                  <a:pt x="4887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771a5"/>
          </a:solidFill>
          <a:ln w="0">
            <a:noFill/>
          </a:ln>
        </p:spPr>
      </p:sp>
      <p:sp>
        <p:nvSpPr>
          <p:cNvPr id="92" name="Freeform 51"/>
          <p:cNvSpPr/>
          <p:nvPr/>
        </p:nvSpPr>
        <p:spPr>
          <a:xfrm>
            <a:off x="6635160" y="393336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671a4"/>
          </a:solidFill>
          <a:ln w="0">
            <a:noFill/>
          </a:ln>
        </p:spPr>
      </p:sp>
      <p:sp>
        <p:nvSpPr>
          <p:cNvPr id="93" name="Freeform 52"/>
          <p:cNvSpPr/>
          <p:nvPr/>
        </p:nvSpPr>
        <p:spPr>
          <a:xfrm>
            <a:off x="6635160" y="401760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570a3"/>
          </a:solidFill>
          <a:ln w="0">
            <a:noFill/>
          </a:ln>
        </p:spPr>
      </p:sp>
      <p:sp>
        <p:nvSpPr>
          <p:cNvPr id="94" name="Freeform 53"/>
          <p:cNvSpPr/>
          <p:nvPr/>
        </p:nvSpPr>
        <p:spPr>
          <a:xfrm>
            <a:off x="6635160" y="4101840"/>
            <a:ext cx="1759680" cy="84600"/>
          </a:xfrm>
          <a:custGeom>
            <a:avLst/>
            <a:gdLst/>
            <a:ahLst/>
            <a:rect l="0" t="0" r="r" b="b"/>
            <a:pathLst>
              <a:path w="4888" h="235">
                <a:moveTo>
                  <a:pt x="0" y="0"/>
                </a:moveTo>
                <a:lnTo>
                  <a:pt x="4887" y="0"/>
                </a:lnTo>
                <a:lnTo>
                  <a:pt x="4887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56fa2"/>
          </a:solidFill>
          <a:ln w="0">
            <a:noFill/>
          </a:ln>
        </p:spPr>
      </p:sp>
      <p:sp>
        <p:nvSpPr>
          <p:cNvPr id="95" name="Freeform 54"/>
          <p:cNvSpPr/>
          <p:nvPr/>
        </p:nvSpPr>
        <p:spPr>
          <a:xfrm>
            <a:off x="6635160" y="418572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46ea2"/>
          </a:solidFill>
          <a:ln w="0">
            <a:noFill/>
          </a:ln>
        </p:spPr>
      </p:sp>
      <p:sp>
        <p:nvSpPr>
          <p:cNvPr id="96" name="Freeform 55"/>
          <p:cNvSpPr/>
          <p:nvPr/>
        </p:nvSpPr>
        <p:spPr>
          <a:xfrm>
            <a:off x="6635160" y="4269960"/>
            <a:ext cx="1759680" cy="84600"/>
          </a:xfrm>
          <a:custGeom>
            <a:avLst/>
            <a:gdLst/>
            <a:ahLst/>
            <a:rect l="0" t="0" r="r" b="b"/>
            <a:pathLst>
              <a:path w="4888" h="235">
                <a:moveTo>
                  <a:pt x="0" y="0"/>
                </a:moveTo>
                <a:lnTo>
                  <a:pt x="4887" y="0"/>
                </a:lnTo>
                <a:lnTo>
                  <a:pt x="4887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36ea1"/>
          </a:solidFill>
          <a:ln w="0">
            <a:noFill/>
          </a:ln>
        </p:spPr>
      </p:sp>
      <p:sp>
        <p:nvSpPr>
          <p:cNvPr id="97" name="Freeform 56"/>
          <p:cNvSpPr/>
          <p:nvPr/>
        </p:nvSpPr>
        <p:spPr>
          <a:xfrm>
            <a:off x="6635160" y="435384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36da0"/>
          </a:solidFill>
          <a:ln w="0">
            <a:noFill/>
          </a:ln>
        </p:spPr>
      </p:sp>
      <p:sp>
        <p:nvSpPr>
          <p:cNvPr id="98" name="Freeform 57"/>
          <p:cNvSpPr/>
          <p:nvPr/>
        </p:nvSpPr>
        <p:spPr>
          <a:xfrm>
            <a:off x="6635160" y="443808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26c9f"/>
          </a:solidFill>
          <a:ln w="0">
            <a:noFill/>
          </a:ln>
        </p:spPr>
      </p:sp>
      <p:sp>
        <p:nvSpPr>
          <p:cNvPr id="99" name="Freeform 58"/>
          <p:cNvSpPr/>
          <p:nvPr/>
        </p:nvSpPr>
        <p:spPr>
          <a:xfrm>
            <a:off x="6635160" y="4522320"/>
            <a:ext cx="1759680" cy="84600"/>
          </a:xfrm>
          <a:custGeom>
            <a:avLst/>
            <a:gdLst/>
            <a:ahLst/>
            <a:rect l="0" t="0" r="r" b="b"/>
            <a:pathLst>
              <a:path w="4888" h="235">
                <a:moveTo>
                  <a:pt x="0" y="0"/>
                </a:moveTo>
                <a:lnTo>
                  <a:pt x="4887" y="0"/>
                </a:lnTo>
                <a:lnTo>
                  <a:pt x="4887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16b9e"/>
          </a:solidFill>
          <a:ln w="0">
            <a:noFill/>
          </a:ln>
        </p:spPr>
      </p:sp>
      <p:sp>
        <p:nvSpPr>
          <p:cNvPr id="100" name="Freeform 59"/>
          <p:cNvSpPr/>
          <p:nvPr/>
        </p:nvSpPr>
        <p:spPr>
          <a:xfrm>
            <a:off x="6635160" y="460620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16a9d"/>
          </a:solidFill>
          <a:ln w="0">
            <a:noFill/>
          </a:ln>
        </p:spPr>
      </p:sp>
      <p:sp>
        <p:nvSpPr>
          <p:cNvPr id="101" name="Freeform 60"/>
          <p:cNvSpPr/>
          <p:nvPr/>
        </p:nvSpPr>
        <p:spPr>
          <a:xfrm>
            <a:off x="6635160" y="469044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06a9d"/>
          </a:solidFill>
          <a:ln w="0">
            <a:noFill/>
          </a:ln>
        </p:spPr>
      </p:sp>
      <p:sp>
        <p:nvSpPr>
          <p:cNvPr id="102" name="Freeform 61"/>
          <p:cNvSpPr/>
          <p:nvPr/>
        </p:nvSpPr>
        <p:spPr>
          <a:xfrm>
            <a:off x="6635160" y="4774680"/>
            <a:ext cx="1759680" cy="84600"/>
          </a:xfrm>
          <a:custGeom>
            <a:avLst/>
            <a:gdLst/>
            <a:ahLst/>
            <a:rect l="0" t="0" r="r" b="b"/>
            <a:pathLst>
              <a:path w="4888" h="235">
                <a:moveTo>
                  <a:pt x="0" y="0"/>
                </a:moveTo>
                <a:lnTo>
                  <a:pt x="4887" y="0"/>
                </a:lnTo>
                <a:lnTo>
                  <a:pt x="4887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3f699c"/>
          </a:solidFill>
          <a:ln w="0">
            <a:noFill/>
          </a:ln>
        </p:spPr>
      </p:sp>
      <p:sp>
        <p:nvSpPr>
          <p:cNvPr id="103" name="Freeform 62"/>
          <p:cNvSpPr/>
          <p:nvPr/>
        </p:nvSpPr>
        <p:spPr>
          <a:xfrm>
            <a:off x="6635160" y="485856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3e689b"/>
          </a:solidFill>
          <a:ln w="0">
            <a:noFill/>
          </a:ln>
        </p:spPr>
      </p:sp>
      <p:sp>
        <p:nvSpPr>
          <p:cNvPr id="104" name="Freeform 63"/>
          <p:cNvSpPr/>
          <p:nvPr/>
        </p:nvSpPr>
        <p:spPr>
          <a:xfrm>
            <a:off x="6635160" y="4942800"/>
            <a:ext cx="1759680" cy="84600"/>
          </a:xfrm>
          <a:custGeom>
            <a:avLst/>
            <a:gdLst/>
            <a:ahLst/>
            <a:rect l="0" t="0" r="r" b="b"/>
            <a:pathLst>
              <a:path w="4888" h="235">
                <a:moveTo>
                  <a:pt x="0" y="0"/>
                </a:moveTo>
                <a:lnTo>
                  <a:pt x="4887" y="0"/>
                </a:lnTo>
                <a:lnTo>
                  <a:pt x="4887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3e679a"/>
          </a:solidFill>
          <a:ln w="0">
            <a:noFill/>
          </a:ln>
        </p:spPr>
      </p:sp>
      <p:sp>
        <p:nvSpPr>
          <p:cNvPr id="105" name="Freeform 64"/>
          <p:cNvSpPr/>
          <p:nvPr/>
        </p:nvSpPr>
        <p:spPr>
          <a:xfrm>
            <a:off x="6635160" y="502668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3d6799"/>
          </a:solidFill>
          <a:ln w="0">
            <a:noFill/>
          </a:ln>
        </p:spPr>
      </p:sp>
      <p:sp>
        <p:nvSpPr>
          <p:cNvPr id="106" name="Freeform 65"/>
          <p:cNvSpPr/>
          <p:nvPr/>
        </p:nvSpPr>
        <p:spPr>
          <a:xfrm>
            <a:off x="6635160" y="511092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3c6698"/>
          </a:solidFill>
          <a:ln w="0">
            <a:noFill/>
          </a:ln>
        </p:spPr>
      </p:sp>
      <p:sp>
        <p:nvSpPr>
          <p:cNvPr id="107" name="Freeform 66"/>
          <p:cNvSpPr/>
          <p:nvPr/>
        </p:nvSpPr>
        <p:spPr>
          <a:xfrm>
            <a:off x="6635160" y="5195160"/>
            <a:ext cx="1759680" cy="84600"/>
          </a:xfrm>
          <a:custGeom>
            <a:avLst/>
            <a:gdLst/>
            <a:ahLst/>
            <a:rect l="0" t="0" r="r" b="b"/>
            <a:pathLst>
              <a:path w="4888" h="235">
                <a:moveTo>
                  <a:pt x="0" y="0"/>
                </a:moveTo>
                <a:lnTo>
                  <a:pt x="4887" y="0"/>
                </a:lnTo>
                <a:lnTo>
                  <a:pt x="4887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3c6598"/>
          </a:solidFill>
          <a:ln w="0">
            <a:noFill/>
          </a:ln>
        </p:spPr>
      </p:sp>
      <p:sp>
        <p:nvSpPr>
          <p:cNvPr id="108" name="Freeform 67"/>
          <p:cNvSpPr/>
          <p:nvPr/>
        </p:nvSpPr>
        <p:spPr>
          <a:xfrm>
            <a:off x="6635160" y="527904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3b6497"/>
          </a:solidFill>
          <a:ln w="0">
            <a:noFill/>
          </a:ln>
        </p:spPr>
      </p:sp>
      <p:sp>
        <p:nvSpPr>
          <p:cNvPr id="109" name="Freeform 68"/>
          <p:cNvSpPr/>
          <p:nvPr/>
        </p:nvSpPr>
        <p:spPr>
          <a:xfrm>
            <a:off x="6635160" y="536328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3a6496"/>
          </a:solidFill>
          <a:ln w="0">
            <a:noFill/>
          </a:ln>
        </p:spPr>
      </p:sp>
      <p:sp>
        <p:nvSpPr>
          <p:cNvPr id="110" name="Freeform 69"/>
          <p:cNvSpPr/>
          <p:nvPr/>
        </p:nvSpPr>
        <p:spPr>
          <a:xfrm>
            <a:off x="6635160" y="5447520"/>
            <a:ext cx="1759680" cy="84600"/>
          </a:xfrm>
          <a:custGeom>
            <a:avLst/>
            <a:gdLst/>
            <a:ahLst/>
            <a:rect l="0" t="0" r="r" b="b"/>
            <a:pathLst>
              <a:path w="4888" h="235">
                <a:moveTo>
                  <a:pt x="0" y="0"/>
                </a:moveTo>
                <a:lnTo>
                  <a:pt x="4887" y="0"/>
                </a:lnTo>
                <a:lnTo>
                  <a:pt x="4887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3a6395"/>
          </a:solidFill>
          <a:ln w="0">
            <a:noFill/>
          </a:ln>
        </p:spPr>
      </p:sp>
      <p:sp>
        <p:nvSpPr>
          <p:cNvPr id="111" name="Freeform 70"/>
          <p:cNvSpPr/>
          <p:nvPr/>
        </p:nvSpPr>
        <p:spPr>
          <a:xfrm>
            <a:off x="6635160" y="553140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396294"/>
          </a:solidFill>
          <a:ln w="0">
            <a:noFill/>
          </a:ln>
        </p:spPr>
      </p:sp>
      <p:sp>
        <p:nvSpPr>
          <p:cNvPr id="112" name="Freeform 71"/>
          <p:cNvSpPr/>
          <p:nvPr/>
        </p:nvSpPr>
        <p:spPr>
          <a:xfrm>
            <a:off x="6635160" y="5615640"/>
            <a:ext cx="1759680" cy="84600"/>
          </a:xfrm>
          <a:custGeom>
            <a:avLst/>
            <a:gdLst/>
            <a:ahLst/>
            <a:rect l="0" t="0" r="r" b="b"/>
            <a:pathLst>
              <a:path w="4888" h="235">
                <a:moveTo>
                  <a:pt x="0" y="0"/>
                </a:moveTo>
                <a:lnTo>
                  <a:pt x="4887" y="0"/>
                </a:lnTo>
                <a:lnTo>
                  <a:pt x="4887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386193"/>
          </a:solidFill>
          <a:ln w="0">
            <a:noFill/>
          </a:ln>
        </p:spPr>
      </p:sp>
      <p:sp>
        <p:nvSpPr>
          <p:cNvPr id="113" name="Freeform 72"/>
          <p:cNvSpPr/>
          <p:nvPr/>
        </p:nvSpPr>
        <p:spPr>
          <a:xfrm>
            <a:off x="6635160" y="5699520"/>
            <a:ext cx="1759680" cy="84960"/>
          </a:xfrm>
          <a:custGeom>
            <a:avLst/>
            <a:gdLst/>
            <a:ahLst/>
            <a:rect l="0" t="0" r="r" b="b"/>
            <a:pathLst>
              <a:path w="4888" h="236">
                <a:moveTo>
                  <a:pt x="0" y="0"/>
                </a:moveTo>
                <a:lnTo>
                  <a:pt x="4887" y="0"/>
                </a:lnTo>
                <a:lnTo>
                  <a:pt x="4887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376193"/>
          </a:solidFill>
          <a:ln w="0">
            <a:noFill/>
          </a:ln>
        </p:spPr>
      </p:sp>
      <p:sp>
        <p:nvSpPr>
          <p:cNvPr id="114" name="Freeform 73"/>
          <p:cNvSpPr/>
          <p:nvPr/>
        </p:nvSpPr>
        <p:spPr>
          <a:xfrm>
            <a:off x="6635160" y="5783760"/>
            <a:ext cx="1759680" cy="337320"/>
          </a:xfrm>
          <a:custGeom>
            <a:avLst/>
            <a:gdLst/>
            <a:ahLst/>
            <a:rect l="0" t="0" r="r" b="b"/>
            <a:pathLst>
              <a:path w="4888" h="937">
                <a:moveTo>
                  <a:pt x="0" y="0"/>
                </a:moveTo>
                <a:lnTo>
                  <a:pt x="4887" y="0"/>
                </a:lnTo>
                <a:lnTo>
                  <a:pt x="4887" y="936"/>
                </a:lnTo>
                <a:lnTo>
                  <a:pt x="0" y="936"/>
                </a:lnTo>
                <a:lnTo>
                  <a:pt x="0" y="0"/>
                </a:lnTo>
                <a:close/>
              </a:path>
            </a:pathLst>
          </a:custGeom>
          <a:solidFill>
            <a:srgbClr val="376092"/>
          </a:solidFill>
          <a:ln w="0">
            <a:noFill/>
          </a:ln>
        </p:spPr>
      </p:sp>
      <p:sp>
        <p:nvSpPr>
          <p:cNvPr id="115" name="Freeform 74"/>
          <p:cNvSpPr/>
          <p:nvPr/>
        </p:nvSpPr>
        <p:spPr>
          <a:xfrm>
            <a:off x="6492240" y="73728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618ec4"/>
          </a:solidFill>
          <a:ln w="0">
            <a:noFill/>
          </a:ln>
        </p:spPr>
      </p:sp>
      <p:sp>
        <p:nvSpPr>
          <p:cNvPr id="116" name="Freeform 75"/>
          <p:cNvSpPr/>
          <p:nvPr/>
        </p:nvSpPr>
        <p:spPr>
          <a:xfrm>
            <a:off x="6492240" y="82152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608dc3"/>
          </a:solidFill>
          <a:ln w="0">
            <a:noFill/>
          </a:ln>
        </p:spPr>
      </p:sp>
      <p:sp>
        <p:nvSpPr>
          <p:cNvPr id="117" name="Freeform 76"/>
          <p:cNvSpPr/>
          <p:nvPr/>
        </p:nvSpPr>
        <p:spPr>
          <a:xfrm>
            <a:off x="6492240" y="90576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f8cc2"/>
          </a:solidFill>
          <a:ln w="0">
            <a:noFill/>
          </a:ln>
        </p:spPr>
      </p:sp>
      <p:sp>
        <p:nvSpPr>
          <p:cNvPr id="118" name="Freeform 77"/>
          <p:cNvSpPr/>
          <p:nvPr/>
        </p:nvSpPr>
        <p:spPr>
          <a:xfrm>
            <a:off x="6492240" y="98964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f8bc1"/>
          </a:solidFill>
          <a:ln w="0">
            <a:noFill/>
          </a:ln>
        </p:spPr>
      </p:sp>
      <p:sp>
        <p:nvSpPr>
          <p:cNvPr id="119" name="Freeform 78"/>
          <p:cNvSpPr/>
          <p:nvPr/>
        </p:nvSpPr>
        <p:spPr>
          <a:xfrm>
            <a:off x="6492240" y="107388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e8bc0"/>
          </a:solidFill>
          <a:ln w="0">
            <a:noFill/>
          </a:ln>
        </p:spPr>
      </p:sp>
      <p:sp>
        <p:nvSpPr>
          <p:cNvPr id="120" name="Freeform 79"/>
          <p:cNvSpPr/>
          <p:nvPr/>
        </p:nvSpPr>
        <p:spPr>
          <a:xfrm>
            <a:off x="6492240" y="115812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d8abf"/>
          </a:solidFill>
          <a:ln w="0">
            <a:noFill/>
          </a:ln>
        </p:spPr>
      </p:sp>
      <p:sp>
        <p:nvSpPr>
          <p:cNvPr id="121" name="Freeform 80"/>
          <p:cNvSpPr/>
          <p:nvPr/>
        </p:nvSpPr>
        <p:spPr>
          <a:xfrm>
            <a:off x="6492240" y="124200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c89bf"/>
          </a:solidFill>
          <a:ln w="0">
            <a:noFill/>
          </a:ln>
        </p:spPr>
      </p:sp>
      <p:sp>
        <p:nvSpPr>
          <p:cNvPr id="122" name="Freeform 81"/>
          <p:cNvSpPr/>
          <p:nvPr/>
        </p:nvSpPr>
        <p:spPr>
          <a:xfrm>
            <a:off x="6492240" y="132624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c88be"/>
          </a:solidFill>
          <a:ln w="0">
            <a:noFill/>
          </a:ln>
        </p:spPr>
      </p:sp>
      <p:sp>
        <p:nvSpPr>
          <p:cNvPr id="123" name="Freeform 82"/>
          <p:cNvSpPr/>
          <p:nvPr/>
        </p:nvSpPr>
        <p:spPr>
          <a:xfrm>
            <a:off x="6492240" y="141012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b87bd"/>
          </a:solidFill>
          <a:ln w="0">
            <a:noFill/>
          </a:ln>
        </p:spPr>
      </p:sp>
      <p:sp>
        <p:nvSpPr>
          <p:cNvPr id="124" name="Freeform 83"/>
          <p:cNvSpPr/>
          <p:nvPr/>
        </p:nvSpPr>
        <p:spPr>
          <a:xfrm>
            <a:off x="6492240" y="149436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a87bc"/>
          </a:solidFill>
          <a:ln w="0">
            <a:noFill/>
          </a:ln>
        </p:spPr>
      </p:sp>
      <p:sp>
        <p:nvSpPr>
          <p:cNvPr id="125" name="Freeform 84"/>
          <p:cNvSpPr/>
          <p:nvPr/>
        </p:nvSpPr>
        <p:spPr>
          <a:xfrm>
            <a:off x="6492240" y="157860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a86bb"/>
          </a:solidFill>
          <a:ln w="0">
            <a:noFill/>
          </a:ln>
        </p:spPr>
      </p:sp>
      <p:sp>
        <p:nvSpPr>
          <p:cNvPr id="126" name="Freeform 85"/>
          <p:cNvSpPr/>
          <p:nvPr/>
        </p:nvSpPr>
        <p:spPr>
          <a:xfrm>
            <a:off x="6492240" y="166248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985ba"/>
          </a:solidFill>
          <a:ln w="0">
            <a:noFill/>
          </a:ln>
        </p:spPr>
      </p:sp>
      <p:sp>
        <p:nvSpPr>
          <p:cNvPr id="127" name="Freeform 86"/>
          <p:cNvSpPr/>
          <p:nvPr/>
        </p:nvSpPr>
        <p:spPr>
          <a:xfrm>
            <a:off x="6492240" y="174672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884ba"/>
          </a:solidFill>
          <a:ln w="0">
            <a:noFill/>
          </a:ln>
        </p:spPr>
      </p:sp>
      <p:sp>
        <p:nvSpPr>
          <p:cNvPr id="128" name="Freeform 87"/>
          <p:cNvSpPr/>
          <p:nvPr/>
        </p:nvSpPr>
        <p:spPr>
          <a:xfrm>
            <a:off x="6492240" y="183096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884b9"/>
          </a:solidFill>
          <a:ln w="0">
            <a:noFill/>
          </a:ln>
        </p:spPr>
      </p:sp>
      <p:sp>
        <p:nvSpPr>
          <p:cNvPr id="129" name="Freeform 88"/>
          <p:cNvSpPr/>
          <p:nvPr/>
        </p:nvSpPr>
        <p:spPr>
          <a:xfrm>
            <a:off x="6492240" y="191484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783b8"/>
          </a:solidFill>
          <a:ln w="0">
            <a:noFill/>
          </a:ln>
        </p:spPr>
      </p:sp>
      <p:sp>
        <p:nvSpPr>
          <p:cNvPr id="130" name="Freeform 89"/>
          <p:cNvSpPr/>
          <p:nvPr/>
        </p:nvSpPr>
        <p:spPr>
          <a:xfrm>
            <a:off x="6492240" y="199908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682b7"/>
          </a:solidFill>
          <a:ln w="0">
            <a:noFill/>
          </a:ln>
        </p:spPr>
      </p:sp>
      <p:sp>
        <p:nvSpPr>
          <p:cNvPr id="131" name="Freeform 90"/>
          <p:cNvSpPr/>
          <p:nvPr/>
        </p:nvSpPr>
        <p:spPr>
          <a:xfrm>
            <a:off x="6492240" y="208296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581b6"/>
          </a:solidFill>
          <a:ln w="0">
            <a:noFill/>
          </a:ln>
        </p:spPr>
      </p:sp>
      <p:sp>
        <p:nvSpPr>
          <p:cNvPr id="132" name="Freeform 91"/>
          <p:cNvSpPr/>
          <p:nvPr/>
        </p:nvSpPr>
        <p:spPr>
          <a:xfrm>
            <a:off x="6492240" y="216720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581b5"/>
          </a:solidFill>
          <a:ln w="0">
            <a:noFill/>
          </a:ln>
        </p:spPr>
      </p:sp>
      <p:sp>
        <p:nvSpPr>
          <p:cNvPr id="133" name="Freeform 92"/>
          <p:cNvSpPr/>
          <p:nvPr/>
        </p:nvSpPr>
        <p:spPr>
          <a:xfrm>
            <a:off x="6492240" y="225144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480b5"/>
          </a:solidFill>
          <a:ln w="0">
            <a:noFill/>
          </a:ln>
        </p:spPr>
      </p:sp>
      <p:sp>
        <p:nvSpPr>
          <p:cNvPr id="134" name="Freeform 93"/>
          <p:cNvSpPr/>
          <p:nvPr/>
        </p:nvSpPr>
        <p:spPr>
          <a:xfrm>
            <a:off x="6492240" y="233532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37fb4"/>
          </a:solidFill>
          <a:ln w="0">
            <a:noFill/>
          </a:ln>
        </p:spPr>
      </p:sp>
      <p:sp>
        <p:nvSpPr>
          <p:cNvPr id="135" name="Freeform 94"/>
          <p:cNvSpPr/>
          <p:nvPr/>
        </p:nvSpPr>
        <p:spPr>
          <a:xfrm>
            <a:off x="6492240" y="241956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37eb3"/>
          </a:solidFill>
          <a:ln w="0">
            <a:noFill/>
          </a:ln>
        </p:spPr>
      </p:sp>
      <p:sp>
        <p:nvSpPr>
          <p:cNvPr id="136" name="Freeform 95"/>
          <p:cNvSpPr/>
          <p:nvPr/>
        </p:nvSpPr>
        <p:spPr>
          <a:xfrm>
            <a:off x="6492240" y="250380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27eb2"/>
          </a:solidFill>
          <a:ln w="0">
            <a:noFill/>
          </a:ln>
        </p:spPr>
      </p:sp>
      <p:sp>
        <p:nvSpPr>
          <p:cNvPr id="137" name="Freeform 96"/>
          <p:cNvSpPr/>
          <p:nvPr/>
        </p:nvSpPr>
        <p:spPr>
          <a:xfrm>
            <a:off x="6492240" y="258768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17db1"/>
          </a:solidFill>
          <a:ln w="0">
            <a:noFill/>
          </a:ln>
        </p:spPr>
      </p:sp>
      <p:sp>
        <p:nvSpPr>
          <p:cNvPr id="138" name="Freeform 97"/>
          <p:cNvSpPr/>
          <p:nvPr/>
        </p:nvSpPr>
        <p:spPr>
          <a:xfrm>
            <a:off x="6492240" y="267192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17cb0"/>
          </a:solidFill>
          <a:ln w="0">
            <a:noFill/>
          </a:ln>
        </p:spPr>
      </p:sp>
      <p:sp>
        <p:nvSpPr>
          <p:cNvPr id="139" name="Freeform 98"/>
          <p:cNvSpPr/>
          <p:nvPr/>
        </p:nvSpPr>
        <p:spPr>
          <a:xfrm>
            <a:off x="6492240" y="275580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07bb0"/>
          </a:solidFill>
          <a:ln w="0">
            <a:noFill/>
          </a:ln>
        </p:spPr>
      </p:sp>
      <p:sp>
        <p:nvSpPr>
          <p:cNvPr id="140" name="Freeform 99"/>
          <p:cNvSpPr/>
          <p:nvPr/>
        </p:nvSpPr>
        <p:spPr>
          <a:xfrm>
            <a:off x="6492240" y="284004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f7aaf"/>
          </a:solidFill>
          <a:ln w="0">
            <a:noFill/>
          </a:ln>
        </p:spPr>
      </p:sp>
      <p:sp>
        <p:nvSpPr>
          <p:cNvPr id="141" name="Freeform 100"/>
          <p:cNvSpPr/>
          <p:nvPr/>
        </p:nvSpPr>
        <p:spPr>
          <a:xfrm>
            <a:off x="6492240" y="292428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e7aae"/>
          </a:solidFill>
          <a:ln w="0">
            <a:noFill/>
          </a:ln>
        </p:spPr>
      </p:sp>
      <p:sp>
        <p:nvSpPr>
          <p:cNvPr id="142" name="Freeform 101"/>
          <p:cNvSpPr/>
          <p:nvPr/>
        </p:nvSpPr>
        <p:spPr>
          <a:xfrm>
            <a:off x="6492240" y="300816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e79ad"/>
          </a:solidFill>
          <a:ln w="0">
            <a:noFill/>
          </a:ln>
        </p:spPr>
      </p:sp>
      <p:sp>
        <p:nvSpPr>
          <p:cNvPr id="143" name="Freeform 102"/>
          <p:cNvSpPr/>
          <p:nvPr/>
        </p:nvSpPr>
        <p:spPr>
          <a:xfrm>
            <a:off x="6492240" y="309240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d78ac"/>
          </a:solidFill>
          <a:ln w="0">
            <a:noFill/>
          </a:ln>
        </p:spPr>
      </p:sp>
      <p:sp>
        <p:nvSpPr>
          <p:cNvPr id="144" name="Freeform 103"/>
          <p:cNvSpPr/>
          <p:nvPr/>
        </p:nvSpPr>
        <p:spPr>
          <a:xfrm>
            <a:off x="6492240" y="317664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c77ab"/>
          </a:solidFill>
          <a:ln w="0">
            <a:noFill/>
          </a:ln>
        </p:spPr>
      </p:sp>
      <p:sp>
        <p:nvSpPr>
          <p:cNvPr id="145" name="Freeform 104"/>
          <p:cNvSpPr/>
          <p:nvPr/>
        </p:nvSpPr>
        <p:spPr>
          <a:xfrm>
            <a:off x="6492240" y="326052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c77ab"/>
          </a:solidFill>
          <a:ln w="0">
            <a:noFill/>
          </a:ln>
        </p:spPr>
      </p:sp>
      <p:sp>
        <p:nvSpPr>
          <p:cNvPr id="146" name="Freeform 105"/>
          <p:cNvSpPr/>
          <p:nvPr/>
        </p:nvSpPr>
        <p:spPr>
          <a:xfrm>
            <a:off x="6492240" y="334476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b76aa"/>
          </a:solidFill>
          <a:ln w="0">
            <a:noFill/>
          </a:ln>
        </p:spPr>
      </p:sp>
      <p:sp>
        <p:nvSpPr>
          <p:cNvPr id="147" name="Freeform 106"/>
          <p:cNvSpPr/>
          <p:nvPr/>
        </p:nvSpPr>
        <p:spPr>
          <a:xfrm>
            <a:off x="6492240" y="342900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a75a9"/>
          </a:solidFill>
          <a:ln w="0">
            <a:noFill/>
          </a:ln>
        </p:spPr>
      </p:sp>
      <p:sp>
        <p:nvSpPr>
          <p:cNvPr id="148" name="Freeform 107"/>
          <p:cNvSpPr/>
          <p:nvPr/>
        </p:nvSpPr>
        <p:spPr>
          <a:xfrm>
            <a:off x="6492240" y="351288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a74a8"/>
          </a:solidFill>
          <a:ln w="0">
            <a:noFill/>
          </a:ln>
        </p:spPr>
      </p:sp>
      <p:sp>
        <p:nvSpPr>
          <p:cNvPr id="149" name="Freeform 108"/>
          <p:cNvSpPr/>
          <p:nvPr/>
        </p:nvSpPr>
        <p:spPr>
          <a:xfrm>
            <a:off x="6492240" y="359712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974a7"/>
          </a:solidFill>
          <a:ln w="0">
            <a:noFill/>
          </a:ln>
        </p:spPr>
      </p:sp>
      <p:sp>
        <p:nvSpPr>
          <p:cNvPr id="150" name="Freeform 109"/>
          <p:cNvSpPr/>
          <p:nvPr/>
        </p:nvSpPr>
        <p:spPr>
          <a:xfrm>
            <a:off x="6492240" y="368100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873a6"/>
          </a:solidFill>
          <a:ln w="0">
            <a:noFill/>
          </a:ln>
        </p:spPr>
      </p:sp>
      <p:sp>
        <p:nvSpPr>
          <p:cNvPr id="151" name="Freeform 110"/>
          <p:cNvSpPr/>
          <p:nvPr/>
        </p:nvSpPr>
        <p:spPr>
          <a:xfrm>
            <a:off x="6492240" y="376524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872a6"/>
          </a:solidFill>
          <a:ln w="0">
            <a:noFill/>
          </a:ln>
        </p:spPr>
      </p:sp>
      <p:sp>
        <p:nvSpPr>
          <p:cNvPr id="152" name="Freeform 111"/>
          <p:cNvSpPr/>
          <p:nvPr/>
        </p:nvSpPr>
        <p:spPr>
          <a:xfrm>
            <a:off x="6492240" y="384948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771a5"/>
          </a:solidFill>
          <a:ln w="0">
            <a:noFill/>
          </a:ln>
        </p:spPr>
      </p:sp>
      <p:sp>
        <p:nvSpPr>
          <p:cNvPr id="153" name="Freeform 112"/>
          <p:cNvSpPr/>
          <p:nvPr/>
        </p:nvSpPr>
        <p:spPr>
          <a:xfrm>
            <a:off x="6492240" y="393336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671a4"/>
          </a:solidFill>
          <a:ln w="0">
            <a:noFill/>
          </a:ln>
        </p:spPr>
      </p:sp>
      <p:sp>
        <p:nvSpPr>
          <p:cNvPr id="154" name="Freeform 113"/>
          <p:cNvSpPr/>
          <p:nvPr/>
        </p:nvSpPr>
        <p:spPr>
          <a:xfrm>
            <a:off x="6492240" y="401760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570a3"/>
          </a:solidFill>
          <a:ln w="0">
            <a:noFill/>
          </a:ln>
        </p:spPr>
      </p:sp>
      <p:sp>
        <p:nvSpPr>
          <p:cNvPr id="155" name="Freeform 114"/>
          <p:cNvSpPr/>
          <p:nvPr/>
        </p:nvSpPr>
        <p:spPr>
          <a:xfrm>
            <a:off x="6492240" y="410184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56fa2"/>
          </a:solidFill>
          <a:ln w="0">
            <a:noFill/>
          </a:ln>
        </p:spPr>
      </p:sp>
      <p:sp>
        <p:nvSpPr>
          <p:cNvPr id="156" name="Freeform 115"/>
          <p:cNvSpPr/>
          <p:nvPr/>
        </p:nvSpPr>
        <p:spPr>
          <a:xfrm>
            <a:off x="6492240" y="418572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46ea2"/>
          </a:solidFill>
          <a:ln w="0">
            <a:noFill/>
          </a:ln>
        </p:spPr>
      </p:sp>
      <p:sp>
        <p:nvSpPr>
          <p:cNvPr id="157" name="Freeform 116"/>
          <p:cNvSpPr/>
          <p:nvPr/>
        </p:nvSpPr>
        <p:spPr>
          <a:xfrm>
            <a:off x="6492240" y="426996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36ea1"/>
          </a:solidFill>
          <a:ln w="0">
            <a:noFill/>
          </a:ln>
        </p:spPr>
      </p:sp>
      <p:sp>
        <p:nvSpPr>
          <p:cNvPr id="158" name="Freeform 117"/>
          <p:cNvSpPr/>
          <p:nvPr/>
        </p:nvSpPr>
        <p:spPr>
          <a:xfrm>
            <a:off x="6492240" y="435384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36da0"/>
          </a:solidFill>
          <a:ln w="0">
            <a:noFill/>
          </a:ln>
        </p:spPr>
      </p:sp>
      <p:sp>
        <p:nvSpPr>
          <p:cNvPr id="159" name="Freeform 118"/>
          <p:cNvSpPr/>
          <p:nvPr/>
        </p:nvSpPr>
        <p:spPr>
          <a:xfrm>
            <a:off x="6492240" y="443808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26c9f"/>
          </a:solidFill>
          <a:ln w="0">
            <a:noFill/>
          </a:ln>
        </p:spPr>
      </p:sp>
      <p:sp>
        <p:nvSpPr>
          <p:cNvPr id="160" name="Freeform 119"/>
          <p:cNvSpPr/>
          <p:nvPr/>
        </p:nvSpPr>
        <p:spPr>
          <a:xfrm>
            <a:off x="6492240" y="452232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16b9e"/>
          </a:solidFill>
          <a:ln w="0">
            <a:noFill/>
          </a:ln>
        </p:spPr>
      </p:sp>
      <p:sp>
        <p:nvSpPr>
          <p:cNvPr id="161" name="Freeform 120"/>
          <p:cNvSpPr/>
          <p:nvPr/>
        </p:nvSpPr>
        <p:spPr>
          <a:xfrm>
            <a:off x="6492240" y="460620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16a9d"/>
          </a:solidFill>
          <a:ln w="0">
            <a:noFill/>
          </a:ln>
        </p:spPr>
      </p:sp>
      <p:sp>
        <p:nvSpPr>
          <p:cNvPr id="162" name="Freeform 121"/>
          <p:cNvSpPr/>
          <p:nvPr/>
        </p:nvSpPr>
        <p:spPr>
          <a:xfrm>
            <a:off x="6492240" y="469044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06a9d"/>
          </a:solidFill>
          <a:ln w="0">
            <a:noFill/>
          </a:ln>
        </p:spPr>
      </p:sp>
      <p:sp>
        <p:nvSpPr>
          <p:cNvPr id="163" name="Freeform 122"/>
          <p:cNvSpPr/>
          <p:nvPr/>
        </p:nvSpPr>
        <p:spPr>
          <a:xfrm>
            <a:off x="6492240" y="477468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3f699c"/>
          </a:solidFill>
          <a:ln w="0">
            <a:noFill/>
          </a:ln>
        </p:spPr>
      </p:sp>
      <p:sp>
        <p:nvSpPr>
          <p:cNvPr id="164" name="Freeform 123"/>
          <p:cNvSpPr/>
          <p:nvPr/>
        </p:nvSpPr>
        <p:spPr>
          <a:xfrm>
            <a:off x="6492240" y="485856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3e689b"/>
          </a:solidFill>
          <a:ln w="0">
            <a:noFill/>
          </a:ln>
        </p:spPr>
      </p:sp>
      <p:sp>
        <p:nvSpPr>
          <p:cNvPr id="165" name="Freeform 124"/>
          <p:cNvSpPr/>
          <p:nvPr/>
        </p:nvSpPr>
        <p:spPr>
          <a:xfrm>
            <a:off x="6492240" y="494280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3e679a"/>
          </a:solidFill>
          <a:ln w="0">
            <a:noFill/>
          </a:ln>
        </p:spPr>
      </p:sp>
      <p:sp>
        <p:nvSpPr>
          <p:cNvPr id="166" name="Freeform 125"/>
          <p:cNvSpPr/>
          <p:nvPr/>
        </p:nvSpPr>
        <p:spPr>
          <a:xfrm>
            <a:off x="6492240" y="502668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3d6799"/>
          </a:solidFill>
          <a:ln w="0">
            <a:noFill/>
          </a:ln>
        </p:spPr>
      </p:sp>
      <p:sp>
        <p:nvSpPr>
          <p:cNvPr id="167" name="Freeform 126"/>
          <p:cNvSpPr/>
          <p:nvPr/>
        </p:nvSpPr>
        <p:spPr>
          <a:xfrm>
            <a:off x="6492240" y="511092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3c6698"/>
          </a:solidFill>
          <a:ln w="0">
            <a:noFill/>
          </a:ln>
        </p:spPr>
      </p:sp>
      <p:sp>
        <p:nvSpPr>
          <p:cNvPr id="168" name="Freeform 127"/>
          <p:cNvSpPr/>
          <p:nvPr/>
        </p:nvSpPr>
        <p:spPr>
          <a:xfrm>
            <a:off x="6492240" y="519516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3c6598"/>
          </a:solidFill>
          <a:ln w="0">
            <a:noFill/>
          </a:ln>
        </p:spPr>
      </p:sp>
      <p:sp>
        <p:nvSpPr>
          <p:cNvPr id="169" name="Freeform 128"/>
          <p:cNvSpPr/>
          <p:nvPr/>
        </p:nvSpPr>
        <p:spPr>
          <a:xfrm>
            <a:off x="6492240" y="527904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3b6497"/>
          </a:solidFill>
          <a:ln w="0">
            <a:noFill/>
          </a:ln>
        </p:spPr>
      </p:sp>
      <p:sp>
        <p:nvSpPr>
          <p:cNvPr id="170" name="Freeform 129"/>
          <p:cNvSpPr/>
          <p:nvPr/>
        </p:nvSpPr>
        <p:spPr>
          <a:xfrm>
            <a:off x="6492240" y="536328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3a6496"/>
          </a:solidFill>
          <a:ln w="0">
            <a:noFill/>
          </a:ln>
        </p:spPr>
      </p:sp>
      <p:sp>
        <p:nvSpPr>
          <p:cNvPr id="171" name="Freeform 130"/>
          <p:cNvSpPr/>
          <p:nvPr/>
        </p:nvSpPr>
        <p:spPr>
          <a:xfrm>
            <a:off x="6492240" y="544752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3a6395"/>
          </a:solidFill>
          <a:ln w="0">
            <a:noFill/>
          </a:ln>
        </p:spPr>
      </p:sp>
      <p:sp>
        <p:nvSpPr>
          <p:cNvPr id="172" name="Freeform 131"/>
          <p:cNvSpPr/>
          <p:nvPr/>
        </p:nvSpPr>
        <p:spPr>
          <a:xfrm>
            <a:off x="6492240" y="553140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396294"/>
          </a:solidFill>
          <a:ln w="0">
            <a:noFill/>
          </a:ln>
        </p:spPr>
      </p:sp>
      <p:sp>
        <p:nvSpPr>
          <p:cNvPr id="173" name="Freeform 132"/>
          <p:cNvSpPr/>
          <p:nvPr/>
        </p:nvSpPr>
        <p:spPr>
          <a:xfrm>
            <a:off x="6492240" y="561564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386193"/>
          </a:solidFill>
          <a:ln w="0">
            <a:noFill/>
          </a:ln>
        </p:spPr>
      </p:sp>
      <p:sp>
        <p:nvSpPr>
          <p:cNvPr id="174" name="Freeform 133"/>
          <p:cNvSpPr/>
          <p:nvPr/>
        </p:nvSpPr>
        <p:spPr>
          <a:xfrm>
            <a:off x="6492240" y="569952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376193"/>
          </a:solidFill>
          <a:ln w="0">
            <a:noFill/>
          </a:ln>
        </p:spPr>
      </p:sp>
      <p:sp>
        <p:nvSpPr>
          <p:cNvPr id="175" name="Freeform 134"/>
          <p:cNvSpPr/>
          <p:nvPr/>
        </p:nvSpPr>
        <p:spPr>
          <a:xfrm>
            <a:off x="6492240" y="5783760"/>
            <a:ext cx="1759320" cy="337320"/>
          </a:xfrm>
          <a:custGeom>
            <a:avLst/>
            <a:gdLst/>
            <a:ahLst/>
            <a:rect l="0" t="0" r="r" b="b"/>
            <a:pathLst>
              <a:path w="4887" h="937">
                <a:moveTo>
                  <a:pt x="0" y="0"/>
                </a:moveTo>
                <a:lnTo>
                  <a:pt x="4886" y="0"/>
                </a:lnTo>
                <a:lnTo>
                  <a:pt x="4886" y="936"/>
                </a:lnTo>
                <a:lnTo>
                  <a:pt x="0" y="936"/>
                </a:lnTo>
                <a:lnTo>
                  <a:pt x="0" y="0"/>
                </a:lnTo>
                <a:close/>
              </a:path>
            </a:pathLst>
          </a:custGeom>
          <a:solidFill>
            <a:srgbClr val="376092"/>
          </a:solidFill>
          <a:ln w="0">
            <a:noFill/>
          </a:ln>
        </p:spPr>
      </p:sp>
      <p:sp>
        <p:nvSpPr>
          <p:cNvPr id="176" name="Freeform 135"/>
          <p:cNvSpPr/>
          <p:nvPr/>
        </p:nvSpPr>
        <p:spPr>
          <a:xfrm>
            <a:off x="6350400" y="74520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618ec4"/>
          </a:solidFill>
          <a:ln w="0">
            <a:noFill/>
          </a:ln>
        </p:spPr>
      </p:sp>
      <p:sp>
        <p:nvSpPr>
          <p:cNvPr id="177" name="Freeform 136"/>
          <p:cNvSpPr/>
          <p:nvPr/>
        </p:nvSpPr>
        <p:spPr>
          <a:xfrm>
            <a:off x="6350400" y="82908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608dc3"/>
          </a:solidFill>
          <a:ln w="0">
            <a:noFill/>
          </a:ln>
        </p:spPr>
      </p:sp>
      <p:sp>
        <p:nvSpPr>
          <p:cNvPr id="178" name="Freeform 137"/>
          <p:cNvSpPr/>
          <p:nvPr/>
        </p:nvSpPr>
        <p:spPr>
          <a:xfrm>
            <a:off x="6350400" y="91296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f8cc2"/>
          </a:solidFill>
          <a:ln w="0">
            <a:noFill/>
          </a:ln>
        </p:spPr>
      </p:sp>
      <p:sp>
        <p:nvSpPr>
          <p:cNvPr id="179" name="Freeform 138"/>
          <p:cNvSpPr/>
          <p:nvPr/>
        </p:nvSpPr>
        <p:spPr>
          <a:xfrm>
            <a:off x="6350400" y="99684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f8bc1"/>
          </a:solidFill>
          <a:ln w="0">
            <a:noFill/>
          </a:ln>
        </p:spPr>
      </p:sp>
      <p:sp>
        <p:nvSpPr>
          <p:cNvPr id="180" name="Freeform 139"/>
          <p:cNvSpPr/>
          <p:nvPr/>
        </p:nvSpPr>
        <p:spPr>
          <a:xfrm>
            <a:off x="6350400" y="108108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e8bc0"/>
          </a:solidFill>
          <a:ln w="0">
            <a:noFill/>
          </a:ln>
        </p:spPr>
      </p:sp>
      <p:sp>
        <p:nvSpPr>
          <p:cNvPr id="181" name="Freeform 140"/>
          <p:cNvSpPr/>
          <p:nvPr/>
        </p:nvSpPr>
        <p:spPr>
          <a:xfrm>
            <a:off x="6350400" y="116496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d8abf"/>
          </a:solidFill>
          <a:ln w="0">
            <a:noFill/>
          </a:ln>
        </p:spPr>
      </p:sp>
      <p:sp>
        <p:nvSpPr>
          <p:cNvPr id="182" name="Freeform 141"/>
          <p:cNvSpPr/>
          <p:nvPr/>
        </p:nvSpPr>
        <p:spPr>
          <a:xfrm>
            <a:off x="6350400" y="124884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c89bf"/>
          </a:solidFill>
          <a:ln w="0">
            <a:noFill/>
          </a:ln>
        </p:spPr>
      </p:sp>
      <p:sp>
        <p:nvSpPr>
          <p:cNvPr id="183" name="Freeform 142"/>
          <p:cNvSpPr/>
          <p:nvPr/>
        </p:nvSpPr>
        <p:spPr>
          <a:xfrm>
            <a:off x="6350400" y="133308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c88be"/>
          </a:solidFill>
          <a:ln w="0">
            <a:noFill/>
          </a:ln>
        </p:spPr>
      </p:sp>
      <p:sp>
        <p:nvSpPr>
          <p:cNvPr id="184" name="Freeform 143"/>
          <p:cNvSpPr/>
          <p:nvPr/>
        </p:nvSpPr>
        <p:spPr>
          <a:xfrm>
            <a:off x="6350400" y="141696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b87bd"/>
          </a:solidFill>
          <a:ln w="0">
            <a:noFill/>
          </a:ln>
        </p:spPr>
      </p:sp>
      <p:sp>
        <p:nvSpPr>
          <p:cNvPr id="185" name="Freeform 144"/>
          <p:cNvSpPr/>
          <p:nvPr/>
        </p:nvSpPr>
        <p:spPr>
          <a:xfrm>
            <a:off x="6350400" y="150084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a87bc"/>
          </a:solidFill>
          <a:ln w="0">
            <a:noFill/>
          </a:ln>
        </p:spPr>
      </p:sp>
      <p:sp>
        <p:nvSpPr>
          <p:cNvPr id="186" name="Freeform 145"/>
          <p:cNvSpPr/>
          <p:nvPr/>
        </p:nvSpPr>
        <p:spPr>
          <a:xfrm>
            <a:off x="6350400" y="158508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a86bb"/>
          </a:solidFill>
          <a:ln w="0">
            <a:noFill/>
          </a:ln>
        </p:spPr>
      </p:sp>
      <p:sp>
        <p:nvSpPr>
          <p:cNvPr id="187" name="Freeform 146"/>
          <p:cNvSpPr/>
          <p:nvPr/>
        </p:nvSpPr>
        <p:spPr>
          <a:xfrm>
            <a:off x="6350400" y="166896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985ba"/>
          </a:solidFill>
          <a:ln w="0">
            <a:noFill/>
          </a:ln>
        </p:spPr>
      </p:sp>
      <p:sp>
        <p:nvSpPr>
          <p:cNvPr id="188" name="Freeform 147"/>
          <p:cNvSpPr/>
          <p:nvPr/>
        </p:nvSpPr>
        <p:spPr>
          <a:xfrm>
            <a:off x="6350400" y="175284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884ba"/>
          </a:solidFill>
          <a:ln w="0">
            <a:noFill/>
          </a:ln>
        </p:spPr>
      </p:sp>
      <p:sp>
        <p:nvSpPr>
          <p:cNvPr id="189" name="Freeform 148"/>
          <p:cNvSpPr/>
          <p:nvPr/>
        </p:nvSpPr>
        <p:spPr>
          <a:xfrm>
            <a:off x="6350400" y="183672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884b9"/>
          </a:solidFill>
          <a:ln w="0">
            <a:noFill/>
          </a:ln>
        </p:spPr>
      </p:sp>
      <p:sp>
        <p:nvSpPr>
          <p:cNvPr id="190" name="Freeform 149"/>
          <p:cNvSpPr/>
          <p:nvPr/>
        </p:nvSpPr>
        <p:spPr>
          <a:xfrm>
            <a:off x="6350400" y="192096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783b8"/>
          </a:solidFill>
          <a:ln w="0">
            <a:noFill/>
          </a:ln>
        </p:spPr>
      </p:sp>
      <p:sp>
        <p:nvSpPr>
          <p:cNvPr id="191" name="Freeform 150"/>
          <p:cNvSpPr/>
          <p:nvPr/>
        </p:nvSpPr>
        <p:spPr>
          <a:xfrm>
            <a:off x="6350400" y="200484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682b7"/>
          </a:solidFill>
          <a:ln w="0">
            <a:noFill/>
          </a:ln>
        </p:spPr>
      </p:sp>
      <p:sp>
        <p:nvSpPr>
          <p:cNvPr id="192" name="Freeform 151"/>
          <p:cNvSpPr/>
          <p:nvPr/>
        </p:nvSpPr>
        <p:spPr>
          <a:xfrm>
            <a:off x="6350400" y="208872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581b6"/>
          </a:solidFill>
          <a:ln w="0">
            <a:noFill/>
          </a:ln>
        </p:spPr>
      </p:sp>
      <p:sp>
        <p:nvSpPr>
          <p:cNvPr id="193" name="Freeform 152"/>
          <p:cNvSpPr/>
          <p:nvPr/>
        </p:nvSpPr>
        <p:spPr>
          <a:xfrm>
            <a:off x="6350400" y="217296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581b5"/>
          </a:solidFill>
          <a:ln w="0">
            <a:noFill/>
          </a:ln>
        </p:spPr>
      </p:sp>
      <p:sp>
        <p:nvSpPr>
          <p:cNvPr id="194" name="Freeform 153"/>
          <p:cNvSpPr/>
          <p:nvPr/>
        </p:nvSpPr>
        <p:spPr>
          <a:xfrm>
            <a:off x="6350400" y="225684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480b5"/>
          </a:solidFill>
          <a:ln w="0">
            <a:noFill/>
          </a:ln>
        </p:spPr>
      </p:sp>
      <p:sp>
        <p:nvSpPr>
          <p:cNvPr id="195" name="Freeform 154"/>
          <p:cNvSpPr/>
          <p:nvPr/>
        </p:nvSpPr>
        <p:spPr>
          <a:xfrm>
            <a:off x="6350400" y="234072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37fb4"/>
          </a:solidFill>
          <a:ln w="0">
            <a:noFill/>
          </a:ln>
        </p:spPr>
      </p:sp>
      <p:sp>
        <p:nvSpPr>
          <p:cNvPr id="196" name="Freeform 155"/>
          <p:cNvSpPr/>
          <p:nvPr/>
        </p:nvSpPr>
        <p:spPr>
          <a:xfrm>
            <a:off x="6350400" y="242496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37eb3"/>
          </a:solidFill>
          <a:ln w="0">
            <a:noFill/>
          </a:ln>
        </p:spPr>
      </p:sp>
      <p:sp>
        <p:nvSpPr>
          <p:cNvPr id="197" name="Freeform 156"/>
          <p:cNvSpPr/>
          <p:nvPr/>
        </p:nvSpPr>
        <p:spPr>
          <a:xfrm>
            <a:off x="6350400" y="250884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27eb2"/>
          </a:solidFill>
          <a:ln w="0">
            <a:noFill/>
          </a:ln>
        </p:spPr>
      </p:sp>
      <p:sp>
        <p:nvSpPr>
          <p:cNvPr id="198" name="Freeform 157"/>
          <p:cNvSpPr/>
          <p:nvPr/>
        </p:nvSpPr>
        <p:spPr>
          <a:xfrm>
            <a:off x="6350400" y="259272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17db1"/>
          </a:solidFill>
          <a:ln w="0">
            <a:noFill/>
          </a:ln>
        </p:spPr>
      </p:sp>
      <p:sp>
        <p:nvSpPr>
          <p:cNvPr id="199" name="Freeform 158"/>
          <p:cNvSpPr/>
          <p:nvPr/>
        </p:nvSpPr>
        <p:spPr>
          <a:xfrm>
            <a:off x="6350400" y="267660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517cb0"/>
          </a:solidFill>
          <a:ln w="0">
            <a:noFill/>
          </a:ln>
        </p:spPr>
      </p:sp>
      <p:sp>
        <p:nvSpPr>
          <p:cNvPr id="200" name="Freeform 159"/>
          <p:cNvSpPr/>
          <p:nvPr/>
        </p:nvSpPr>
        <p:spPr>
          <a:xfrm>
            <a:off x="6350400" y="276084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507bb0"/>
          </a:solidFill>
          <a:ln w="0">
            <a:noFill/>
          </a:ln>
        </p:spPr>
      </p:sp>
      <p:sp>
        <p:nvSpPr>
          <p:cNvPr id="201" name="Freeform 160"/>
          <p:cNvSpPr/>
          <p:nvPr/>
        </p:nvSpPr>
        <p:spPr>
          <a:xfrm>
            <a:off x="6350400" y="284472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f7aaf"/>
          </a:solidFill>
          <a:ln w="0">
            <a:noFill/>
          </a:ln>
        </p:spPr>
      </p:sp>
      <p:sp>
        <p:nvSpPr>
          <p:cNvPr id="202" name="Freeform 161"/>
          <p:cNvSpPr/>
          <p:nvPr/>
        </p:nvSpPr>
        <p:spPr>
          <a:xfrm>
            <a:off x="6350400" y="292860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e7aae"/>
          </a:solidFill>
          <a:ln w="0">
            <a:noFill/>
          </a:ln>
        </p:spPr>
      </p:sp>
      <p:sp>
        <p:nvSpPr>
          <p:cNvPr id="203" name="Freeform 162"/>
          <p:cNvSpPr/>
          <p:nvPr/>
        </p:nvSpPr>
        <p:spPr>
          <a:xfrm>
            <a:off x="6350400" y="301284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e79ad"/>
          </a:solidFill>
          <a:ln w="0">
            <a:noFill/>
          </a:ln>
        </p:spPr>
      </p:sp>
      <p:sp>
        <p:nvSpPr>
          <p:cNvPr id="204" name="Freeform 163"/>
          <p:cNvSpPr/>
          <p:nvPr/>
        </p:nvSpPr>
        <p:spPr>
          <a:xfrm>
            <a:off x="6350400" y="309672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d78ac"/>
          </a:solidFill>
          <a:ln w="0">
            <a:noFill/>
          </a:ln>
        </p:spPr>
      </p:sp>
      <p:sp>
        <p:nvSpPr>
          <p:cNvPr id="205" name="Freeform 164"/>
          <p:cNvSpPr/>
          <p:nvPr/>
        </p:nvSpPr>
        <p:spPr>
          <a:xfrm>
            <a:off x="6350400" y="318060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c77ab"/>
          </a:solidFill>
          <a:ln w="0">
            <a:noFill/>
          </a:ln>
        </p:spPr>
      </p:sp>
      <p:sp>
        <p:nvSpPr>
          <p:cNvPr id="206" name="Freeform 165"/>
          <p:cNvSpPr/>
          <p:nvPr/>
        </p:nvSpPr>
        <p:spPr>
          <a:xfrm>
            <a:off x="6350400" y="326448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c77ab"/>
          </a:solidFill>
          <a:ln w="0">
            <a:noFill/>
          </a:ln>
        </p:spPr>
      </p:sp>
      <p:sp>
        <p:nvSpPr>
          <p:cNvPr id="207" name="Freeform 166"/>
          <p:cNvSpPr/>
          <p:nvPr/>
        </p:nvSpPr>
        <p:spPr>
          <a:xfrm>
            <a:off x="6350400" y="334872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b76aa"/>
          </a:solidFill>
          <a:ln w="0">
            <a:noFill/>
          </a:ln>
        </p:spPr>
      </p:sp>
      <p:sp>
        <p:nvSpPr>
          <p:cNvPr id="208" name="Freeform 167"/>
          <p:cNvSpPr/>
          <p:nvPr/>
        </p:nvSpPr>
        <p:spPr>
          <a:xfrm>
            <a:off x="6350400" y="343260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a75a9"/>
          </a:solidFill>
          <a:ln w="0">
            <a:noFill/>
          </a:ln>
        </p:spPr>
      </p:sp>
      <p:sp>
        <p:nvSpPr>
          <p:cNvPr id="209" name="Freeform 168"/>
          <p:cNvSpPr/>
          <p:nvPr/>
        </p:nvSpPr>
        <p:spPr>
          <a:xfrm>
            <a:off x="6350400" y="351648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a74a8"/>
          </a:solidFill>
          <a:ln w="0">
            <a:noFill/>
          </a:ln>
        </p:spPr>
      </p:sp>
      <p:sp>
        <p:nvSpPr>
          <p:cNvPr id="210" name="Freeform 169"/>
          <p:cNvSpPr/>
          <p:nvPr/>
        </p:nvSpPr>
        <p:spPr>
          <a:xfrm>
            <a:off x="6350400" y="360072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974a7"/>
          </a:solidFill>
          <a:ln w="0">
            <a:noFill/>
          </a:ln>
        </p:spPr>
      </p:sp>
      <p:sp>
        <p:nvSpPr>
          <p:cNvPr id="211" name="Freeform 170"/>
          <p:cNvSpPr/>
          <p:nvPr/>
        </p:nvSpPr>
        <p:spPr>
          <a:xfrm>
            <a:off x="6350400" y="368460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873a6"/>
          </a:solidFill>
          <a:ln w="0">
            <a:noFill/>
          </a:ln>
        </p:spPr>
      </p:sp>
      <p:sp>
        <p:nvSpPr>
          <p:cNvPr id="212" name="Freeform 171"/>
          <p:cNvSpPr/>
          <p:nvPr/>
        </p:nvSpPr>
        <p:spPr>
          <a:xfrm>
            <a:off x="6350400" y="376848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872a6"/>
          </a:solidFill>
          <a:ln w="0">
            <a:noFill/>
          </a:ln>
        </p:spPr>
      </p:sp>
      <p:sp>
        <p:nvSpPr>
          <p:cNvPr id="213" name="Freeform 172"/>
          <p:cNvSpPr/>
          <p:nvPr/>
        </p:nvSpPr>
        <p:spPr>
          <a:xfrm>
            <a:off x="6350400" y="385272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771a5"/>
          </a:solidFill>
          <a:ln w="0">
            <a:noFill/>
          </a:ln>
        </p:spPr>
      </p:sp>
      <p:sp>
        <p:nvSpPr>
          <p:cNvPr id="214" name="Freeform 173"/>
          <p:cNvSpPr/>
          <p:nvPr/>
        </p:nvSpPr>
        <p:spPr>
          <a:xfrm>
            <a:off x="6350400" y="393660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671a4"/>
          </a:solidFill>
          <a:ln w="0">
            <a:noFill/>
          </a:ln>
        </p:spPr>
      </p:sp>
      <p:sp>
        <p:nvSpPr>
          <p:cNvPr id="215" name="Freeform 174"/>
          <p:cNvSpPr/>
          <p:nvPr/>
        </p:nvSpPr>
        <p:spPr>
          <a:xfrm>
            <a:off x="6350400" y="402048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570a3"/>
          </a:solidFill>
          <a:ln w="0">
            <a:noFill/>
          </a:ln>
        </p:spPr>
      </p:sp>
      <p:sp>
        <p:nvSpPr>
          <p:cNvPr id="216" name="Freeform 175"/>
          <p:cNvSpPr/>
          <p:nvPr/>
        </p:nvSpPr>
        <p:spPr>
          <a:xfrm>
            <a:off x="6350400" y="410436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56fa2"/>
          </a:solidFill>
          <a:ln w="0">
            <a:noFill/>
          </a:ln>
        </p:spPr>
      </p:sp>
      <p:sp>
        <p:nvSpPr>
          <p:cNvPr id="217" name="Freeform 176"/>
          <p:cNvSpPr/>
          <p:nvPr/>
        </p:nvSpPr>
        <p:spPr>
          <a:xfrm>
            <a:off x="6350400" y="418860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46ea2"/>
          </a:solidFill>
          <a:ln w="0">
            <a:noFill/>
          </a:ln>
        </p:spPr>
      </p:sp>
      <p:sp>
        <p:nvSpPr>
          <p:cNvPr id="218" name="Freeform 177"/>
          <p:cNvSpPr/>
          <p:nvPr/>
        </p:nvSpPr>
        <p:spPr>
          <a:xfrm>
            <a:off x="6350400" y="427248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36ea1"/>
          </a:solidFill>
          <a:ln w="0">
            <a:noFill/>
          </a:ln>
        </p:spPr>
      </p:sp>
      <p:sp>
        <p:nvSpPr>
          <p:cNvPr id="219" name="Freeform 178"/>
          <p:cNvSpPr/>
          <p:nvPr/>
        </p:nvSpPr>
        <p:spPr>
          <a:xfrm>
            <a:off x="6350400" y="435636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36da0"/>
          </a:solidFill>
          <a:ln w="0">
            <a:noFill/>
          </a:ln>
        </p:spPr>
      </p:sp>
      <p:sp>
        <p:nvSpPr>
          <p:cNvPr id="220" name="Freeform 179"/>
          <p:cNvSpPr/>
          <p:nvPr/>
        </p:nvSpPr>
        <p:spPr>
          <a:xfrm>
            <a:off x="6350400" y="444060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26c9f"/>
          </a:solidFill>
          <a:ln w="0">
            <a:noFill/>
          </a:ln>
        </p:spPr>
      </p:sp>
      <p:sp>
        <p:nvSpPr>
          <p:cNvPr id="221" name="Freeform 180"/>
          <p:cNvSpPr/>
          <p:nvPr/>
        </p:nvSpPr>
        <p:spPr>
          <a:xfrm>
            <a:off x="6350400" y="452448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16b9e"/>
          </a:solidFill>
          <a:ln w="0">
            <a:noFill/>
          </a:ln>
        </p:spPr>
      </p:sp>
      <p:sp>
        <p:nvSpPr>
          <p:cNvPr id="222" name="Freeform 181"/>
          <p:cNvSpPr/>
          <p:nvPr/>
        </p:nvSpPr>
        <p:spPr>
          <a:xfrm>
            <a:off x="6350400" y="460836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416a9d"/>
          </a:solidFill>
          <a:ln w="0">
            <a:noFill/>
          </a:ln>
        </p:spPr>
      </p:sp>
      <p:sp>
        <p:nvSpPr>
          <p:cNvPr id="223" name="Freeform 182"/>
          <p:cNvSpPr/>
          <p:nvPr/>
        </p:nvSpPr>
        <p:spPr>
          <a:xfrm>
            <a:off x="6350400" y="469260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406a9d"/>
          </a:solidFill>
          <a:ln w="0">
            <a:noFill/>
          </a:ln>
        </p:spPr>
      </p:sp>
      <p:sp>
        <p:nvSpPr>
          <p:cNvPr id="224" name="Freeform 183"/>
          <p:cNvSpPr/>
          <p:nvPr/>
        </p:nvSpPr>
        <p:spPr>
          <a:xfrm>
            <a:off x="6350400" y="477648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3f699c"/>
          </a:solidFill>
          <a:ln w="0">
            <a:noFill/>
          </a:ln>
        </p:spPr>
      </p:sp>
      <p:sp>
        <p:nvSpPr>
          <p:cNvPr id="225" name="Freeform 184"/>
          <p:cNvSpPr/>
          <p:nvPr/>
        </p:nvSpPr>
        <p:spPr>
          <a:xfrm>
            <a:off x="6350400" y="486036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3e689b"/>
          </a:solidFill>
          <a:ln w="0">
            <a:noFill/>
          </a:ln>
        </p:spPr>
      </p:sp>
      <p:sp>
        <p:nvSpPr>
          <p:cNvPr id="226" name="Freeform 185"/>
          <p:cNvSpPr/>
          <p:nvPr/>
        </p:nvSpPr>
        <p:spPr>
          <a:xfrm>
            <a:off x="6350400" y="494424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3e679a"/>
          </a:solidFill>
          <a:ln w="0">
            <a:noFill/>
          </a:ln>
        </p:spPr>
      </p:sp>
      <p:sp>
        <p:nvSpPr>
          <p:cNvPr id="227" name="Freeform 186"/>
          <p:cNvSpPr/>
          <p:nvPr/>
        </p:nvSpPr>
        <p:spPr>
          <a:xfrm>
            <a:off x="6350400" y="502848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3d6799"/>
          </a:solidFill>
          <a:ln w="0">
            <a:noFill/>
          </a:ln>
        </p:spPr>
      </p:sp>
      <p:sp>
        <p:nvSpPr>
          <p:cNvPr id="228" name="Freeform 187"/>
          <p:cNvSpPr/>
          <p:nvPr/>
        </p:nvSpPr>
        <p:spPr>
          <a:xfrm>
            <a:off x="6350400" y="511236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3c6698"/>
          </a:solidFill>
          <a:ln w="0">
            <a:noFill/>
          </a:ln>
        </p:spPr>
      </p:sp>
      <p:sp>
        <p:nvSpPr>
          <p:cNvPr id="229" name="Freeform 188"/>
          <p:cNvSpPr/>
          <p:nvPr/>
        </p:nvSpPr>
        <p:spPr>
          <a:xfrm>
            <a:off x="6350400" y="519624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3c6598"/>
          </a:solidFill>
          <a:ln w="0">
            <a:noFill/>
          </a:ln>
        </p:spPr>
      </p:sp>
      <p:sp>
        <p:nvSpPr>
          <p:cNvPr id="230" name="Freeform 189"/>
          <p:cNvSpPr/>
          <p:nvPr/>
        </p:nvSpPr>
        <p:spPr>
          <a:xfrm>
            <a:off x="6350400" y="528048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3b6497"/>
          </a:solidFill>
          <a:ln w="0">
            <a:noFill/>
          </a:ln>
        </p:spPr>
      </p:sp>
      <p:sp>
        <p:nvSpPr>
          <p:cNvPr id="231" name="Freeform 190"/>
          <p:cNvSpPr/>
          <p:nvPr/>
        </p:nvSpPr>
        <p:spPr>
          <a:xfrm>
            <a:off x="6350400" y="536436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3a6496"/>
          </a:solidFill>
          <a:ln w="0">
            <a:noFill/>
          </a:ln>
        </p:spPr>
      </p:sp>
      <p:sp>
        <p:nvSpPr>
          <p:cNvPr id="232" name="Freeform 191"/>
          <p:cNvSpPr/>
          <p:nvPr/>
        </p:nvSpPr>
        <p:spPr>
          <a:xfrm>
            <a:off x="6350400" y="544824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3a6395"/>
          </a:solidFill>
          <a:ln w="0">
            <a:noFill/>
          </a:ln>
        </p:spPr>
      </p:sp>
      <p:sp>
        <p:nvSpPr>
          <p:cNvPr id="233" name="Freeform 192"/>
          <p:cNvSpPr/>
          <p:nvPr/>
        </p:nvSpPr>
        <p:spPr>
          <a:xfrm>
            <a:off x="6350400" y="5532120"/>
            <a:ext cx="1759320" cy="84960"/>
          </a:xfrm>
          <a:custGeom>
            <a:avLst/>
            <a:gdLst/>
            <a:ahLst/>
            <a:rect l="0" t="0" r="r" b="b"/>
            <a:pathLst>
              <a:path w="4887" h="236">
                <a:moveTo>
                  <a:pt x="0" y="0"/>
                </a:moveTo>
                <a:lnTo>
                  <a:pt x="4886" y="0"/>
                </a:lnTo>
                <a:lnTo>
                  <a:pt x="4886" y="235"/>
                </a:lnTo>
                <a:lnTo>
                  <a:pt x="0" y="235"/>
                </a:lnTo>
                <a:lnTo>
                  <a:pt x="0" y="0"/>
                </a:lnTo>
                <a:close/>
              </a:path>
            </a:pathLst>
          </a:custGeom>
          <a:solidFill>
            <a:srgbClr val="396294"/>
          </a:solidFill>
          <a:ln w="0">
            <a:noFill/>
          </a:ln>
        </p:spPr>
      </p:sp>
      <p:sp>
        <p:nvSpPr>
          <p:cNvPr id="234" name="Freeform 193"/>
          <p:cNvSpPr/>
          <p:nvPr/>
        </p:nvSpPr>
        <p:spPr>
          <a:xfrm>
            <a:off x="6350400" y="561636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386193"/>
          </a:solidFill>
          <a:ln w="0">
            <a:noFill/>
          </a:ln>
        </p:spPr>
      </p:sp>
      <p:sp>
        <p:nvSpPr>
          <p:cNvPr id="235" name="Freeform 194"/>
          <p:cNvSpPr/>
          <p:nvPr/>
        </p:nvSpPr>
        <p:spPr>
          <a:xfrm>
            <a:off x="6350400" y="5700240"/>
            <a:ext cx="1759320" cy="84600"/>
          </a:xfrm>
          <a:custGeom>
            <a:avLst/>
            <a:gdLst/>
            <a:ahLst/>
            <a:rect l="0" t="0" r="r" b="b"/>
            <a:pathLst>
              <a:path w="4887" h="235">
                <a:moveTo>
                  <a:pt x="0" y="0"/>
                </a:moveTo>
                <a:lnTo>
                  <a:pt x="4886" y="0"/>
                </a:lnTo>
                <a:lnTo>
                  <a:pt x="4886" y="234"/>
                </a:lnTo>
                <a:lnTo>
                  <a:pt x="0" y="234"/>
                </a:lnTo>
                <a:lnTo>
                  <a:pt x="0" y="0"/>
                </a:lnTo>
                <a:close/>
              </a:path>
            </a:pathLst>
          </a:custGeom>
          <a:solidFill>
            <a:srgbClr val="376193"/>
          </a:solidFill>
          <a:ln w="0">
            <a:noFill/>
          </a:ln>
        </p:spPr>
      </p:sp>
      <p:sp>
        <p:nvSpPr>
          <p:cNvPr id="236" name="Freeform 195"/>
          <p:cNvSpPr/>
          <p:nvPr/>
        </p:nvSpPr>
        <p:spPr>
          <a:xfrm>
            <a:off x="6350400" y="5784120"/>
            <a:ext cx="1759320" cy="336960"/>
          </a:xfrm>
          <a:custGeom>
            <a:avLst/>
            <a:gdLst/>
            <a:ahLst/>
            <a:rect l="0" t="0" r="r" b="b"/>
            <a:pathLst>
              <a:path w="4887" h="936">
                <a:moveTo>
                  <a:pt x="0" y="0"/>
                </a:moveTo>
                <a:lnTo>
                  <a:pt x="4886" y="0"/>
                </a:lnTo>
                <a:lnTo>
                  <a:pt x="4886" y="935"/>
                </a:lnTo>
                <a:lnTo>
                  <a:pt x="0" y="935"/>
                </a:lnTo>
                <a:lnTo>
                  <a:pt x="0" y="0"/>
                </a:lnTo>
                <a:close/>
              </a:path>
            </a:pathLst>
          </a:custGeom>
          <a:solidFill>
            <a:srgbClr val="376092"/>
          </a:solidFill>
          <a:ln w="0">
            <a:noFill/>
          </a:ln>
        </p:spPr>
      </p:sp>
      <p:sp>
        <p:nvSpPr>
          <p:cNvPr id="237" name="Freeform 196"/>
          <p:cNvSpPr/>
          <p:nvPr/>
        </p:nvSpPr>
        <p:spPr>
          <a:xfrm>
            <a:off x="554400" y="4404240"/>
            <a:ext cx="3432960" cy="390960"/>
          </a:xfrm>
          <a:custGeom>
            <a:avLst/>
            <a:gdLst/>
            <a:ahLst/>
            <a:rect l="0" t="0" r="r" b="b"/>
            <a:pathLst>
              <a:path w="9536" h="1086">
                <a:moveTo>
                  <a:pt x="0" y="0"/>
                </a:moveTo>
                <a:lnTo>
                  <a:pt x="4017" y="0"/>
                </a:lnTo>
                <a:lnTo>
                  <a:pt x="4193" y="0"/>
                </a:lnTo>
                <a:lnTo>
                  <a:pt x="4845" y="0"/>
                </a:lnTo>
                <a:lnTo>
                  <a:pt x="5519" y="0"/>
                </a:lnTo>
                <a:lnTo>
                  <a:pt x="8208" y="0"/>
                </a:lnTo>
                <a:lnTo>
                  <a:pt x="8861" y="0"/>
                </a:lnTo>
                <a:lnTo>
                  <a:pt x="9535" y="0"/>
                </a:lnTo>
                <a:lnTo>
                  <a:pt x="8872" y="1085"/>
                </a:lnTo>
                <a:lnTo>
                  <a:pt x="8861" y="1067"/>
                </a:lnTo>
                <a:lnTo>
                  <a:pt x="8861" y="1085"/>
                </a:lnTo>
                <a:lnTo>
                  <a:pt x="4856" y="1085"/>
                </a:lnTo>
                <a:lnTo>
                  <a:pt x="4845" y="1085"/>
                </a:lnTo>
                <a:lnTo>
                  <a:pt x="4017" y="1085"/>
                </a:lnTo>
                <a:lnTo>
                  <a:pt x="0" y="1085"/>
                </a:lnTo>
                <a:lnTo>
                  <a:pt x="0" y="0"/>
                </a:lnTo>
                <a:close/>
              </a:path>
            </a:pathLst>
          </a:custGeom>
          <a:solidFill>
            <a:srgbClr val="4f81bd"/>
          </a:solidFill>
          <a:ln w="0">
            <a:noFill/>
          </a:ln>
        </p:spPr>
      </p:sp>
      <p:sp>
        <p:nvSpPr>
          <p:cNvPr id="238" name="Freeform 197"/>
          <p:cNvSpPr/>
          <p:nvPr/>
        </p:nvSpPr>
        <p:spPr>
          <a:xfrm>
            <a:off x="1990080" y="5869440"/>
            <a:ext cx="219240" cy="270720"/>
          </a:xfrm>
          <a:custGeom>
            <a:avLst/>
            <a:gdLst/>
            <a:ahLst/>
            <a:rect l="0" t="0" r="r" b="b"/>
            <a:pathLst>
              <a:path w="609" h="752">
                <a:moveTo>
                  <a:pt x="608" y="751"/>
                </a:moveTo>
                <a:lnTo>
                  <a:pt x="0" y="751"/>
                </a:lnTo>
                <a:lnTo>
                  <a:pt x="608" y="0"/>
                </a:lnTo>
                <a:lnTo>
                  <a:pt x="608" y="751"/>
                </a:lnTo>
                <a:close/>
              </a:path>
            </a:pathLst>
          </a:custGeom>
          <a:solidFill>
            <a:srgbClr val="4f81bd"/>
          </a:solidFill>
          <a:ln w="0">
            <a:noFill/>
          </a:ln>
        </p:spPr>
      </p:sp>
      <p:sp>
        <p:nvSpPr>
          <p:cNvPr id="239" name="Freeform 198"/>
          <p:cNvSpPr/>
          <p:nvPr/>
        </p:nvSpPr>
        <p:spPr>
          <a:xfrm>
            <a:off x="1880640" y="5734440"/>
            <a:ext cx="328680" cy="405720"/>
          </a:xfrm>
          <a:custGeom>
            <a:avLst/>
            <a:gdLst/>
            <a:ahLst/>
            <a:rect l="0" t="0" r="r" b="b"/>
            <a:pathLst>
              <a:path w="913" h="1127">
                <a:moveTo>
                  <a:pt x="912" y="375"/>
                </a:moveTo>
                <a:lnTo>
                  <a:pt x="304" y="1126"/>
                </a:lnTo>
                <a:lnTo>
                  <a:pt x="0" y="1126"/>
                </a:lnTo>
                <a:lnTo>
                  <a:pt x="912" y="0"/>
                </a:lnTo>
                <a:lnTo>
                  <a:pt x="912" y="375"/>
                </a:lnTo>
                <a:close/>
              </a:path>
            </a:pathLst>
          </a:custGeom>
          <a:solidFill>
            <a:srgbClr val="4f81bd"/>
          </a:solidFill>
          <a:ln w="0">
            <a:noFill/>
          </a:ln>
        </p:spPr>
      </p:sp>
      <p:sp>
        <p:nvSpPr>
          <p:cNvPr id="240" name="Freeform 199"/>
          <p:cNvSpPr/>
          <p:nvPr/>
        </p:nvSpPr>
        <p:spPr>
          <a:xfrm>
            <a:off x="1771560" y="5599440"/>
            <a:ext cx="437760" cy="540720"/>
          </a:xfrm>
          <a:custGeom>
            <a:avLst/>
            <a:gdLst/>
            <a:ahLst/>
            <a:rect l="0" t="0" r="r" b="b"/>
            <a:pathLst>
              <a:path w="1216" h="1502">
                <a:moveTo>
                  <a:pt x="1215" y="376"/>
                </a:moveTo>
                <a:lnTo>
                  <a:pt x="303" y="1501"/>
                </a:lnTo>
                <a:lnTo>
                  <a:pt x="0" y="1501"/>
                </a:lnTo>
                <a:lnTo>
                  <a:pt x="1215" y="0"/>
                </a:lnTo>
                <a:lnTo>
                  <a:pt x="1215" y="376"/>
                </a:lnTo>
                <a:close/>
              </a:path>
            </a:pathLst>
          </a:custGeom>
          <a:solidFill>
            <a:srgbClr val="5082bd"/>
          </a:solidFill>
          <a:ln w="0">
            <a:noFill/>
          </a:ln>
        </p:spPr>
      </p:sp>
      <p:sp>
        <p:nvSpPr>
          <p:cNvPr id="241" name="Freeform 200"/>
          <p:cNvSpPr/>
          <p:nvPr/>
        </p:nvSpPr>
        <p:spPr>
          <a:xfrm>
            <a:off x="1662120" y="5464440"/>
            <a:ext cx="547200" cy="675720"/>
          </a:xfrm>
          <a:custGeom>
            <a:avLst/>
            <a:gdLst/>
            <a:ahLst/>
            <a:rect l="0" t="0" r="r" b="b"/>
            <a:pathLst>
              <a:path w="1520" h="1877">
                <a:moveTo>
                  <a:pt x="1519" y="375"/>
                </a:moveTo>
                <a:lnTo>
                  <a:pt x="304" y="1876"/>
                </a:lnTo>
                <a:lnTo>
                  <a:pt x="0" y="1876"/>
                </a:lnTo>
                <a:lnTo>
                  <a:pt x="1519" y="0"/>
                </a:lnTo>
                <a:lnTo>
                  <a:pt x="1519" y="375"/>
                </a:lnTo>
                <a:close/>
              </a:path>
            </a:pathLst>
          </a:custGeom>
          <a:solidFill>
            <a:srgbClr val="5182be"/>
          </a:solidFill>
          <a:ln w="0">
            <a:noFill/>
          </a:ln>
        </p:spPr>
      </p:sp>
      <p:sp>
        <p:nvSpPr>
          <p:cNvPr id="242" name="Freeform 201"/>
          <p:cNvSpPr/>
          <p:nvPr/>
        </p:nvSpPr>
        <p:spPr>
          <a:xfrm>
            <a:off x="1552680" y="5329440"/>
            <a:ext cx="656640" cy="810720"/>
          </a:xfrm>
          <a:custGeom>
            <a:avLst/>
            <a:gdLst/>
            <a:ahLst/>
            <a:rect l="0" t="0" r="r" b="b"/>
            <a:pathLst>
              <a:path w="1824" h="2252">
                <a:moveTo>
                  <a:pt x="1823" y="375"/>
                </a:moveTo>
                <a:lnTo>
                  <a:pt x="305" y="2251"/>
                </a:lnTo>
                <a:lnTo>
                  <a:pt x="0" y="2251"/>
                </a:lnTo>
                <a:lnTo>
                  <a:pt x="1823" y="0"/>
                </a:lnTo>
                <a:lnTo>
                  <a:pt x="1823" y="375"/>
                </a:lnTo>
                <a:close/>
              </a:path>
            </a:pathLst>
          </a:custGeom>
          <a:solidFill>
            <a:srgbClr val="5183be"/>
          </a:solidFill>
          <a:ln w="0">
            <a:noFill/>
          </a:ln>
        </p:spPr>
      </p:sp>
      <p:sp>
        <p:nvSpPr>
          <p:cNvPr id="243" name="Freeform 202"/>
          <p:cNvSpPr/>
          <p:nvPr/>
        </p:nvSpPr>
        <p:spPr>
          <a:xfrm>
            <a:off x="1443600" y="5194440"/>
            <a:ext cx="765720" cy="945720"/>
          </a:xfrm>
          <a:custGeom>
            <a:avLst/>
            <a:gdLst/>
            <a:ahLst/>
            <a:rect l="0" t="0" r="r" b="b"/>
            <a:pathLst>
              <a:path w="2127" h="2627">
                <a:moveTo>
                  <a:pt x="2126" y="376"/>
                </a:moveTo>
                <a:lnTo>
                  <a:pt x="303" y="2626"/>
                </a:lnTo>
                <a:lnTo>
                  <a:pt x="0" y="2626"/>
                </a:lnTo>
                <a:lnTo>
                  <a:pt x="2126" y="0"/>
                </a:lnTo>
                <a:lnTo>
                  <a:pt x="2126" y="376"/>
                </a:lnTo>
                <a:close/>
              </a:path>
            </a:pathLst>
          </a:custGeom>
          <a:solidFill>
            <a:srgbClr val="5283be"/>
          </a:solidFill>
          <a:ln w="0">
            <a:noFill/>
          </a:ln>
        </p:spPr>
      </p:sp>
      <p:sp>
        <p:nvSpPr>
          <p:cNvPr id="244" name="Freeform 203"/>
          <p:cNvSpPr/>
          <p:nvPr/>
        </p:nvSpPr>
        <p:spPr>
          <a:xfrm>
            <a:off x="1334160" y="5059440"/>
            <a:ext cx="875160" cy="1080720"/>
          </a:xfrm>
          <a:custGeom>
            <a:avLst/>
            <a:gdLst/>
            <a:ahLst/>
            <a:rect l="0" t="0" r="r" b="b"/>
            <a:pathLst>
              <a:path w="2431" h="3002">
                <a:moveTo>
                  <a:pt x="2430" y="375"/>
                </a:moveTo>
                <a:lnTo>
                  <a:pt x="304" y="3001"/>
                </a:lnTo>
                <a:lnTo>
                  <a:pt x="0" y="3001"/>
                </a:lnTo>
                <a:lnTo>
                  <a:pt x="2430" y="0"/>
                </a:lnTo>
                <a:lnTo>
                  <a:pt x="2430" y="375"/>
                </a:lnTo>
                <a:close/>
              </a:path>
            </a:pathLst>
          </a:custGeom>
          <a:solidFill>
            <a:srgbClr val="5283be"/>
          </a:solidFill>
          <a:ln w="0">
            <a:noFill/>
          </a:ln>
        </p:spPr>
      </p:sp>
      <p:sp>
        <p:nvSpPr>
          <p:cNvPr id="245" name="Freeform 204"/>
          <p:cNvSpPr/>
          <p:nvPr/>
        </p:nvSpPr>
        <p:spPr>
          <a:xfrm>
            <a:off x="1224720" y="4924440"/>
            <a:ext cx="984600" cy="1215720"/>
          </a:xfrm>
          <a:custGeom>
            <a:avLst/>
            <a:gdLst/>
            <a:ahLst/>
            <a:rect l="0" t="0" r="r" b="b"/>
            <a:pathLst>
              <a:path w="2735" h="3377">
                <a:moveTo>
                  <a:pt x="2734" y="375"/>
                </a:moveTo>
                <a:lnTo>
                  <a:pt x="304" y="3376"/>
                </a:lnTo>
                <a:lnTo>
                  <a:pt x="0" y="3376"/>
                </a:lnTo>
                <a:lnTo>
                  <a:pt x="2734" y="0"/>
                </a:lnTo>
                <a:lnTo>
                  <a:pt x="2734" y="375"/>
                </a:lnTo>
                <a:close/>
              </a:path>
            </a:pathLst>
          </a:custGeom>
          <a:solidFill>
            <a:srgbClr val="5384be"/>
          </a:solidFill>
          <a:ln w="0">
            <a:noFill/>
          </a:ln>
        </p:spPr>
      </p:sp>
      <p:sp>
        <p:nvSpPr>
          <p:cNvPr id="246" name="Freeform 205"/>
          <p:cNvSpPr/>
          <p:nvPr/>
        </p:nvSpPr>
        <p:spPr>
          <a:xfrm>
            <a:off x="1115280" y="4789440"/>
            <a:ext cx="1094040" cy="1350720"/>
          </a:xfrm>
          <a:custGeom>
            <a:avLst/>
            <a:gdLst/>
            <a:ahLst/>
            <a:rect l="0" t="0" r="r" b="b"/>
            <a:pathLst>
              <a:path w="3039" h="3752">
                <a:moveTo>
                  <a:pt x="3038" y="375"/>
                </a:moveTo>
                <a:lnTo>
                  <a:pt x="304" y="3751"/>
                </a:lnTo>
                <a:lnTo>
                  <a:pt x="0" y="3751"/>
                </a:lnTo>
                <a:lnTo>
                  <a:pt x="3038" y="0"/>
                </a:lnTo>
                <a:lnTo>
                  <a:pt x="3038" y="375"/>
                </a:lnTo>
                <a:close/>
              </a:path>
            </a:pathLst>
          </a:custGeom>
          <a:solidFill>
            <a:srgbClr val="5384bf"/>
          </a:solidFill>
          <a:ln w="0">
            <a:noFill/>
          </a:ln>
        </p:spPr>
      </p:sp>
      <p:sp>
        <p:nvSpPr>
          <p:cNvPr id="247" name="Freeform 206"/>
          <p:cNvSpPr/>
          <p:nvPr/>
        </p:nvSpPr>
        <p:spPr>
          <a:xfrm>
            <a:off x="1006200" y="4654080"/>
            <a:ext cx="1203120" cy="1486080"/>
          </a:xfrm>
          <a:custGeom>
            <a:avLst/>
            <a:gdLst/>
            <a:ahLst/>
            <a:rect l="0" t="0" r="r" b="b"/>
            <a:pathLst>
              <a:path w="3342" h="4128">
                <a:moveTo>
                  <a:pt x="3341" y="376"/>
                </a:moveTo>
                <a:lnTo>
                  <a:pt x="303" y="4127"/>
                </a:lnTo>
                <a:lnTo>
                  <a:pt x="0" y="4127"/>
                </a:lnTo>
                <a:lnTo>
                  <a:pt x="3341" y="0"/>
                </a:lnTo>
                <a:lnTo>
                  <a:pt x="3341" y="376"/>
                </a:lnTo>
                <a:close/>
              </a:path>
            </a:pathLst>
          </a:custGeom>
          <a:solidFill>
            <a:srgbClr val="5485bf"/>
          </a:solidFill>
          <a:ln w="0">
            <a:noFill/>
          </a:ln>
        </p:spPr>
      </p:sp>
      <p:sp>
        <p:nvSpPr>
          <p:cNvPr id="248" name="Freeform 207"/>
          <p:cNvSpPr/>
          <p:nvPr/>
        </p:nvSpPr>
        <p:spPr>
          <a:xfrm>
            <a:off x="896760" y="4519080"/>
            <a:ext cx="1312560" cy="1621080"/>
          </a:xfrm>
          <a:custGeom>
            <a:avLst/>
            <a:gdLst/>
            <a:ahLst/>
            <a:rect l="0" t="0" r="r" b="b"/>
            <a:pathLst>
              <a:path w="3646" h="4503">
                <a:moveTo>
                  <a:pt x="3645" y="375"/>
                </a:moveTo>
                <a:lnTo>
                  <a:pt x="304" y="4502"/>
                </a:lnTo>
                <a:lnTo>
                  <a:pt x="0" y="4502"/>
                </a:lnTo>
                <a:lnTo>
                  <a:pt x="3645" y="0"/>
                </a:lnTo>
                <a:lnTo>
                  <a:pt x="3645" y="375"/>
                </a:lnTo>
                <a:close/>
              </a:path>
            </a:pathLst>
          </a:custGeom>
          <a:solidFill>
            <a:srgbClr val="5585bf"/>
          </a:solidFill>
          <a:ln w="0">
            <a:noFill/>
          </a:ln>
        </p:spPr>
      </p:sp>
      <p:sp>
        <p:nvSpPr>
          <p:cNvPr id="249" name="Freeform 208"/>
          <p:cNvSpPr/>
          <p:nvPr/>
        </p:nvSpPr>
        <p:spPr>
          <a:xfrm>
            <a:off x="787320" y="4384080"/>
            <a:ext cx="1422000" cy="1756080"/>
          </a:xfrm>
          <a:custGeom>
            <a:avLst/>
            <a:gdLst/>
            <a:ahLst/>
            <a:rect l="0" t="0" r="r" b="b"/>
            <a:pathLst>
              <a:path w="3950" h="4878">
                <a:moveTo>
                  <a:pt x="3949" y="376"/>
                </a:moveTo>
                <a:lnTo>
                  <a:pt x="304" y="4877"/>
                </a:lnTo>
                <a:lnTo>
                  <a:pt x="0" y="4877"/>
                </a:lnTo>
                <a:lnTo>
                  <a:pt x="3949" y="0"/>
                </a:lnTo>
                <a:lnTo>
                  <a:pt x="3949" y="376"/>
                </a:lnTo>
                <a:close/>
              </a:path>
            </a:pathLst>
          </a:custGeom>
          <a:solidFill>
            <a:srgbClr val="5585bf"/>
          </a:solidFill>
          <a:ln w="0">
            <a:noFill/>
          </a:ln>
        </p:spPr>
      </p:sp>
      <p:sp>
        <p:nvSpPr>
          <p:cNvPr id="250" name="Freeform 209"/>
          <p:cNvSpPr/>
          <p:nvPr/>
        </p:nvSpPr>
        <p:spPr>
          <a:xfrm>
            <a:off x="710280" y="4288680"/>
            <a:ext cx="1499040" cy="1851480"/>
          </a:xfrm>
          <a:custGeom>
            <a:avLst/>
            <a:gdLst/>
            <a:ahLst/>
            <a:rect l="0" t="0" r="r" b="b"/>
            <a:pathLst>
              <a:path w="4164" h="5143">
                <a:moveTo>
                  <a:pt x="4163" y="265"/>
                </a:moveTo>
                <a:lnTo>
                  <a:pt x="215" y="5142"/>
                </a:lnTo>
                <a:lnTo>
                  <a:pt x="0" y="5142"/>
                </a:lnTo>
                <a:lnTo>
                  <a:pt x="4163" y="0"/>
                </a:lnTo>
                <a:lnTo>
                  <a:pt x="4163" y="265"/>
                </a:lnTo>
                <a:close/>
              </a:path>
            </a:pathLst>
          </a:custGeom>
          <a:solidFill>
            <a:srgbClr val="5686c0"/>
          </a:solidFill>
          <a:ln w="0">
            <a:noFill/>
          </a:ln>
        </p:spPr>
      </p:sp>
      <p:sp>
        <p:nvSpPr>
          <p:cNvPr id="251" name="Freeform 210"/>
          <p:cNvSpPr/>
          <p:nvPr/>
        </p:nvSpPr>
        <p:spPr>
          <a:xfrm>
            <a:off x="678240" y="4288680"/>
            <a:ext cx="1531080" cy="1851480"/>
          </a:xfrm>
          <a:custGeom>
            <a:avLst/>
            <a:gdLst/>
            <a:ahLst/>
            <a:rect l="0" t="0" r="r" b="b"/>
            <a:pathLst>
              <a:path w="4253" h="5143">
                <a:moveTo>
                  <a:pt x="4252" y="0"/>
                </a:moveTo>
                <a:lnTo>
                  <a:pt x="89" y="5142"/>
                </a:lnTo>
                <a:lnTo>
                  <a:pt x="0" y="5142"/>
                </a:lnTo>
                <a:lnTo>
                  <a:pt x="4163" y="0"/>
                </a:lnTo>
                <a:lnTo>
                  <a:pt x="4252" y="0"/>
                </a:lnTo>
                <a:close/>
              </a:path>
            </a:pathLst>
          </a:custGeom>
          <a:solidFill>
            <a:srgbClr val="5686c0"/>
          </a:solidFill>
          <a:ln w="0">
            <a:noFill/>
          </a:ln>
        </p:spPr>
      </p:sp>
      <p:sp>
        <p:nvSpPr>
          <p:cNvPr id="252" name="Freeform 211"/>
          <p:cNvSpPr/>
          <p:nvPr/>
        </p:nvSpPr>
        <p:spPr>
          <a:xfrm>
            <a:off x="568800" y="4288680"/>
            <a:ext cx="1608480" cy="1851480"/>
          </a:xfrm>
          <a:custGeom>
            <a:avLst/>
            <a:gdLst/>
            <a:ahLst/>
            <a:rect l="0" t="0" r="r" b="b"/>
            <a:pathLst>
              <a:path w="4468" h="5143">
                <a:moveTo>
                  <a:pt x="4467" y="0"/>
                </a:moveTo>
                <a:lnTo>
                  <a:pt x="304" y="5142"/>
                </a:lnTo>
                <a:lnTo>
                  <a:pt x="0" y="5142"/>
                </a:lnTo>
                <a:lnTo>
                  <a:pt x="4164" y="0"/>
                </a:lnTo>
                <a:lnTo>
                  <a:pt x="4467" y="0"/>
                </a:lnTo>
                <a:close/>
              </a:path>
            </a:pathLst>
          </a:custGeom>
          <a:solidFill>
            <a:srgbClr val="5686c0"/>
          </a:solidFill>
          <a:ln w="0">
            <a:noFill/>
          </a:ln>
        </p:spPr>
      </p:sp>
      <p:sp>
        <p:nvSpPr>
          <p:cNvPr id="253" name="Freeform 212"/>
          <p:cNvSpPr/>
          <p:nvPr/>
        </p:nvSpPr>
        <p:spPr>
          <a:xfrm>
            <a:off x="459360" y="4288680"/>
            <a:ext cx="1608840" cy="1851480"/>
          </a:xfrm>
          <a:custGeom>
            <a:avLst/>
            <a:gdLst/>
            <a:ahLst/>
            <a:rect l="0" t="0" r="r" b="b"/>
            <a:pathLst>
              <a:path w="4469" h="5143">
                <a:moveTo>
                  <a:pt x="4468" y="0"/>
                </a:moveTo>
                <a:lnTo>
                  <a:pt x="304" y="5142"/>
                </a:lnTo>
                <a:lnTo>
                  <a:pt x="0" y="5142"/>
                </a:lnTo>
                <a:lnTo>
                  <a:pt x="4164" y="0"/>
                </a:lnTo>
                <a:lnTo>
                  <a:pt x="4468" y="0"/>
                </a:lnTo>
                <a:close/>
              </a:path>
            </a:pathLst>
          </a:custGeom>
          <a:solidFill>
            <a:srgbClr val="5787c0"/>
          </a:solidFill>
          <a:ln w="0">
            <a:noFill/>
          </a:ln>
        </p:spPr>
      </p:sp>
      <p:sp>
        <p:nvSpPr>
          <p:cNvPr id="254" name="Freeform 213"/>
          <p:cNvSpPr/>
          <p:nvPr/>
        </p:nvSpPr>
        <p:spPr>
          <a:xfrm>
            <a:off x="350280" y="4288680"/>
            <a:ext cx="1608480" cy="1851480"/>
          </a:xfrm>
          <a:custGeom>
            <a:avLst/>
            <a:gdLst/>
            <a:ahLst/>
            <a:rect l="0" t="0" r="r" b="b"/>
            <a:pathLst>
              <a:path w="4468" h="5143">
                <a:moveTo>
                  <a:pt x="4467" y="0"/>
                </a:moveTo>
                <a:lnTo>
                  <a:pt x="303" y="5142"/>
                </a:lnTo>
                <a:lnTo>
                  <a:pt x="0" y="5142"/>
                </a:lnTo>
                <a:lnTo>
                  <a:pt x="4163" y="0"/>
                </a:lnTo>
                <a:lnTo>
                  <a:pt x="4467" y="0"/>
                </a:lnTo>
                <a:close/>
              </a:path>
            </a:pathLst>
          </a:custGeom>
          <a:solidFill>
            <a:srgbClr val="5787c0"/>
          </a:solidFill>
          <a:ln w="0">
            <a:noFill/>
          </a:ln>
        </p:spPr>
      </p:sp>
      <p:sp>
        <p:nvSpPr>
          <p:cNvPr id="255" name="Freeform 214"/>
          <p:cNvSpPr/>
          <p:nvPr/>
        </p:nvSpPr>
        <p:spPr>
          <a:xfrm>
            <a:off x="240840" y="4288680"/>
            <a:ext cx="1608480" cy="1851480"/>
          </a:xfrm>
          <a:custGeom>
            <a:avLst/>
            <a:gdLst/>
            <a:ahLst/>
            <a:rect l="0" t="0" r="r" b="b"/>
            <a:pathLst>
              <a:path w="4468" h="5143">
                <a:moveTo>
                  <a:pt x="4467" y="0"/>
                </a:moveTo>
                <a:lnTo>
                  <a:pt x="304" y="5142"/>
                </a:lnTo>
                <a:lnTo>
                  <a:pt x="0" y="5142"/>
                </a:lnTo>
                <a:lnTo>
                  <a:pt x="4164" y="0"/>
                </a:lnTo>
                <a:lnTo>
                  <a:pt x="4467" y="0"/>
                </a:lnTo>
                <a:close/>
              </a:path>
            </a:pathLst>
          </a:custGeom>
          <a:solidFill>
            <a:srgbClr val="5888c1"/>
          </a:solidFill>
          <a:ln w="0">
            <a:noFill/>
          </a:ln>
        </p:spPr>
      </p:sp>
      <p:sp>
        <p:nvSpPr>
          <p:cNvPr id="256" name="Freeform 215"/>
          <p:cNvSpPr/>
          <p:nvPr/>
        </p:nvSpPr>
        <p:spPr>
          <a:xfrm>
            <a:off x="208800" y="4288680"/>
            <a:ext cx="1531440" cy="1851480"/>
          </a:xfrm>
          <a:custGeom>
            <a:avLst/>
            <a:gdLst/>
            <a:ahLst/>
            <a:rect l="0" t="0" r="r" b="b"/>
            <a:pathLst>
              <a:path w="4254" h="5143">
                <a:moveTo>
                  <a:pt x="4253" y="0"/>
                </a:moveTo>
                <a:lnTo>
                  <a:pt x="89" y="5142"/>
                </a:lnTo>
                <a:lnTo>
                  <a:pt x="0" y="5142"/>
                </a:lnTo>
                <a:lnTo>
                  <a:pt x="4164" y="0"/>
                </a:lnTo>
                <a:lnTo>
                  <a:pt x="4253" y="0"/>
                </a:lnTo>
                <a:close/>
              </a:path>
            </a:pathLst>
          </a:custGeom>
          <a:solidFill>
            <a:srgbClr val="5988c1"/>
          </a:solidFill>
          <a:ln w="0">
            <a:noFill/>
          </a:ln>
        </p:spPr>
      </p:sp>
      <p:sp>
        <p:nvSpPr>
          <p:cNvPr id="257" name="Freeform 216"/>
          <p:cNvSpPr/>
          <p:nvPr/>
        </p:nvSpPr>
        <p:spPr>
          <a:xfrm>
            <a:off x="208800" y="4288680"/>
            <a:ext cx="1499400" cy="1851480"/>
          </a:xfrm>
          <a:custGeom>
            <a:avLst/>
            <a:gdLst/>
            <a:ahLst/>
            <a:rect l="0" t="0" r="r" b="b"/>
            <a:pathLst>
              <a:path w="4165" h="5143">
                <a:moveTo>
                  <a:pt x="4164" y="0"/>
                </a:moveTo>
                <a:lnTo>
                  <a:pt x="0" y="5142"/>
                </a:lnTo>
                <a:lnTo>
                  <a:pt x="0" y="4876"/>
                </a:lnTo>
                <a:lnTo>
                  <a:pt x="3949" y="0"/>
                </a:lnTo>
                <a:lnTo>
                  <a:pt x="4164" y="0"/>
                </a:lnTo>
                <a:close/>
              </a:path>
            </a:pathLst>
          </a:custGeom>
          <a:solidFill>
            <a:srgbClr val="5988c1"/>
          </a:solidFill>
          <a:ln w="0">
            <a:noFill/>
          </a:ln>
        </p:spPr>
      </p:sp>
      <p:sp>
        <p:nvSpPr>
          <p:cNvPr id="258" name="Freeform 217"/>
          <p:cNvSpPr/>
          <p:nvPr/>
        </p:nvSpPr>
        <p:spPr>
          <a:xfrm>
            <a:off x="208800" y="4288680"/>
            <a:ext cx="1422000" cy="1755720"/>
          </a:xfrm>
          <a:custGeom>
            <a:avLst/>
            <a:gdLst/>
            <a:ahLst/>
            <a:rect l="0" t="0" r="r" b="b"/>
            <a:pathLst>
              <a:path w="3950" h="4877">
                <a:moveTo>
                  <a:pt x="3949" y="0"/>
                </a:moveTo>
                <a:lnTo>
                  <a:pt x="0" y="4876"/>
                </a:lnTo>
                <a:lnTo>
                  <a:pt x="0" y="4501"/>
                </a:lnTo>
                <a:lnTo>
                  <a:pt x="3645" y="0"/>
                </a:lnTo>
                <a:lnTo>
                  <a:pt x="3949" y="0"/>
                </a:lnTo>
                <a:close/>
              </a:path>
            </a:pathLst>
          </a:custGeom>
          <a:solidFill>
            <a:srgbClr val="5988c1"/>
          </a:solidFill>
          <a:ln w="0">
            <a:noFill/>
          </a:ln>
        </p:spPr>
      </p:sp>
      <p:sp>
        <p:nvSpPr>
          <p:cNvPr id="259" name="Freeform 218"/>
          <p:cNvSpPr/>
          <p:nvPr/>
        </p:nvSpPr>
        <p:spPr>
          <a:xfrm>
            <a:off x="208800" y="4288680"/>
            <a:ext cx="1312560" cy="1620720"/>
          </a:xfrm>
          <a:custGeom>
            <a:avLst/>
            <a:gdLst/>
            <a:ahLst/>
            <a:rect l="0" t="0" r="r" b="b"/>
            <a:pathLst>
              <a:path w="3646" h="4502">
                <a:moveTo>
                  <a:pt x="3645" y="0"/>
                </a:moveTo>
                <a:lnTo>
                  <a:pt x="0" y="4501"/>
                </a:lnTo>
                <a:lnTo>
                  <a:pt x="0" y="4126"/>
                </a:lnTo>
                <a:lnTo>
                  <a:pt x="3342" y="0"/>
                </a:lnTo>
                <a:lnTo>
                  <a:pt x="3645" y="0"/>
                </a:lnTo>
                <a:close/>
              </a:path>
            </a:pathLst>
          </a:custGeom>
          <a:solidFill>
            <a:srgbClr val="5a89c1"/>
          </a:solidFill>
          <a:ln w="0">
            <a:noFill/>
          </a:ln>
        </p:spPr>
      </p:sp>
      <p:sp>
        <p:nvSpPr>
          <p:cNvPr id="260" name="Freeform 219"/>
          <p:cNvSpPr/>
          <p:nvPr/>
        </p:nvSpPr>
        <p:spPr>
          <a:xfrm>
            <a:off x="208800" y="4288680"/>
            <a:ext cx="1203480" cy="1485720"/>
          </a:xfrm>
          <a:custGeom>
            <a:avLst/>
            <a:gdLst/>
            <a:ahLst/>
            <a:rect l="0" t="0" r="r" b="b"/>
            <a:pathLst>
              <a:path w="3343" h="4127">
                <a:moveTo>
                  <a:pt x="3342" y="0"/>
                </a:moveTo>
                <a:lnTo>
                  <a:pt x="0" y="4126"/>
                </a:lnTo>
                <a:lnTo>
                  <a:pt x="0" y="3751"/>
                </a:lnTo>
                <a:lnTo>
                  <a:pt x="3038" y="0"/>
                </a:lnTo>
                <a:lnTo>
                  <a:pt x="3342" y="0"/>
                </a:lnTo>
                <a:close/>
              </a:path>
            </a:pathLst>
          </a:custGeom>
          <a:solidFill>
            <a:srgbClr val="5a89c1"/>
          </a:solidFill>
          <a:ln w="0">
            <a:noFill/>
          </a:ln>
        </p:spPr>
      </p:sp>
      <p:sp>
        <p:nvSpPr>
          <p:cNvPr id="261" name="Freeform 220"/>
          <p:cNvSpPr/>
          <p:nvPr/>
        </p:nvSpPr>
        <p:spPr>
          <a:xfrm>
            <a:off x="208800" y="4288680"/>
            <a:ext cx="1094040" cy="1350720"/>
          </a:xfrm>
          <a:custGeom>
            <a:avLst/>
            <a:gdLst/>
            <a:ahLst/>
            <a:rect l="0" t="0" r="r" b="b"/>
            <a:pathLst>
              <a:path w="3039" h="3752">
                <a:moveTo>
                  <a:pt x="3038" y="0"/>
                </a:moveTo>
                <a:lnTo>
                  <a:pt x="0" y="3751"/>
                </a:lnTo>
                <a:lnTo>
                  <a:pt x="0" y="3376"/>
                </a:lnTo>
                <a:lnTo>
                  <a:pt x="2734" y="0"/>
                </a:lnTo>
                <a:lnTo>
                  <a:pt x="3038" y="0"/>
                </a:lnTo>
                <a:close/>
              </a:path>
            </a:pathLst>
          </a:custGeom>
          <a:solidFill>
            <a:srgbClr val="5b8ac2"/>
          </a:solidFill>
          <a:ln w="0">
            <a:noFill/>
          </a:ln>
        </p:spPr>
      </p:sp>
      <p:sp>
        <p:nvSpPr>
          <p:cNvPr id="262" name="Freeform 221"/>
          <p:cNvSpPr/>
          <p:nvPr/>
        </p:nvSpPr>
        <p:spPr>
          <a:xfrm>
            <a:off x="208800" y="4288680"/>
            <a:ext cx="984600" cy="1215720"/>
          </a:xfrm>
          <a:custGeom>
            <a:avLst/>
            <a:gdLst/>
            <a:ahLst/>
            <a:rect l="0" t="0" r="r" b="b"/>
            <a:pathLst>
              <a:path w="2735" h="3377">
                <a:moveTo>
                  <a:pt x="2734" y="0"/>
                </a:moveTo>
                <a:lnTo>
                  <a:pt x="0" y="3376"/>
                </a:lnTo>
                <a:lnTo>
                  <a:pt x="0" y="3000"/>
                </a:lnTo>
                <a:lnTo>
                  <a:pt x="2431" y="0"/>
                </a:lnTo>
                <a:lnTo>
                  <a:pt x="2734" y="0"/>
                </a:lnTo>
                <a:close/>
              </a:path>
            </a:pathLst>
          </a:custGeom>
          <a:solidFill>
            <a:srgbClr val="5b8ac2"/>
          </a:solidFill>
          <a:ln w="0">
            <a:noFill/>
          </a:ln>
        </p:spPr>
      </p:sp>
      <p:sp>
        <p:nvSpPr>
          <p:cNvPr id="263" name="Freeform 222"/>
          <p:cNvSpPr/>
          <p:nvPr/>
        </p:nvSpPr>
        <p:spPr>
          <a:xfrm>
            <a:off x="208800" y="4288680"/>
            <a:ext cx="875520" cy="1080720"/>
          </a:xfrm>
          <a:custGeom>
            <a:avLst/>
            <a:gdLst/>
            <a:ahLst/>
            <a:rect l="0" t="0" r="r" b="b"/>
            <a:pathLst>
              <a:path w="2432" h="3002">
                <a:moveTo>
                  <a:pt x="2431" y="0"/>
                </a:moveTo>
                <a:lnTo>
                  <a:pt x="0" y="3001"/>
                </a:lnTo>
                <a:lnTo>
                  <a:pt x="0" y="2626"/>
                </a:lnTo>
                <a:lnTo>
                  <a:pt x="2127" y="0"/>
                </a:lnTo>
                <a:lnTo>
                  <a:pt x="2431" y="0"/>
                </a:lnTo>
                <a:close/>
              </a:path>
            </a:pathLst>
          </a:custGeom>
          <a:solidFill>
            <a:srgbClr val="5c8ac2"/>
          </a:solidFill>
          <a:ln w="0">
            <a:noFill/>
          </a:ln>
        </p:spPr>
      </p:sp>
      <p:sp>
        <p:nvSpPr>
          <p:cNvPr id="264" name="Freeform 223"/>
          <p:cNvSpPr/>
          <p:nvPr/>
        </p:nvSpPr>
        <p:spPr>
          <a:xfrm>
            <a:off x="208800" y="4288680"/>
            <a:ext cx="766080" cy="945720"/>
          </a:xfrm>
          <a:custGeom>
            <a:avLst/>
            <a:gdLst/>
            <a:ahLst/>
            <a:rect l="0" t="0" r="r" b="b"/>
            <a:pathLst>
              <a:path w="2128" h="2627">
                <a:moveTo>
                  <a:pt x="2127" y="0"/>
                </a:moveTo>
                <a:lnTo>
                  <a:pt x="0" y="2626"/>
                </a:lnTo>
                <a:lnTo>
                  <a:pt x="0" y="2250"/>
                </a:lnTo>
                <a:lnTo>
                  <a:pt x="1823" y="0"/>
                </a:lnTo>
                <a:lnTo>
                  <a:pt x="2127" y="0"/>
                </a:lnTo>
                <a:close/>
              </a:path>
            </a:pathLst>
          </a:custGeom>
          <a:solidFill>
            <a:srgbClr val="5d8bc2"/>
          </a:solidFill>
          <a:ln w="0">
            <a:noFill/>
          </a:ln>
        </p:spPr>
      </p:sp>
      <p:sp>
        <p:nvSpPr>
          <p:cNvPr id="265" name="Freeform 224"/>
          <p:cNvSpPr/>
          <p:nvPr/>
        </p:nvSpPr>
        <p:spPr>
          <a:xfrm>
            <a:off x="208800" y="4288680"/>
            <a:ext cx="656640" cy="810720"/>
          </a:xfrm>
          <a:custGeom>
            <a:avLst/>
            <a:gdLst/>
            <a:ahLst/>
            <a:rect l="0" t="0" r="r" b="b"/>
            <a:pathLst>
              <a:path w="1824" h="2252">
                <a:moveTo>
                  <a:pt x="1823" y="0"/>
                </a:moveTo>
                <a:lnTo>
                  <a:pt x="0" y="2251"/>
                </a:lnTo>
                <a:lnTo>
                  <a:pt x="0" y="1876"/>
                </a:lnTo>
                <a:lnTo>
                  <a:pt x="1520" y="0"/>
                </a:lnTo>
                <a:lnTo>
                  <a:pt x="1823" y="0"/>
                </a:lnTo>
                <a:close/>
              </a:path>
            </a:pathLst>
          </a:custGeom>
          <a:solidFill>
            <a:srgbClr val="5d8bc3"/>
          </a:solidFill>
          <a:ln w="0">
            <a:noFill/>
          </a:ln>
        </p:spPr>
      </p:sp>
      <p:sp>
        <p:nvSpPr>
          <p:cNvPr id="266" name="Freeform 225"/>
          <p:cNvSpPr/>
          <p:nvPr/>
        </p:nvSpPr>
        <p:spPr>
          <a:xfrm>
            <a:off x="208800" y="4288680"/>
            <a:ext cx="547560" cy="675720"/>
          </a:xfrm>
          <a:custGeom>
            <a:avLst/>
            <a:gdLst/>
            <a:ahLst/>
            <a:rect l="0" t="0" r="r" b="b"/>
            <a:pathLst>
              <a:path w="1521" h="1877">
                <a:moveTo>
                  <a:pt x="1520" y="0"/>
                </a:moveTo>
                <a:lnTo>
                  <a:pt x="0" y="1876"/>
                </a:lnTo>
                <a:lnTo>
                  <a:pt x="0" y="1501"/>
                </a:lnTo>
                <a:lnTo>
                  <a:pt x="1216" y="0"/>
                </a:lnTo>
                <a:lnTo>
                  <a:pt x="1520" y="0"/>
                </a:lnTo>
                <a:close/>
              </a:path>
            </a:pathLst>
          </a:custGeom>
          <a:solidFill>
            <a:srgbClr val="5e8cc3"/>
          </a:solidFill>
          <a:ln w="0">
            <a:noFill/>
          </a:ln>
        </p:spPr>
      </p:sp>
      <p:sp>
        <p:nvSpPr>
          <p:cNvPr id="267" name="Freeform 226"/>
          <p:cNvSpPr/>
          <p:nvPr/>
        </p:nvSpPr>
        <p:spPr>
          <a:xfrm>
            <a:off x="208800" y="4288680"/>
            <a:ext cx="438120" cy="540720"/>
          </a:xfrm>
          <a:custGeom>
            <a:avLst/>
            <a:gdLst/>
            <a:ahLst/>
            <a:rect l="0" t="0" r="r" b="b"/>
            <a:pathLst>
              <a:path w="1217" h="1502">
                <a:moveTo>
                  <a:pt x="1216" y="0"/>
                </a:moveTo>
                <a:lnTo>
                  <a:pt x="0" y="1501"/>
                </a:lnTo>
                <a:lnTo>
                  <a:pt x="0" y="1126"/>
                </a:lnTo>
                <a:lnTo>
                  <a:pt x="912" y="0"/>
                </a:lnTo>
                <a:lnTo>
                  <a:pt x="1216" y="0"/>
                </a:lnTo>
                <a:close/>
              </a:path>
            </a:pathLst>
          </a:custGeom>
          <a:solidFill>
            <a:srgbClr val="5e8cc3"/>
          </a:solidFill>
          <a:ln w="0">
            <a:noFill/>
          </a:ln>
        </p:spPr>
      </p:sp>
      <p:sp>
        <p:nvSpPr>
          <p:cNvPr id="268" name="Freeform 227"/>
          <p:cNvSpPr/>
          <p:nvPr/>
        </p:nvSpPr>
        <p:spPr>
          <a:xfrm>
            <a:off x="208800" y="4288680"/>
            <a:ext cx="328680" cy="405720"/>
          </a:xfrm>
          <a:custGeom>
            <a:avLst/>
            <a:gdLst/>
            <a:ahLst/>
            <a:rect l="0" t="0" r="r" b="b"/>
            <a:pathLst>
              <a:path w="913" h="1127">
                <a:moveTo>
                  <a:pt x="912" y="0"/>
                </a:moveTo>
                <a:lnTo>
                  <a:pt x="0" y="1126"/>
                </a:lnTo>
                <a:lnTo>
                  <a:pt x="0" y="750"/>
                </a:lnTo>
                <a:lnTo>
                  <a:pt x="607" y="0"/>
                </a:lnTo>
                <a:lnTo>
                  <a:pt x="912" y="0"/>
                </a:lnTo>
                <a:close/>
              </a:path>
            </a:pathLst>
          </a:custGeom>
          <a:solidFill>
            <a:srgbClr val="5f8cc3"/>
          </a:solidFill>
          <a:ln w="0">
            <a:noFill/>
          </a:ln>
        </p:spPr>
      </p:sp>
      <p:sp>
        <p:nvSpPr>
          <p:cNvPr id="269" name="Freeform 228"/>
          <p:cNvSpPr/>
          <p:nvPr/>
        </p:nvSpPr>
        <p:spPr>
          <a:xfrm>
            <a:off x="208800" y="4288680"/>
            <a:ext cx="219240" cy="270720"/>
          </a:xfrm>
          <a:custGeom>
            <a:avLst/>
            <a:gdLst/>
            <a:ahLst/>
            <a:rect l="0" t="0" r="r" b="b"/>
            <a:pathLst>
              <a:path w="609" h="752">
                <a:moveTo>
                  <a:pt x="608" y="0"/>
                </a:moveTo>
                <a:lnTo>
                  <a:pt x="0" y="751"/>
                </a:lnTo>
                <a:lnTo>
                  <a:pt x="0" y="375"/>
                </a:lnTo>
                <a:lnTo>
                  <a:pt x="304" y="0"/>
                </a:lnTo>
                <a:lnTo>
                  <a:pt x="608" y="0"/>
                </a:lnTo>
                <a:close/>
              </a:path>
            </a:pathLst>
          </a:custGeom>
          <a:solidFill>
            <a:srgbClr val="5f8dc3"/>
          </a:solidFill>
          <a:ln w="0">
            <a:noFill/>
          </a:ln>
        </p:spPr>
      </p:sp>
      <p:sp>
        <p:nvSpPr>
          <p:cNvPr id="270" name="Freeform 229"/>
          <p:cNvSpPr/>
          <p:nvPr/>
        </p:nvSpPr>
        <p:spPr>
          <a:xfrm>
            <a:off x="208800" y="4288680"/>
            <a:ext cx="110160" cy="135720"/>
          </a:xfrm>
          <a:custGeom>
            <a:avLst/>
            <a:gdLst/>
            <a:ahLst/>
            <a:rect l="0" t="0" r="r" b="b"/>
            <a:pathLst>
              <a:path w="306" h="377">
                <a:moveTo>
                  <a:pt x="305" y="0"/>
                </a:moveTo>
                <a:lnTo>
                  <a:pt x="0" y="376"/>
                </a:lnTo>
                <a:lnTo>
                  <a:pt x="0" y="0"/>
                </a:lnTo>
                <a:lnTo>
                  <a:pt x="305" y="0"/>
                </a:lnTo>
                <a:close/>
              </a:path>
            </a:pathLst>
          </a:custGeom>
          <a:solidFill>
            <a:srgbClr val="608dc4"/>
          </a:solidFill>
          <a:ln w="0">
            <a:noFill/>
          </a:ln>
        </p:spPr>
      </p:sp>
      <p:sp>
        <p:nvSpPr>
          <p:cNvPr id="271" name="TextShape 230"/>
          <p:cNvSpPr txBox="1"/>
          <p:nvPr/>
        </p:nvSpPr>
        <p:spPr>
          <a:xfrm>
            <a:off x="8179200" y="303480"/>
            <a:ext cx="15246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100" spc="-1" strike="noStrike">
                <a:solidFill>
                  <a:srgbClr val="000000"/>
                </a:solidFill>
                <a:latin typeface="Meiryo"/>
              </a:rPr>
              <a:t>フィールドサポート部</a:t>
            </a:r>
            <a:endParaRPr b="0" lang="en-US" sz="1100" spc="-1" strike="noStrike">
              <a:latin typeface="Times New Roman"/>
            </a:endParaRPr>
          </a:p>
        </p:txBody>
      </p:sp>
      <p:pic>
        <p:nvPicPr>
          <p:cNvPr id="272" name="" descr=""/>
          <p:cNvPicPr/>
          <p:nvPr/>
        </p:nvPicPr>
        <p:blipFill>
          <a:blip r:embed="rId5"/>
          <a:stretch/>
        </p:blipFill>
        <p:spPr>
          <a:xfrm>
            <a:off x="3877200" y="4404240"/>
            <a:ext cx="3683160" cy="389880"/>
          </a:xfrm>
          <a:prstGeom prst="rect">
            <a:avLst/>
          </a:prstGeom>
          <a:ln w="0">
            <a:noFill/>
          </a:ln>
        </p:spPr>
      </p:pic>
      <p:sp>
        <p:nvSpPr>
          <p:cNvPr id="273" name="TextShape 231"/>
          <p:cNvSpPr txBox="1"/>
          <p:nvPr/>
        </p:nvSpPr>
        <p:spPr>
          <a:xfrm>
            <a:off x="637200" y="4505040"/>
            <a:ext cx="3448080" cy="20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Meiryo UI"/>
              </a:rPr>
              <a:t>2025</a:t>
            </a:r>
            <a:r>
              <a:rPr b="1" lang="zh-CN" sz="1200" spc="-1" strike="noStrike">
                <a:solidFill>
                  <a:srgbClr val="ffffff"/>
                </a:solidFill>
                <a:latin typeface="MeiryoUI"/>
              </a:rPr>
              <a:t>年</a:t>
            </a:r>
            <a:r>
              <a:rPr b="1" lang="en-US" sz="1200" spc="-1" strike="noStrike">
                <a:solidFill>
                  <a:srgbClr val="ffffff"/>
                </a:solidFill>
                <a:latin typeface="Meiryo UI"/>
              </a:rPr>
              <a:t>2</a:t>
            </a:r>
            <a:r>
              <a:rPr b="1" lang="zh-CN" sz="1200" spc="-1" strike="noStrike">
                <a:solidFill>
                  <a:srgbClr val="ffffff"/>
                </a:solidFill>
                <a:latin typeface="MeiryoUI"/>
              </a:rPr>
              <a:t>月</a:t>
            </a:r>
            <a:r>
              <a:rPr b="1" lang="en-US" sz="1200" spc="-1" strike="noStrike">
                <a:solidFill>
                  <a:srgbClr val="ffffff"/>
                </a:solidFill>
                <a:latin typeface="Meiryo UI"/>
              </a:rPr>
              <a:t>17</a:t>
            </a:r>
            <a:r>
              <a:rPr b="1" lang="zh-CN" sz="1200" spc="-1" strike="noStrike">
                <a:solidFill>
                  <a:srgbClr val="ffffff"/>
                </a:solidFill>
                <a:latin typeface="MeiryoUI"/>
              </a:rPr>
              <a:t>日</a:t>
            </a:r>
            <a:r>
              <a:rPr b="1" lang="en-US" sz="1200" spc="-1" strike="noStrike">
                <a:solidFill>
                  <a:srgbClr val="ffffff"/>
                </a:solidFill>
                <a:latin typeface="Meiryo UI"/>
              </a:rPr>
              <a:t> </a:t>
            </a:r>
            <a:r>
              <a:rPr b="1" lang="zh-CN" sz="1200" spc="-1" strike="noStrike">
                <a:solidFill>
                  <a:srgbClr val="ffffff"/>
                </a:solidFill>
                <a:latin typeface="MeiryoUI"/>
              </a:rPr>
              <a:t>フィールドサポート部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74" name="TextShape 232"/>
          <p:cNvSpPr txBox="1"/>
          <p:nvPr/>
        </p:nvSpPr>
        <p:spPr>
          <a:xfrm>
            <a:off x="518040" y="2251440"/>
            <a:ext cx="6858720" cy="79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4800" spc="-1" strike="noStrike">
                <a:solidFill>
                  <a:srgbClr val="01414b"/>
                </a:solidFill>
                <a:latin typeface="MeiryoUI"/>
              </a:rPr>
              <a:t>フィールドサポート部</a:t>
            </a:r>
            <a:endParaRPr b="0" lang="en-US" sz="4800" spc="-1" strike="noStrike">
              <a:latin typeface="Times New Roman"/>
            </a:endParaRPr>
          </a:p>
        </p:txBody>
      </p:sp>
      <p:sp>
        <p:nvSpPr>
          <p:cNvPr id="275" name="Freeform 233"/>
          <p:cNvSpPr/>
          <p:nvPr/>
        </p:nvSpPr>
        <p:spPr>
          <a:xfrm>
            <a:off x="6795360" y="737280"/>
            <a:ext cx="1203120" cy="2324880"/>
          </a:xfrm>
          <a:custGeom>
            <a:avLst/>
            <a:gdLst/>
            <a:ahLst/>
            <a:rect l="0" t="0" r="r" b="b"/>
            <a:pathLst>
              <a:path w="3342" h="6458">
                <a:moveTo>
                  <a:pt x="3341" y="0"/>
                </a:moveTo>
                <a:lnTo>
                  <a:pt x="1269" y="6457"/>
                </a:lnTo>
                <a:lnTo>
                  <a:pt x="0" y="0"/>
                </a:lnTo>
                <a:lnTo>
                  <a:pt x="3341" y="0"/>
                </a:lnTo>
                <a:close/>
              </a:path>
            </a:pathLst>
          </a:custGeom>
          <a:solidFill>
            <a:srgbClr val="618ec4"/>
          </a:solidFill>
          <a:ln w="0">
            <a:noFill/>
          </a:ln>
        </p:spPr>
      </p:sp>
      <p:sp>
        <p:nvSpPr>
          <p:cNvPr id="276" name="TextShape 234"/>
          <p:cNvSpPr txBox="1"/>
          <p:nvPr/>
        </p:nvSpPr>
        <p:spPr>
          <a:xfrm>
            <a:off x="518040" y="3074760"/>
            <a:ext cx="6858720" cy="79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4800" spc="-1" strike="noStrike">
                <a:solidFill>
                  <a:srgbClr val="01414b"/>
                </a:solidFill>
                <a:latin typeface="MeiryoUI"/>
              </a:rPr>
              <a:t>資料改廃・今後の対応</a:t>
            </a:r>
            <a:endParaRPr b="0" lang="en-US" sz="4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Freeform 1"/>
          <p:cNvSpPr/>
          <p:nvPr/>
        </p:nvSpPr>
        <p:spPr>
          <a:xfrm>
            <a:off x="0" y="-360"/>
            <a:ext cx="12192480" cy="6858720"/>
          </a:xfrm>
          <a:custGeom>
            <a:avLst/>
            <a:gdLst/>
            <a:ahLst/>
            <a:rect l="0" t="0" r="r" b="b"/>
            <a:pathLst>
              <a:path w="33868" h="19052">
                <a:moveTo>
                  <a:pt x="0" y="19051"/>
                </a:moveTo>
                <a:lnTo>
                  <a:pt x="33867" y="19051"/>
                </a:lnTo>
                <a:lnTo>
                  <a:pt x="33867" y="0"/>
                </a:lnTo>
                <a:lnTo>
                  <a:pt x="0" y="0"/>
                </a:lnTo>
                <a:lnTo>
                  <a:pt x="0" y="190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pic>
        <p:nvPicPr>
          <p:cNvPr id="278" name="" descr=""/>
          <p:cNvPicPr/>
          <p:nvPr/>
        </p:nvPicPr>
        <p:blipFill>
          <a:blip r:embed="rId1"/>
          <a:stretch/>
        </p:blipFill>
        <p:spPr>
          <a:xfrm>
            <a:off x="175320" y="586800"/>
            <a:ext cx="11841120" cy="209880"/>
          </a:xfrm>
          <a:prstGeom prst="rect">
            <a:avLst/>
          </a:prstGeom>
          <a:ln w="0">
            <a:noFill/>
          </a:ln>
        </p:spPr>
      </p:pic>
      <p:pic>
        <p:nvPicPr>
          <p:cNvPr id="279" name="" descr=""/>
          <p:cNvPicPr/>
          <p:nvPr/>
        </p:nvPicPr>
        <p:blipFill>
          <a:blip r:embed="rId2"/>
          <a:stretch/>
        </p:blipFill>
        <p:spPr>
          <a:xfrm>
            <a:off x="5122080" y="6681240"/>
            <a:ext cx="1947240" cy="115560"/>
          </a:xfrm>
          <a:prstGeom prst="rect">
            <a:avLst/>
          </a:prstGeom>
          <a:ln w="0">
            <a:noFill/>
          </a:ln>
        </p:spPr>
      </p:pic>
      <p:sp>
        <p:nvSpPr>
          <p:cNvPr id="280" name="Freeform 2"/>
          <p:cNvSpPr/>
          <p:nvPr/>
        </p:nvSpPr>
        <p:spPr>
          <a:xfrm>
            <a:off x="151560" y="6209280"/>
            <a:ext cx="1620720" cy="360360"/>
          </a:xfrm>
          <a:custGeom>
            <a:avLst/>
            <a:gdLst/>
            <a:ahLst/>
            <a:rect l="0" t="0" r="r" b="b"/>
            <a:pathLst>
              <a:path w="4502" h="1001">
                <a:moveTo>
                  <a:pt x="0" y="1000"/>
                </a:moveTo>
                <a:lnTo>
                  <a:pt x="4501" y="1000"/>
                </a:lnTo>
                <a:lnTo>
                  <a:pt x="4501" y="0"/>
                </a:lnTo>
                <a:lnTo>
                  <a:pt x="0" y="0"/>
                </a:lnTo>
                <a:lnTo>
                  <a:pt x="0" y="1000"/>
                </a:lnTo>
                <a:close/>
              </a:path>
            </a:pathLst>
          </a:custGeom>
          <a:solidFill>
            <a:srgbClr val="ffffff"/>
          </a:solidFill>
          <a:ln w="31680">
            <a:solidFill>
              <a:srgbClr val="ff0000"/>
            </a:solidFill>
            <a:round/>
          </a:ln>
        </p:spPr>
      </p:sp>
      <p:sp>
        <p:nvSpPr>
          <p:cNvPr id="281" name="TextShape 3"/>
          <p:cNvSpPr txBox="1"/>
          <p:nvPr/>
        </p:nvSpPr>
        <p:spPr>
          <a:xfrm>
            <a:off x="555840" y="627012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ff0000"/>
                </a:solidFill>
                <a:latin typeface="Meiryo"/>
              </a:rPr>
              <a:t>社内限り</a:t>
            </a:r>
            <a:endParaRPr b="0" lang="en-US" sz="1400" spc="-1" strike="noStrike">
              <a:latin typeface="Times New Roman"/>
            </a:endParaRPr>
          </a:p>
        </p:txBody>
      </p:sp>
      <p:pic>
        <p:nvPicPr>
          <p:cNvPr id="282" name="" descr=""/>
          <p:cNvPicPr/>
          <p:nvPr/>
        </p:nvPicPr>
        <p:blipFill>
          <a:blip r:embed="rId3"/>
          <a:stretch/>
        </p:blipFill>
        <p:spPr>
          <a:xfrm>
            <a:off x="11428560" y="149400"/>
            <a:ext cx="411120" cy="432360"/>
          </a:xfrm>
          <a:prstGeom prst="rect">
            <a:avLst/>
          </a:prstGeom>
          <a:ln w="0">
            <a:noFill/>
          </a:ln>
        </p:spPr>
      </p:pic>
      <p:sp>
        <p:nvSpPr>
          <p:cNvPr id="283" name="Freeform 4"/>
          <p:cNvSpPr/>
          <p:nvPr/>
        </p:nvSpPr>
        <p:spPr>
          <a:xfrm>
            <a:off x="9806040" y="204840"/>
            <a:ext cx="1497240" cy="361800"/>
          </a:xfrm>
          <a:custGeom>
            <a:avLst/>
            <a:gdLst/>
            <a:ahLst/>
            <a:rect l="0" t="0" r="r" b="b"/>
            <a:pathLst>
              <a:path w="4159" h="1005">
                <a:moveTo>
                  <a:pt x="0" y="1004"/>
                </a:moveTo>
                <a:lnTo>
                  <a:pt x="4158" y="1004"/>
                </a:lnTo>
                <a:lnTo>
                  <a:pt x="4158" y="0"/>
                </a:lnTo>
                <a:lnTo>
                  <a:pt x="0" y="0"/>
                </a:lnTo>
                <a:lnTo>
                  <a:pt x="0" y="1004"/>
                </a:lnTo>
                <a:close/>
              </a:path>
            </a:pathLst>
          </a:custGeom>
          <a:solidFill>
            <a:srgbClr val="ffffff"/>
          </a:solidFill>
          <a:ln w="18720">
            <a:solidFill>
              <a:srgbClr val="ff0000"/>
            </a:solidFill>
            <a:round/>
          </a:ln>
        </p:spPr>
      </p:sp>
      <p:sp>
        <p:nvSpPr>
          <p:cNvPr id="284" name="TextShape 5"/>
          <p:cNvSpPr txBox="1"/>
          <p:nvPr/>
        </p:nvSpPr>
        <p:spPr>
          <a:xfrm>
            <a:off x="9143280" y="6356520"/>
            <a:ext cx="23598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明日の笑顔を</a:t>
            </a:r>
            <a:r>
              <a:rPr b="0" lang="en-US" sz="1600" spc="-1" strike="noStrike">
                <a:solidFill>
                  <a:srgbClr val="000000"/>
                </a:solidFill>
                <a:latin typeface="UD Digi Kyokasho NPR"/>
              </a:rPr>
              <a:t> </a:t>
            </a:r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共に創る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285" name="TextShape 6"/>
          <p:cNvSpPr txBox="1"/>
          <p:nvPr/>
        </p:nvSpPr>
        <p:spPr>
          <a:xfrm>
            <a:off x="10151280" y="262800"/>
            <a:ext cx="48240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0000"/>
                </a:solidFill>
                <a:latin typeface="Meiryo"/>
              </a:rPr>
              <a:t>秘</a:t>
            </a:r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（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286" name="TextShape 7"/>
          <p:cNvSpPr txBox="1"/>
          <p:nvPr/>
        </p:nvSpPr>
        <p:spPr>
          <a:xfrm>
            <a:off x="10671120" y="391320"/>
            <a:ext cx="10188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700" spc="-1" strike="noStrike">
                <a:solidFill>
                  <a:srgbClr val="ff0000"/>
                </a:solidFill>
                <a:latin typeface="Meiryo"/>
              </a:rPr>
              <a:t> </a:t>
            </a:r>
            <a:endParaRPr b="0" lang="en-US" sz="700" spc="-1" strike="noStrike">
              <a:latin typeface="Times New Roman"/>
            </a:endParaRPr>
          </a:p>
        </p:txBody>
      </p:sp>
      <p:sp>
        <p:nvSpPr>
          <p:cNvPr id="287" name="TextShape 8"/>
          <p:cNvSpPr txBox="1"/>
          <p:nvPr/>
        </p:nvSpPr>
        <p:spPr>
          <a:xfrm>
            <a:off x="10707480" y="249840"/>
            <a:ext cx="2541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0000"/>
                </a:solidFill>
                <a:latin typeface="Meiryo"/>
              </a:rPr>
              <a:t>B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288" name="TextShape 9"/>
          <p:cNvSpPr txBox="1"/>
          <p:nvPr/>
        </p:nvSpPr>
        <p:spPr>
          <a:xfrm>
            <a:off x="10925640" y="262800"/>
            <a:ext cx="24156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）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289" name="TextShape 10"/>
          <p:cNvSpPr txBox="1"/>
          <p:nvPr/>
        </p:nvSpPr>
        <p:spPr>
          <a:xfrm>
            <a:off x="8179200" y="303480"/>
            <a:ext cx="15246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100" spc="-1" strike="noStrike">
                <a:solidFill>
                  <a:srgbClr val="000000"/>
                </a:solidFill>
                <a:latin typeface="Meiryo"/>
              </a:rPr>
              <a:t>フィールドサポート部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290" name="Freeform 11"/>
          <p:cNvSpPr/>
          <p:nvPr/>
        </p:nvSpPr>
        <p:spPr>
          <a:xfrm>
            <a:off x="216360" y="760320"/>
            <a:ext cx="1800360" cy="1800720"/>
          </a:xfrm>
          <a:custGeom>
            <a:avLst/>
            <a:gdLst/>
            <a:ahLst/>
            <a:rect l="0" t="0" r="r" b="b"/>
            <a:pathLst>
              <a:path w="5001" h="5002">
                <a:moveTo>
                  <a:pt x="0" y="2501"/>
                </a:moveTo>
                <a:cubicBezTo>
                  <a:pt x="0" y="1120"/>
                  <a:pt x="1119" y="0"/>
                  <a:pt x="2500" y="0"/>
                </a:cubicBezTo>
                <a:cubicBezTo>
                  <a:pt x="3881" y="0"/>
                  <a:pt x="5000" y="1120"/>
                  <a:pt x="5000" y="2501"/>
                </a:cubicBezTo>
                <a:cubicBezTo>
                  <a:pt x="5000" y="3881"/>
                  <a:pt x="3881" y="5001"/>
                  <a:pt x="2500" y="5001"/>
                </a:cubicBezTo>
                <a:cubicBezTo>
                  <a:pt x="1119" y="5001"/>
                  <a:pt x="0" y="3881"/>
                  <a:pt x="0" y="2501"/>
                </a:cubicBezTo>
                <a:close/>
              </a:path>
            </a:pathLst>
          </a:custGeom>
          <a:solidFill>
            <a:srgbClr val="4f81bd"/>
          </a:solidFill>
          <a:ln w="0">
            <a:noFill/>
          </a:ln>
        </p:spPr>
      </p:sp>
      <p:sp>
        <p:nvSpPr>
          <p:cNvPr id="291" name="TextShape 12"/>
          <p:cNvSpPr txBox="1"/>
          <p:nvPr/>
        </p:nvSpPr>
        <p:spPr>
          <a:xfrm>
            <a:off x="183600" y="160560"/>
            <a:ext cx="162828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発表内容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292" name="Line 13"/>
          <p:cNvSpPr/>
          <p:nvPr/>
        </p:nvSpPr>
        <p:spPr>
          <a:xfrm flipH="1">
            <a:off x="465480" y="1878120"/>
            <a:ext cx="4558680" cy="0"/>
          </a:xfrm>
          <a:prstGeom prst="line">
            <a:avLst/>
          </a:prstGeom>
          <a:ln cap="sq" w="219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TextShape 14"/>
          <p:cNvSpPr txBox="1"/>
          <p:nvPr/>
        </p:nvSpPr>
        <p:spPr>
          <a:xfrm>
            <a:off x="426960" y="1305000"/>
            <a:ext cx="3057840" cy="59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Meiryo UI"/>
              </a:rPr>
              <a:t>CONT</a:t>
            </a:r>
            <a:r>
              <a:rPr b="1" lang="en-US" sz="3600" spc="-1" strike="noStrike">
                <a:solidFill>
                  <a:srgbClr val="000000"/>
                </a:solidFill>
                <a:latin typeface="Meiryo UI"/>
              </a:rPr>
              <a:t>ENTS</a:t>
            </a:r>
            <a:endParaRPr b="0" lang="en-US" sz="3600" spc="-1" strike="noStrike">
              <a:latin typeface="Times New Roman"/>
            </a:endParaRPr>
          </a:p>
        </p:txBody>
      </p:sp>
      <p:sp>
        <p:nvSpPr>
          <p:cNvPr id="294" name="Freeform 15"/>
          <p:cNvSpPr/>
          <p:nvPr/>
        </p:nvSpPr>
        <p:spPr>
          <a:xfrm>
            <a:off x="2778120" y="2576880"/>
            <a:ext cx="4857840" cy="26640"/>
          </a:xfrm>
          <a:custGeom>
            <a:avLst/>
            <a:gdLst/>
            <a:ahLst/>
            <a:rect l="0" t="0" r="r" b="b"/>
            <a:pathLst>
              <a:path w="13494" h="74">
                <a:moveTo>
                  <a:pt x="0" y="0"/>
                </a:moveTo>
                <a:lnTo>
                  <a:pt x="4497" y="0"/>
                </a:lnTo>
                <a:lnTo>
                  <a:pt x="8995" y="0"/>
                </a:lnTo>
                <a:lnTo>
                  <a:pt x="13493" y="0"/>
                </a:lnTo>
                <a:lnTo>
                  <a:pt x="13493" y="73"/>
                </a:lnTo>
                <a:lnTo>
                  <a:pt x="8995" y="73"/>
                </a:lnTo>
                <a:lnTo>
                  <a:pt x="4497" y="73"/>
                </a:lnTo>
                <a:lnTo>
                  <a:pt x="0" y="73"/>
                </a:lnTo>
                <a:lnTo>
                  <a:pt x="0" y="0"/>
                </a:lnTo>
                <a:close/>
              </a:path>
            </a:pathLst>
          </a:custGeom>
          <a:solidFill>
            <a:srgbClr val="01414b"/>
          </a:solidFill>
          <a:ln w="0">
            <a:noFill/>
          </a:ln>
        </p:spPr>
      </p:sp>
      <p:sp>
        <p:nvSpPr>
          <p:cNvPr id="295" name="TextShape 16"/>
          <p:cNvSpPr txBox="1"/>
          <p:nvPr/>
        </p:nvSpPr>
        <p:spPr>
          <a:xfrm>
            <a:off x="2778840" y="2056320"/>
            <a:ext cx="5091840" cy="59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3600" spc="-1" strike="noStrike">
                <a:solidFill>
                  <a:srgbClr val="01414b"/>
                </a:solidFill>
                <a:latin typeface="Meiryo UI"/>
              </a:rPr>
              <a:t>1.FS</a:t>
            </a:r>
            <a:r>
              <a:rPr b="1" lang="zh-CN" sz="3600" spc="-1" strike="noStrike">
                <a:solidFill>
                  <a:srgbClr val="01414b"/>
                </a:solidFill>
                <a:latin typeface="MeiryoUI"/>
              </a:rPr>
              <a:t>部</a:t>
            </a:r>
            <a:r>
              <a:rPr b="1" lang="en-US" sz="3600" spc="-1" strike="noStrike">
                <a:solidFill>
                  <a:srgbClr val="01414b"/>
                </a:solidFill>
                <a:latin typeface="Meiryo UI"/>
              </a:rPr>
              <a:t> </a:t>
            </a:r>
            <a:r>
              <a:rPr b="1" lang="zh-CN" sz="3600" spc="-1" strike="noStrike">
                <a:solidFill>
                  <a:srgbClr val="01414b"/>
                </a:solidFill>
                <a:latin typeface="MeiryoUI"/>
              </a:rPr>
              <a:t>業務の移管先</a:t>
            </a:r>
            <a:endParaRPr b="0" lang="en-US" sz="3600" spc="-1" strike="noStrike">
              <a:latin typeface="Times New Roman"/>
            </a:endParaRPr>
          </a:p>
        </p:txBody>
      </p:sp>
      <p:sp>
        <p:nvSpPr>
          <p:cNvPr id="296" name="Freeform 17"/>
          <p:cNvSpPr/>
          <p:nvPr/>
        </p:nvSpPr>
        <p:spPr>
          <a:xfrm>
            <a:off x="2778120" y="3248280"/>
            <a:ext cx="4031640" cy="26640"/>
          </a:xfrm>
          <a:custGeom>
            <a:avLst/>
            <a:gdLst/>
            <a:ahLst/>
            <a:rect l="0" t="0" r="r" b="b"/>
            <a:pathLst>
              <a:path w="11199" h="74">
                <a:moveTo>
                  <a:pt x="0" y="0"/>
                </a:moveTo>
                <a:lnTo>
                  <a:pt x="3733" y="0"/>
                </a:lnTo>
                <a:lnTo>
                  <a:pt x="7465" y="0"/>
                </a:lnTo>
                <a:lnTo>
                  <a:pt x="11198" y="0"/>
                </a:lnTo>
                <a:lnTo>
                  <a:pt x="11198" y="73"/>
                </a:lnTo>
                <a:lnTo>
                  <a:pt x="7465" y="73"/>
                </a:lnTo>
                <a:lnTo>
                  <a:pt x="3733" y="73"/>
                </a:lnTo>
                <a:lnTo>
                  <a:pt x="0" y="73"/>
                </a:lnTo>
                <a:lnTo>
                  <a:pt x="0" y="0"/>
                </a:lnTo>
                <a:close/>
              </a:path>
            </a:pathLst>
          </a:custGeom>
          <a:solidFill>
            <a:srgbClr val="01414b"/>
          </a:solidFill>
          <a:ln w="0">
            <a:noFill/>
          </a:ln>
        </p:spPr>
      </p:sp>
      <p:sp>
        <p:nvSpPr>
          <p:cNvPr id="297" name="TextShape 18"/>
          <p:cNvSpPr txBox="1"/>
          <p:nvPr/>
        </p:nvSpPr>
        <p:spPr>
          <a:xfrm>
            <a:off x="2778840" y="2727720"/>
            <a:ext cx="4218480" cy="59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3600" spc="-1" strike="noStrike">
                <a:solidFill>
                  <a:srgbClr val="01414b"/>
                </a:solidFill>
                <a:latin typeface="Meiryo UI"/>
              </a:rPr>
              <a:t>2.</a:t>
            </a:r>
            <a:r>
              <a:rPr b="1" lang="zh-CN" sz="3600" spc="-1" strike="noStrike">
                <a:solidFill>
                  <a:srgbClr val="01414b"/>
                </a:solidFill>
                <a:latin typeface="MeiryoUI"/>
              </a:rPr>
              <a:t>資料改廃の内容</a:t>
            </a:r>
            <a:endParaRPr b="0" lang="en-US" sz="3600" spc="-1" strike="noStrike">
              <a:latin typeface="Times New Roman"/>
            </a:endParaRPr>
          </a:p>
        </p:txBody>
      </p:sp>
      <p:sp>
        <p:nvSpPr>
          <p:cNvPr id="298" name="Freeform 19"/>
          <p:cNvSpPr/>
          <p:nvPr/>
        </p:nvSpPr>
        <p:spPr>
          <a:xfrm>
            <a:off x="2778120" y="3933000"/>
            <a:ext cx="7241400" cy="26640"/>
          </a:xfrm>
          <a:custGeom>
            <a:avLst/>
            <a:gdLst/>
            <a:ahLst/>
            <a:rect l="0" t="0" r="r" b="b"/>
            <a:pathLst>
              <a:path w="20115" h="74">
                <a:moveTo>
                  <a:pt x="0" y="0"/>
                </a:moveTo>
                <a:lnTo>
                  <a:pt x="5029" y="0"/>
                </a:lnTo>
                <a:lnTo>
                  <a:pt x="10058" y="0"/>
                </a:lnTo>
                <a:lnTo>
                  <a:pt x="15086" y="0"/>
                </a:lnTo>
                <a:lnTo>
                  <a:pt x="20114" y="0"/>
                </a:lnTo>
                <a:lnTo>
                  <a:pt x="20114" y="73"/>
                </a:lnTo>
                <a:lnTo>
                  <a:pt x="15086" y="73"/>
                </a:lnTo>
                <a:lnTo>
                  <a:pt x="10058" y="73"/>
                </a:lnTo>
                <a:lnTo>
                  <a:pt x="5029" y="73"/>
                </a:lnTo>
                <a:lnTo>
                  <a:pt x="0" y="73"/>
                </a:lnTo>
                <a:lnTo>
                  <a:pt x="0" y="0"/>
                </a:lnTo>
                <a:close/>
              </a:path>
            </a:pathLst>
          </a:custGeom>
          <a:solidFill>
            <a:srgbClr val="01414b"/>
          </a:solidFill>
          <a:ln w="0">
            <a:noFill/>
          </a:ln>
        </p:spPr>
      </p:sp>
      <p:sp>
        <p:nvSpPr>
          <p:cNvPr id="299" name="TextShape 20"/>
          <p:cNvSpPr txBox="1"/>
          <p:nvPr/>
        </p:nvSpPr>
        <p:spPr>
          <a:xfrm>
            <a:off x="2778840" y="3412800"/>
            <a:ext cx="8785800" cy="59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3600" spc="-1" strike="noStrike">
                <a:solidFill>
                  <a:srgbClr val="01414b"/>
                </a:solidFill>
                <a:latin typeface="Meiryo UI"/>
              </a:rPr>
              <a:t>3.</a:t>
            </a:r>
            <a:r>
              <a:rPr b="1" lang="zh-CN" sz="3600" spc="-1" strike="noStrike">
                <a:solidFill>
                  <a:srgbClr val="01414b"/>
                </a:solidFill>
                <a:latin typeface="MeiryoUI"/>
              </a:rPr>
              <a:t>パスワード・格納場所・ファイル名</a:t>
            </a:r>
            <a:endParaRPr b="0" lang="en-US" sz="3600" spc="-1" strike="noStrike">
              <a:latin typeface="Times New Roman"/>
            </a:endParaRPr>
          </a:p>
        </p:txBody>
      </p:sp>
      <p:sp>
        <p:nvSpPr>
          <p:cNvPr id="300" name="Freeform 21"/>
          <p:cNvSpPr/>
          <p:nvPr/>
        </p:nvSpPr>
        <p:spPr>
          <a:xfrm>
            <a:off x="2778120" y="5179320"/>
            <a:ext cx="4484520" cy="26640"/>
          </a:xfrm>
          <a:custGeom>
            <a:avLst/>
            <a:gdLst/>
            <a:ahLst/>
            <a:rect l="0" t="0" r="r" b="b"/>
            <a:pathLst>
              <a:path w="12457" h="74">
                <a:moveTo>
                  <a:pt x="0" y="0"/>
                </a:moveTo>
                <a:lnTo>
                  <a:pt x="4152" y="0"/>
                </a:lnTo>
                <a:lnTo>
                  <a:pt x="8303" y="0"/>
                </a:lnTo>
                <a:lnTo>
                  <a:pt x="12456" y="0"/>
                </a:lnTo>
                <a:lnTo>
                  <a:pt x="12456" y="73"/>
                </a:lnTo>
                <a:lnTo>
                  <a:pt x="8303" y="73"/>
                </a:lnTo>
                <a:lnTo>
                  <a:pt x="4152" y="73"/>
                </a:lnTo>
                <a:lnTo>
                  <a:pt x="0" y="73"/>
                </a:lnTo>
                <a:lnTo>
                  <a:pt x="0" y="0"/>
                </a:lnTo>
                <a:close/>
              </a:path>
            </a:pathLst>
          </a:custGeom>
          <a:solidFill>
            <a:srgbClr val="01414b"/>
          </a:solidFill>
          <a:ln w="0">
            <a:noFill/>
          </a:ln>
        </p:spPr>
      </p:sp>
      <p:sp>
        <p:nvSpPr>
          <p:cNvPr id="301" name="TextShape 22"/>
          <p:cNvSpPr txBox="1"/>
          <p:nvPr/>
        </p:nvSpPr>
        <p:spPr>
          <a:xfrm>
            <a:off x="2778840" y="4659120"/>
            <a:ext cx="5233320" cy="59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3600" spc="-1" strike="noStrike">
                <a:solidFill>
                  <a:srgbClr val="01414b"/>
                </a:solidFill>
                <a:latin typeface="Meiryo UI"/>
              </a:rPr>
              <a:t>5.</a:t>
            </a:r>
            <a:r>
              <a:rPr b="1" lang="zh-CN" sz="3600" spc="-1" strike="noStrike">
                <a:solidFill>
                  <a:srgbClr val="01414b"/>
                </a:solidFill>
                <a:latin typeface="MeiryoUI"/>
              </a:rPr>
              <a:t>今後のスケジュール</a:t>
            </a:r>
            <a:endParaRPr b="0" lang="en-US" sz="3600" spc="-1" strike="noStrike">
              <a:latin typeface="Times New Roman"/>
            </a:endParaRPr>
          </a:p>
        </p:txBody>
      </p:sp>
      <p:sp>
        <p:nvSpPr>
          <p:cNvPr id="302" name="Freeform 23"/>
          <p:cNvSpPr/>
          <p:nvPr/>
        </p:nvSpPr>
        <p:spPr>
          <a:xfrm>
            <a:off x="2775240" y="4561560"/>
            <a:ext cx="6054120" cy="26640"/>
          </a:xfrm>
          <a:custGeom>
            <a:avLst/>
            <a:gdLst/>
            <a:ahLst/>
            <a:rect l="0" t="0" r="r" b="b"/>
            <a:pathLst>
              <a:path w="16817" h="74">
                <a:moveTo>
                  <a:pt x="0" y="0"/>
                </a:moveTo>
                <a:lnTo>
                  <a:pt x="4204" y="0"/>
                </a:lnTo>
                <a:lnTo>
                  <a:pt x="8408" y="0"/>
                </a:lnTo>
                <a:lnTo>
                  <a:pt x="12612" y="0"/>
                </a:lnTo>
                <a:lnTo>
                  <a:pt x="16816" y="0"/>
                </a:lnTo>
                <a:lnTo>
                  <a:pt x="16816" y="73"/>
                </a:lnTo>
                <a:lnTo>
                  <a:pt x="12612" y="73"/>
                </a:lnTo>
                <a:lnTo>
                  <a:pt x="8408" y="73"/>
                </a:lnTo>
                <a:lnTo>
                  <a:pt x="4204" y="73"/>
                </a:lnTo>
                <a:lnTo>
                  <a:pt x="0" y="73"/>
                </a:lnTo>
                <a:lnTo>
                  <a:pt x="0" y="0"/>
                </a:lnTo>
                <a:close/>
              </a:path>
            </a:pathLst>
          </a:custGeom>
          <a:solidFill>
            <a:srgbClr val="01414b"/>
          </a:solidFill>
          <a:ln w="0">
            <a:noFill/>
          </a:ln>
        </p:spPr>
      </p:sp>
      <p:sp>
        <p:nvSpPr>
          <p:cNvPr id="303" name="TextShape 24"/>
          <p:cNvSpPr txBox="1"/>
          <p:nvPr/>
        </p:nvSpPr>
        <p:spPr>
          <a:xfrm>
            <a:off x="2775960" y="4041720"/>
            <a:ext cx="6452640" cy="59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3600" spc="-1" strike="noStrike">
                <a:solidFill>
                  <a:srgbClr val="01414b"/>
                </a:solidFill>
                <a:latin typeface="Meiryo UI"/>
              </a:rPr>
              <a:t>4.TS</a:t>
            </a:r>
            <a:r>
              <a:rPr b="1" lang="zh-CN" sz="3600" spc="-1" strike="noStrike">
                <a:solidFill>
                  <a:srgbClr val="01414b"/>
                </a:solidFill>
                <a:latin typeface="MeiryoUI"/>
              </a:rPr>
              <a:t>配信、個別対応の中止</a:t>
            </a:r>
            <a:endParaRPr b="0" lang="en-US" sz="36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Freeform 1"/>
          <p:cNvSpPr/>
          <p:nvPr/>
        </p:nvSpPr>
        <p:spPr>
          <a:xfrm>
            <a:off x="0" y="-360"/>
            <a:ext cx="12192480" cy="6858720"/>
          </a:xfrm>
          <a:custGeom>
            <a:avLst/>
            <a:gdLst/>
            <a:ahLst/>
            <a:rect l="0" t="0" r="r" b="b"/>
            <a:pathLst>
              <a:path w="33868" h="19052">
                <a:moveTo>
                  <a:pt x="0" y="19051"/>
                </a:moveTo>
                <a:lnTo>
                  <a:pt x="33867" y="19051"/>
                </a:lnTo>
                <a:lnTo>
                  <a:pt x="33867" y="0"/>
                </a:lnTo>
                <a:lnTo>
                  <a:pt x="0" y="0"/>
                </a:lnTo>
                <a:lnTo>
                  <a:pt x="0" y="190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pic>
        <p:nvPicPr>
          <p:cNvPr id="305" name="" descr=""/>
          <p:cNvPicPr/>
          <p:nvPr/>
        </p:nvPicPr>
        <p:blipFill>
          <a:blip r:embed="rId1"/>
          <a:stretch/>
        </p:blipFill>
        <p:spPr>
          <a:xfrm>
            <a:off x="175320" y="586800"/>
            <a:ext cx="11841120" cy="209880"/>
          </a:xfrm>
          <a:prstGeom prst="rect">
            <a:avLst/>
          </a:prstGeom>
          <a:ln w="0">
            <a:noFill/>
          </a:ln>
        </p:spPr>
      </p:pic>
      <p:pic>
        <p:nvPicPr>
          <p:cNvPr id="306" name="" descr=""/>
          <p:cNvPicPr/>
          <p:nvPr/>
        </p:nvPicPr>
        <p:blipFill>
          <a:blip r:embed="rId2"/>
          <a:stretch/>
        </p:blipFill>
        <p:spPr>
          <a:xfrm>
            <a:off x="5122080" y="6681240"/>
            <a:ext cx="1947240" cy="115560"/>
          </a:xfrm>
          <a:prstGeom prst="rect">
            <a:avLst/>
          </a:prstGeom>
          <a:ln w="0">
            <a:noFill/>
          </a:ln>
        </p:spPr>
      </p:pic>
      <p:sp>
        <p:nvSpPr>
          <p:cNvPr id="307" name="Freeform 2"/>
          <p:cNvSpPr/>
          <p:nvPr/>
        </p:nvSpPr>
        <p:spPr>
          <a:xfrm>
            <a:off x="151560" y="6209280"/>
            <a:ext cx="1620720" cy="360360"/>
          </a:xfrm>
          <a:custGeom>
            <a:avLst/>
            <a:gdLst/>
            <a:ahLst/>
            <a:rect l="0" t="0" r="r" b="b"/>
            <a:pathLst>
              <a:path w="4502" h="1001">
                <a:moveTo>
                  <a:pt x="0" y="1000"/>
                </a:moveTo>
                <a:lnTo>
                  <a:pt x="4501" y="1000"/>
                </a:lnTo>
                <a:lnTo>
                  <a:pt x="4501" y="0"/>
                </a:lnTo>
                <a:lnTo>
                  <a:pt x="0" y="0"/>
                </a:lnTo>
                <a:lnTo>
                  <a:pt x="0" y="1000"/>
                </a:lnTo>
                <a:close/>
              </a:path>
            </a:pathLst>
          </a:custGeom>
          <a:solidFill>
            <a:srgbClr val="ffffff"/>
          </a:solidFill>
          <a:ln w="31680">
            <a:solidFill>
              <a:srgbClr val="ff0000"/>
            </a:solidFill>
            <a:round/>
          </a:ln>
        </p:spPr>
      </p:sp>
      <p:sp>
        <p:nvSpPr>
          <p:cNvPr id="308" name="TextShape 3"/>
          <p:cNvSpPr txBox="1"/>
          <p:nvPr/>
        </p:nvSpPr>
        <p:spPr>
          <a:xfrm>
            <a:off x="555840" y="627012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ff0000"/>
                </a:solidFill>
                <a:latin typeface="Meiryo"/>
              </a:rPr>
              <a:t>社内限り</a:t>
            </a:r>
            <a:endParaRPr b="0" lang="en-US" sz="1400" spc="-1" strike="noStrike">
              <a:latin typeface="Times New Roman"/>
            </a:endParaRPr>
          </a:p>
        </p:txBody>
      </p:sp>
      <p:pic>
        <p:nvPicPr>
          <p:cNvPr id="309" name="" descr=""/>
          <p:cNvPicPr/>
          <p:nvPr/>
        </p:nvPicPr>
        <p:blipFill>
          <a:blip r:embed="rId3"/>
          <a:stretch/>
        </p:blipFill>
        <p:spPr>
          <a:xfrm>
            <a:off x="11428560" y="149400"/>
            <a:ext cx="411120" cy="432360"/>
          </a:xfrm>
          <a:prstGeom prst="rect">
            <a:avLst/>
          </a:prstGeom>
          <a:ln w="0">
            <a:noFill/>
          </a:ln>
        </p:spPr>
      </p:pic>
      <p:sp>
        <p:nvSpPr>
          <p:cNvPr id="310" name="Freeform 4"/>
          <p:cNvSpPr/>
          <p:nvPr/>
        </p:nvSpPr>
        <p:spPr>
          <a:xfrm>
            <a:off x="9806040" y="204840"/>
            <a:ext cx="1497240" cy="361800"/>
          </a:xfrm>
          <a:custGeom>
            <a:avLst/>
            <a:gdLst/>
            <a:ahLst/>
            <a:rect l="0" t="0" r="r" b="b"/>
            <a:pathLst>
              <a:path w="4159" h="1005">
                <a:moveTo>
                  <a:pt x="0" y="1004"/>
                </a:moveTo>
                <a:lnTo>
                  <a:pt x="4158" y="1004"/>
                </a:lnTo>
                <a:lnTo>
                  <a:pt x="4158" y="0"/>
                </a:lnTo>
                <a:lnTo>
                  <a:pt x="0" y="0"/>
                </a:lnTo>
                <a:lnTo>
                  <a:pt x="0" y="1004"/>
                </a:lnTo>
                <a:close/>
              </a:path>
            </a:pathLst>
          </a:custGeom>
          <a:solidFill>
            <a:srgbClr val="ffffff"/>
          </a:solidFill>
          <a:ln w="18720">
            <a:solidFill>
              <a:srgbClr val="ff0000"/>
            </a:solidFill>
            <a:round/>
          </a:ln>
        </p:spPr>
      </p:sp>
      <p:sp>
        <p:nvSpPr>
          <p:cNvPr id="311" name="TextShape 5"/>
          <p:cNvSpPr txBox="1"/>
          <p:nvPr/>
        </p:nvSpPr>
        <p:spPr>
          <a:xfrm>
            <a:off x="9143280" y="6356520"/>
            <a:ext cx="23598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明日の笑顔を</a:t>
            </a:r>
            <a:r>
              <a:rPr b="0" lang="en-US" sz="1600" spc="-1" strike="noStrike">
                <a:solidFill>
                  <a:srgbClr val="000000"/>
                </a:solidFill>
                <a:latin typeface="UD Digi Kyokasho NPR"/>
              </a:rPr>
              <a:t> </a:t>
            </a:r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共に創る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312" name="TextShape 6"/>
          <p:cNvSpPr txBox="1"/>
          <p:nvPr/>
        </p:nvSpPr>
        <p:spPr>
          <a:xfrm>
            <a:off x="10151280" y="262800"/>
            <a:ext cx="48240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0000"/>
                </a:solidFill>
                <a:latin typeface="Meiryo"/>
              </a:rPr>
              <a:t>秘</a:t>
            </a:r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（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313" name="TextShape 7"/>
          <p:cNvSpPr txBox="1"/>
          <p:nvPr/>
        </p:nvSpPr>
        <p:spPr>
          <a:xfrm>
            <a:off x="10671120" y="391320"/>
            <a:ext cx="10188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700" spc="-1" strike="noStrike">
                <a:solidFill>
                  <a:srgbClr val="ff0000"/>
                </a:solidFill>
                <a:latin typeface="Meiryo"/>
              </a:rPr>
              <a:t> </a:t>
            </a:r>
            <a:endParaRPr b="0" lang="en-US" sz="700" spc="-1" strike="noStrike">
              <a:latin typeface="Times New Roman"/>
            </a:endParaRPr>
          </a:p>
        </p:txBody>
      </p:sp>
      <p:sp>
        <p:nvSpPr>
          <p:cNvPr id="314" name="TextShape 8"/>
          <p:cNvSpPr txBox="1"/>
          <p:nvPr/>
        </p:nvSpPr>
        <p:spPr>
          <a:xfrm>
            <a:off x="10707480" y="249840"/>
            <a:ext cx="2541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0000"/>
                </a:solidFill>
                <a:latin typeface="Meiryo"/>
              </a:rPr>
              <a:t>B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315" name="TextShape 9"/>
          <p:cNvSpPr txBox="1"/>
          <p:nvPr/>
        </p:nvSpPr>
        <p:spPr>
          <a:xfrm>
            <a:off x="10925640" y="262800"/>
            <a:ext cx="24156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）</a:t>
            </a:r>
            <a:endParaRPr b="0" lang="en-US" sz="1600" spc="-1" strike="noStrike">
              <a:latin typeface="Times New Roman"/>
            </a:endParaRPr>
          </a:p>
        </p:txBody>
      </p:sp>
      <p:pic>
        <p:nvPicPr>
          <p:cNvPr id="316" name="" descr=""/>
          <p:cNvPicPr/>
          <p:nvPr/>
        </p:nvPicPr>
        <p:blipFill>
          <a:blip r:embed="rId4"/>
          <a:stretch/>
        </p:blipFill>
        <p:spPr>
          <a:xfrm>
            <a:off x="1615320" y="758880"/>
            <a:ext cx="1130400" cy="1176120"/>
          </a:xfrm>
          <a:prstGeom prst="rect">
            <a:avLst/>
          </a:prstGeom>
          <a:ln w="0">
            <a:noFill/>
          </a:ln>
        </p:spPr>
      </p:pic>
      <p:sp>
        <p:nvSpPr>
          <p:cNvPr id="317" name="Freeform 10"/>
          <p:cNvSpPr/>
          <p:nvPr/>
        </p:nvSpPr>
        <p:spPr>
          <a:xfrm>
            <a:off x="4730400" y="2383200"/>
            <a:ext cx="7198560" cy="2393640"/>
          </a:xfrm>
          <a:custGeom>
            <a:avLst/>
            <a:gdLst/>
            <a:ahLst/>
            <a:rect l="0" t="0" r="r" b="b"/>
            <a:pathLst>
              <a:path w="19996" h="6649">
                <a:moveTo>
                  <a:pt x="0" y="6648"/>
                </a:moveTo>
                <a:lnTo>
                  <a:pt x="19995" y="6648"/>
                </a:lnTo>
                <a:lnTo>
                  <a:pt x="19995" y="0"/>
                </a:lnTo>
                <a:lnTo>
                  <a:pt x="0" y="0"/>
                </a:lnTo>
                <a:lnTo>
                  <a:pt x="0" y="6648"/>
                </a:lnTo>
                <a:close/>
              </a:path>
            </a:pathLst>
          </a:custGeom>
          <a:solidFill>
            <a:srgbClr val="ebf1de">
              <a:alpha val="70000"/>
            </a:srgbClr>
          </a:solidFill>
          <a:ln w="0">
            <a:noFill/>
          </a:ln>
        </p:spPr>
      </p:sp>
      <p:sp>
        <p:nvSpPr>
          <p:cNvPr id="318" name="TextShape 11"/>
          <p:cNvSpPr txBox="1"/>
          <p:nvPr/>
        </p:nvSpPr>
        <p:spPr>
          <a:xfrm>
            <a:off x="8179200" y="303480"/>
            <a:ext cx="15246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100" spc="-1" strike="noStrike">
                <a:solidFill>
                  <a:srgbClr val="000000"/>
                </a:solidFill>
                <a:latin typeface="Meiryo"/>
              </a:rPr>
              <a:t>フィールドサポート部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319" name="Freeform 12"/>
          <p:cNvSpPr/>
          <p:nvPr/>
        </p:nvSpPr>
        <p:spPr>
          <a:xfrm>
            <a:off x="4730400" y="4897800"/>
            <a:ext cx="7198560" cy="1198800"/>
          </a:xfrm>
          <a:custGeom>
            <a:avLst/>
            <a:gdLst/>
            <a:ahLst/>
            <a:rect l="0" t="0" r="r" b="b"/>
            <a:pathLst>
              <a:path w="19996" h="3330">
                <a:moveTo>
                  <a:pt x="0" y="3329"/>
                </a:moveTo>
                <a:lnTo>
                  <a:pt x="19995" y="3329"/>
                </a:lnTo>
                <a:lnTo>
                  <a:pt x="19995" y="0"/>
                </a:lnTo>
                <a:lnTo>
                  <a:pt x="0" y="0"/>
                </a:lnTo>
                <a:lnTo>
                  <a:pt x="0" y="3329"/>
                </a:lnTo>
                <a:close/>
              </a:path>
            </a:pathLst>
          </a:custGeom>
          <a:solidFill>
            <a:srgbClr val="ffffcc">
              <a:alpha val="70000"/>
            </a:srgbClr>
          </a:solidFill>
          <a:ln w="0">
            <a:noFill/>
          </a:ln>
        </p:spPr>
      </p:sp>
      <p:sp>
        <p:nvSpPr>
          <p:cNvPr id="320" name="TextShape 13"/>
          <p:cNvSpPr txBox="1"/>
          <p:nvPr/>
        </p:nvSpPr>
        <p:spPr>
          <a:xfrm>
            <a:off x="5088600" y="2460240"/>
            <a:ext cx="78181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000000"/>
                </a:solidFill>
                <a:latin typeface="MeiryoUI"/>
              </a:rPr>
              <a:t>オペレーションサポート部：</a:t>
            </a:r>
            <a:r>
              <a:rPr b="1" lang="en-US" sz="2800" spc="-1" strike="noStrike">
                <a:solidFill>
                  <a:srgbClr val="000000"/>
                </a:solidFill>
                <a:latin typeface="Meiryo UI"/>
              </a:rPr>
              <a:t>OP</a:t>
            </a:r>
            <a:r>
              <a:rPr b="1" lang="zh-CN" sz="2800" spc="-1" strike="noStrike">
                <a:solidFill>
                  <a:srgbClr val="000000"/>
                </a:solidFill>
                <a:latin typeface="MeiryoUI"/>
              </a:rPr>
              <a:t>情報</a:t>
            </a:r>
            <a:r>
              <a:rPr b="1" lang="en-US" sz="2800" spc="-1" strike="noStrike">
                <a:solidFill>
                  <a:srgbClr val="000000"/>
                </a:solidFill>
                <a:latin typeface="Meiryo UI"/>
              </a:rPr>
              <a:t>5</a:t>
            </a:r>
            <a:r>
              <a:rPr b="1" lang="zh-CN" sz="2800" spc="-1" strike="noStrike">
                <a:solidFill>
                  <a:srgbClr val="000000"/>
                </a:solidFill>
                <a:latin typeface="MeiryoUI"/>
              </a:rPr>
              <a:t>名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321" name="TextShape 14"/>
          <p:cNvSpPr txBox="1"/>
          <p:nvPr/>
        </p:nvSpPr>
        <p:spPr>
          <a:xfrm>
            <a:off x="5507640" y="4974480"/>
            <a:ext cx="606960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000000"/>
                </a:solidFill>
                <a:latin typeface="Meiryo UI"/>
              </a:rPr>
              <a:t>DO</a:t>
            </a:r>
            <a:r>
              <a:rPr b="1" lang="zh-CN" sz="2800" spc="-1" strike="noStrike">
                <a:solidFill>
                  <a:srgbClr val="000000"/>
                </a:solidFill>
                <a:latin typeface="MeiryoUI"/>
              </a:rPr>
              <a:t>会計部：業務サポート東日本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322" name="Freeform 15"/>
          <p:cNvSpPr/>
          <p:nvPr/>
        </p:nvSpPr>
        <p:spPr>
          <a:xfrm>
            <a:off x="263520" y="1850040"/>
            <a:ext cx="4056120" cy="492840"/>
          </a:xfrm>
          <a:custGeom>
            <a:avLst/>
            <a:gdLst/>
            <a:ahLst/>
            <a:rect l="0" t="0" r="r" b="b"/>
            <a:pathLst>
              <a:path w="11267" h="1369">
                <a:moveTo>
                  <a:pt x="0" y="1368"/>
                </a:moveTo>
                <a:lnTo>
                  <a:pt x="11266" y="1368"/>
                </a:lnTo>
                <a:lnTo>
                  <a:pt x="11266" y="0"/>
                </a:lnTo>
                <a:lnTo>
                  <a:pt x="0" y="0"/>
                </a:lnTo>
                <a:lnTo>
                  <a:pt x="0" y="1368"/>
                </a:lnTo>
                <a:close/>
              </a:path>
            </a:pathLst>
          </a:custGeom>
          <a:solidFill>
            <a:srgbClr val="dbeef4"/>
          </a:solidFill>
          <a:ln w="0">
            <a:noFill/>
          </a:ln>
        </p:spPr>
      </p:sp>
      <p:sp>
        <p:nvSpPr>
          <p:cNvPr id="323" name="TextShape 16"/>
          <p:cNvSpPr txBox="1"/>
          <p:nvPr/>
        </p:nvSpPr>
        <p:spPr>
          <a:xfrm>
            <a:off x="183600" y="160560"/>
            <a:ext cx="687204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１．</a:t>
            </a:r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25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年</a:t>
            </a:r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3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月～</a:t>
            </a:r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FS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部業務の移管先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324" name="Freeform 17"/>
          <p:cNvSpPr/>
          <p:nvPr/>
        </p:nvSpPr>
        <p:spPr>
          <a:xfrm>
            <a:off x="263520" y="2391120"/>
            <a:ext cx="4056120" cy="2385720"/>
          </a:xfrm>
          <a:custGeom>
            <a:avLst/>
            <a:gdLst/>
            <a:ahLst/>
            <a:rect l="0" t="0" r="r" b="b"/>
            <a:pathLst>
              <a:path w="11267" h="6627">
                <a:moveTo>
                  <a:pt x="0" y="6626"/>
                </a:moveTo>
                <a:lnTo>
                  <a:pt x="11266" y="6626"/>
                </a:lnTo>
                <a:lnTo>
                  <a:pt x="11266" y="0"/>
                </a:lnTo>
                <a:lnTo>
                  <a:pt x="0" y="0"/>
                </a:lnTo>
                <a:lnTo>
                  <a:pt x="0" y="6626"/>
                </a:lnTo>
                <a:close/>
              </a:path>
            </a:pathLst>
          </a:custGeom>
          <a:solidFill>
            <a:srgbClr val="ebf1de">
              <a:alpha val="70000"/>
            </a:srgbClr>
          </a:solidFill>
          <a:ln w="0">
            <a:noFill/>
          </a:ln>
        </p:spPr>
      </p:sp>
      <p:sp>
        <p:nvSpPr>
          <p:cNvPr id="325" name="TextShape 18"/>
          <p:cNvSpPr txBox="1"/>
          <p:nvPr/>
        </p:nvSpPr>
        <p:spPr>
          <a:xfrm>
            <a:off x="1419840" y="1882080"/>
            <a:ext cx="188604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002060"/>
                </a:solidFill>
                <a:latin typeface="Meiryo UI"/>
              </a:rPr>
              <a:t>FS</a:t>
            </a:r>
            <a:r>
              <a:rPr b="1" lang="zh-CN" sz="2800" spc="-1" strike="noStrike">
                <a:solidFill>
                  <a:srgbClr val="002060"/>
                </a:solidFill>
                <a:latin typeface="MeiryoUI"/>
              </a:rPr>
              <a:t>部業務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326" name="TextShape 19"/>
          <p:cNvSpPr txBox="1"/>
          <p:nvPr/>
        </p:nvSpPr>
        <p:spPr>
          <a:xfrm>
            <a:off x="355680" y="2455560"/>
            <a:ext cx="208728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000000"/>
                </a:solidFill>
                <a:latin typeface="MeiryoUI"/>
              </a:rPr>
              <a:t>❶</a:t>
            </a:r>
            <a:r>
              <a:rPr b="1" lang="zh-CN" sz="2800" spc="-1" strike="noStrike">
                <a:solidFill>
                  <a:srgbClr val="000000"/>
                </a:solidFill>
                <a:latin typeface="MeiryoUI"/>
              </a:rPr>
              <a:t>資料作成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327" name="TextShape 20"/>
          <p:cNvSpPr txBox="1"/>
          <p:nvPr/>
        </p:nvSpPr>
        <p:spPr>
          <a:xfrm>
            <a:off x="355680" y="2940840"/>
            <a:ext cx="341316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000000"/>
                </a:solidFill>
                <a:latin typeface="MeiryoUI"/>
              </a:rPr>
              <a:t>（月間・週間・</a:t>
            </a:r>
            <a:r>
              <a:rPr b="1" lang="en-US" sz="2400" spc="-1" strike="noStrike">
                <a:solidFill>
                  <a:srgbClr val="000000"/>
                </a:solidFill>
                <a:latin typeface="Meiryo UI"/>
              </a:rPr>
              <a:t>AI</a:t>
            </a:r>
            <a:r>
              <a:rPr b="1" lang="zh-CN" sz="2400" spc="-1" strike="noStrike">
                <a:solidFill>
                  <a:srgbClr val="000000"/>
                </a:solidFill>
                <a:latin typeface="MeiryoUI"/>
              </a:rPr>
              <a:t>）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328" name="TextShape 21"/>
          <p:cNvSpPr txBox="1"/>
          <p:nvPr/>
        </p:nvSpPr>
        <p:spPr>
          <a:xfrm>
            <a:off x="355680" y="3369600"/>
            <a:ext cx="208728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000000"/>
                </a:solidFill>
                <a:latin typeface="MeiryoUI"/>
              </a:rPr>
              <a:t>❷</a:t>
            </a:r>
            <a:r>
              <a:rPr b="1" lang="zh-CN" sz="2800" spc="-1" strike="noStrike">
                <a:solidFill>
                  <a:srgbClr val="000000"/>
                </a:solidFill>
                <a:latin typeface="MeiryoUI"/>
              </a:rPr>
              <a:t>格納連絡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329" name="TextShape 22"/>
          <p:cNvSpPr txBox="1"/>
          <p:nvPr/>
        </p:nvSpPr>
        <p:spPr>
          <a:xfrm>
            <a:off x="355680" y="3857760"/>
            <a:ext cx="412200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000000"/>
                </a:solidFill>
                <a:latin typeface="MeiryoUI"/>
              </a:rPr>
              <a:t>❸</a:t>
            </a:r>
            <a:r>
              <a:rPr b="1" lang="zh-CN" sz="2800" spc="-1" strike="noStrike">
                <a:solidFill>
                  <a:srgbClr val="000000"/>
                </a:solidFill>
                <a:latin typeface="MeiryoUI"/>
              </a:rPr>
              <a:t>加盟店予算フォーム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330" name="Freeform 23"/>
          <p:cNvSpPr/>
          <p:nvPr/>
        </p:nvSpPr>
        <p:spPr>
          <a:xfrm>
            <a:off x="263520" y="4897800"/>
            <a:ext cx="4056120" cy="1198800"/>
          </a:xfrm>
          <a:custGeom>
            <a:avLst/>
            <a:gdLst/>
            <a:ahLst/>
            <a:rect l="0" t="0" r="r" b="b"/>
            <a:pathLst>
              <a:path w="11267" h="3330">
                <a:moveTo>
                  <a:pt x="0" y="3329"/>
                </a:moveTo>
                <a:lnTo>
                  <a:pt x="11266" y="3329"/>
                </a:lnTo>
                <a:lnTo>
                  <a:pt x="11266" y="0"/>
                </a:lnTo>
                <a:lnTo>
                  <a:pt x="0" y="0"/>
                </a:lnTo>
                <a:lnTo>
                  <a:pt x="0" y="3329"/>
                </a:lnTo>
                <a:close/>
              </a:path>
            </a:pathLst>
          </a:custGeom>
          <a:solidFill>
            <a:srgbClr val="ffffcc">
              <a:alpha val="70000"/>
            </a:srgbClr>
          </a:solidFill>
          <a:ln w="0">
            <a:noFill/>
          </a:ln>
        </p:spPr>
      </p:sp>
      <p:sp>
        <p:nvSpPr>
          <p:cNvPr id="331" name="TextShape 24"/>
          <p:cNvSpPr txBox="1"/>
          <p:nvPr/>
        </p:nvSpPr>
        <p:spPr>
          <a:xfrm>
            <a:off x="355680" y="4343400"/>
            <a:ext cx="213120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000000"/>
                </a:solidFill>
                <a:latin typeface="MeiryoUI"/>
              </a:rPr>
              <a:t>（中間資料）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332" name="TextShape 25"/>
          <p:cNvSpPr txBox="1"/>
          <p:nvPr/>
        </p:nvSpPr>
        <p:spPr>
          <a:xfrm>
            <a:off x="355680" y="5040360"/>
            <a:ext cx="371484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000000"/>
                </a:solidFill>
                <a:latin typeface="MeiryoUI"/>
              </a:rPr>
              <a:t>❹</a:t>
            </a:r>
            <a:r>
              <a:rPr b="1" lang="zh-CN" sz="2800" spc="-1" strike="noStrike">
                <a:solidFill>
                  <a:srgbClr val="000000"/>
                </a:solidFill>
                <a:latin typeface="MeiryoUI"/>
              </a:rPr>
              <a:t>加盟店予算の入力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333" name="Freeform 26"/>
          <p:cNvSpPr/>
          <p:nvPr/>
        </p:nvSpPr>
        <p:spPr>
          <a:xfrm>
            <a:off x="4331160" y="3188160"/>
            <a:ext cx="392400" cy="579600"/>
          </a:xfrm>
          <a:custGeom>
            <a:avLst/>
            <a:gdLst/>
            <a:ahLst/>
            <a:rect l="0" t="0" r="r" b="b"/>
            <a:pathLst>
              <a:path w="1090" h="1610">
                <a:moveTo>
                  <a:pt x="0" y="0"/>
                </a:moveTo>
                <a:lnTo>
                  <a:pt x="1089" y="804"/>
                </a:lnTo>
                <a:lnTo>
                  <a:pt x="0" y="1609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 w="0">
            <a:noFill/>
          </a:ln>
        </p:spPr>
      </p:sp>
      <p:sp>
        <p:nvSpPr>
          <p:cNvPr id="334" name="Freeform 27"/>
          <p:cNvSpPr/>
          <p:nvPr/>
        </p:nvSpPr>
        <p:spPr>
          <a:xfrm>
            <a:off x="4331160" y="5256000"/>
            <a:ext cx="392400" cy="579960"/>
          </a:xfrm>
          <a:custGeom>
            <a:avLst/>
            <a:gdLst/>
            <a:ahLst/>
            <a:rect l="0" t="0" r="r" b="b"/>
            <a:pathLst>
              <a:path w="1090" h="1611">
                <a:moveTo>
                  <a:pt x="0" y="0"/>
                </a:moveTo>
                <a:lnTo>
                  <a:pt x="1089" y="806"/>
                </a:lnTo>
                <a:lnTo>
                  <a:pt x="0" y="1610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 w="0">
            <a:noFill/>
          </a:ln>
        </p:spPr>
      </p:sp>
      <p:sp>
        <p:nvSpPr>
          <p:cNvPr id="335" name="Freeform 28"/>
          <p:cNvSpPr/>
          <p:nvPr/>
        </p:nvSpPr>
        <p:spPr>
          <a:xfrm>
            <a:off x="4722840" y="1850040"/>
            <a:ext cx="7206120" cy="492840"/>
          </a:xfrm>
          <a:custGeom>
            <a:avLst/>
            <a:gdLst/>
            <a:ahLst/>
            <a:rect l="0" t="0" r="r" b="b"/>
            <a:pathLst>
              <a:path w="20017" h="1369">
                <a:moveTo>
                  <a:pt x="0" y="1368"/>
                </a:moveTo>
                <a:lnTo>
                  <a:pt x="20016" y="1368"/>
                </a:lnTo>
                <a:lnTo>
                  <a:pt x="20016" y="0"/>
                </a:lnTo>
                <a:lnTo>
                  <a:pt x="0" y="0"/>
                </a:lnTo>
                <a:lnTo>
                  <a:pt x="0" y="1368"/>
                </a:lnTo>
                <a:close/>
              </a:path>
            </a:pathLst>
          </a:custGeom>
          <a:solidFill>
            <a:srgbClr val="fdeada"/>
          </a:solidFill>
          <a:ln w="0">
            <a:noFill/>
          </a:ln>
        </p:spPr>
      </p:sp>
      <p:sp>
        <p:nvSpPr>
          <p:cNvPr id="336" name="TextShape 29"/>
          <p:cNvSpPr txBox="1"/>
          <p:nvPr/>
        </p:nvSpPr>
        <p:spPr>
          <a:xfrm>
            <a:off x="355680" y="5527440"/>
            <a:ext cx="371484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000000"/>
                </a:solidFill>
                <a:latin typeface="MeiryoUI"/>
              </a:rPr>
              <a:t>❺</a:t>
            </a:r>
            <a:r>
              <a:rPr b="1" lang="zh-CN" sz="2800" spc="-1" strike="noStrike">
                <a:solidFill>
                  <a:srgbClr val="000000"/>
                </a:solidFill>
                <a:latin typeface="MeiryoUI"/>
              </a:rPr>
              <a:t>加盟店予算の督促</a:t>
            </a:r>
            <a:endParaRPr b="0" lang="en-US" sz="2800" spc="-1" strike="noStrike">
              <a:latin typeface="Times New Roman"/>
            </a:endParaRPr>
          </a:p>
        </p:txBody>
      </p:sp>
      <p:pic>
        <p:nvPicPr>
          <p:cNvPr id="337" name="" descr=""/>
          <p:cNvPicPr/>
          <p:nvPr/>
        </p:nvPicPr>
        <p:blipFill>
          <a:blip r:embed="rId5"/>
          <a:stretch/>
        </p:blipFill>
        <p:spPr>
          <a:xfrm>
            <a:off x="7515000" y="970920"/>
            <a:ext cx="728280" cy="793800"/>
          </a:xfrm>
          <a:prstGeom prst="rect">
            <a:avLst/>
          </a:prstGeom>
          <a:ln w="0">
            <a:noFill/>
          </a:ln>
        </p:spPr>
      </p:pic>
      <p:pic>
        <p:nvPicPr>
          <p:cNvPr id="338" name="" descr=""/>
          <p:cNvPicPr/>
          <p:nvPr/>
        </p:nvPicPr>
        <p:blipFill>
          <a:blip r:embed="rId6"/>
          <a:stretch/>
        </p:blipFill>
        <p:spPr>
          <a:xfrm>
            <a:off x="6283440" y="798480"/>
            <a:ext cx="1231200" cy="965880"/>
          </a:xfrm>
          <a:prstGeom prst="rect">
            <a:avLst/>
          </a:prstGeom>
          <a:ln w="0">
            <a:noFill/>
          </a:ln>
        </p:spPr>
      </p:pic>
      <p:sp>
        <p:nvSpPr>
          <p:cNvPr id="339" name="Freeform 30"/>
          <p:cNvSpPr/>
          <p:nvPr/>
        </p:nvSpPr>
        <p:spPr>
          <a:xfrm>
            <a:off x="4855320" y="3031200"/>
            <a:ext cx="6916680" cy="1527480"/>
          </a:xfrm>
          <a:custGeom>
            <a:avLst/>
            <a:gdLst/>
            <a:ahLst/>
            <a:rect l="0" t="0" r="r" b="b"/>
            <a:pathLst>
              <a:path w="19213" h="4243">
                <a:moveTo>
                  <a:pt x="0" y="4242"/>
                </a:moveTo>
                <a:lnTo>
                  <a:pt x="19212" y="4242"/>
                </a:lnTo>
                <a:lnTo>
                  <a:pt x="19212" y="0"/>
                </a:lnTo>
                <a:lnTo>
                  <a:pt x="0" y="0"/>
                </a:lnTo>
                <a:lnTo>
                  <a:pt x="0" y="4242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340" name="TextShape 31"/>
          <p:cNvSpPr txBox="1"/>
          <p:nvPr/>
        </p:nvSpPr>
        <p:spPr>
          <a:xfrm>
            <a:off x="7345800" y="1882080"/>
            <a:ext cx="203544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c00000"/>
                </a:solidFill>
                <a:latin typeface="MeiryoUI"/>
              </a:rPr>
              <a:t>引継ぎ部署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341" name="TextShape 32"/>
          <p:cNvSpPr txBox="1"/>
          <p:nvPr/>
        </p:nvSpPr>
        <p:spPr>
          <a:xfrm>
            <a:off x="6355080" y="3183120"/>
            <a:ext cx="42616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000000"/>
                </a:solidFill>
                <a:latin typeface="MeiryoUI"/>
              </a:rPr>
              <a:t>資料に関する問い合わせ先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342" name="TextShape 33"/>
          <p:cNvSpPr txBox="1"/>
          <p:nvPr/>
        </p:nvSpPr>
        <p:spPr>
          <a:xfrm>
            <a:off x="6447960" y="3609720"/>
            <a:ext cx="390672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000000"/>
                </a:solidFill>
                <a:latin typeface="MeiryoUI"/>
              </a:rPr>
              <a:t>格納日時変更などの案内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343" name="Freeform 34"/>
          <p:cNvSpPr/>
          <p:nvPr/>
        </p:nvSpPr>
        <p:spPr>
          <a:xfrm>
            <a:off x="4862880" y="5487840"/>
            <a:ext cx="6916680" cy="486720"/>
          </a:xfrm>
          <a:custGeom>
            <a:avLst/>
            <a:gdLst/>
            <a:ahLst/>
            <a:rect l="0" t="0" r="r" b="b"/>
            <a:pathLst>
              <a:path w="19213" h="1352">
                <a:moveTo>
                  <a:pt x="0" y="1351"/>
                </a:moveTo>
                <a:lnTo>
                  <a:pt x="19212" y="1351"/>
                </a:lnTo>
                <a:lnTo>
                  <a:pt x="19212" y="0"/>
                </a:lnTo>
                <a:lnTo>
                  <a:pt x="0" y="0"/>
                </a:lnTo>
                <a:lnTo>
                  <a:pt x="0" y="13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344" name="TextShape 35"/>
          <p:cNvSpPr txBox="1"/>
          <p:nvPr/>
        </p:nvSpPr>
        <p:spPr>
          <a:xfrm>
            <a:off x="6824880" y="4036320"/>
            <a:ext cx="319644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000000"/>
                </a:solidFill>
                <a:latin typeface="MeiryoUI"/>
              </a:rPr>
              <a:t>エラー発生時の案内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345" name="Freeform 36"/>
          <p:cNvSpPr/>
          <p:nvPr/>
        </p:nvSpPr>
        <p:spPr>
          <a:xfrm>
            <a:off x="2892240" y="1212840"/>
            <a:ext cx="3285000" cy="432000"/>
          </a:xfrm>
          <a:custGeom>
            <a:avLst/>
            <a:gdLst/>
            <a:ahLst/>
            <a:rect l="0" t="0" r="r" b="b"/>
            <a:pathLst>
              <a:path w="9125" h="1200">
                <a:moveTo>
                  <a:pt x="0" y="300"/>
                </a:moveTo>
                <a:lnTo>
                  <a:pt x="8525" y="300"/>
                </a:lnTo>
                <a:lnTo>
                  <a:pt x="8525" y="0"/>
                </a:lnTo>
                <a:lnTo>
                  <a:pt x="9124" y="599"/>
                </a:lnTo>
                <a:lnTo>
                  <a:pt x="8525" y="1199"/>
                </a:lnTo>
                <a:lnTo>
                  <a:pt x="8525" y="900"/>
                </a:lnTo>
                <a:lnTo>
                  <a:pt x="0" y="900"/>
                </a:lnTo>
                <a:lnTo>
                  <a:pt x="0" y="300"/>
                </a:lnTo>
                <a:close/>
              </a:path>
            </a:pathLst>
          </a:custGeom>
          <a:solidFill>
            <a:srgbClr val="ff0000">
              <a:alpha val="40000"/>
            </a:srgbClr>
          </a:solidFill>
          <a:ln w="0">
            <a:noFill/>
          </a:ln>
        </p:spPr>
      </p:sp>
      <p:sp>
        <p:nvSpPr>
          <p:cNvPr id="346" name="TextShape 37"/>
          <p:cNvSpPr txBox="1"/>
          <p:nvPr/>
        </p:nvSpPr>
        <p:spPr>
          <a:xfrm>
            <a:off x="6221160" y="5545800"/>
            <a:ext cx="42616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000000"/>
                </a:solidFill>
                <a:latin typeface="MeiryoUI"/>
              </a:rPr>
              <a:t>加盟店計画額の督促の案内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347" name="TextShape 38"/>
          <p:cNvSpPr txBox="1"/>
          <p:nvPr/>
        </p:nvSpPr>
        <p:spPr>
          <a:xfrm>
            <a:off x="8386200" y="1029960"/>
            <a:ext cx="152460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資料作成の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348" name="TextShape 39"/>
          <p:cNvSpPr txBox="1"/>
          <p:nvPr/>
        </p:nvSpPr>
        <p:spPr>
          <a:xfrm>
            <a:off x="8386200" y="1396440"/>
            <a:ext cx="182952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自動化を実現</a:t>
            </a:r>
            <a:endParaRPr b="0" lang="en-US" sz="2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Freeform 1"/>
          <p:cNvSpPr/>
          <p:nvPr/>
        </p:nvSpPr>
        <p:spPr>
          <a:xfrm>
            <a:off x="0" y="-360"/>
            <a:ext cx="12192480" cy="6858720"/>
          </a:xfrm>
          <a:custGeom>
            <a:avLst/>
            <a:gdLst/>
            <a:ahLst/>
            <a:rect l="0" t="0" r="r" b="b"/>
            <a:pathLst>
              <a:path w="33868" h="19052">
                <a:moveTo>
                  <a:pt x="0" y="19051"/>
                </a:moveTo>
                <a:lnTo>
                  <a:pt x="33867" y="19051"/>
                </a:lnTo>
                <a:lnTo>
                  <a:pt x="33867" y="0"/>
                </a:lnTo>
                <a:lnTo>
                  <a:pt x="0" y="0"/>
                </a:lnTo>
                <a:lnTo>
                  <a:pt x="0" y="190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pic>
        <p:nvPicPr>
          <p:cNvPr id="350" name="" descr=""/>
          <p:cNvPicPr/>
          <p:nvPr/>
        </p:nvPicPr>
        <p:blipFill>
          <a:blip r:embed="rId1"/>
          <a:stretch/>
        </p:blipFill>
        <p:spPr>
          <a:xfrm>
            <a:off x="175320" y="586800"/>
            <a:ext cx="11841120" cy="209880"/>
          </a:xfrm>
          <a:prstGeom prst="rect">
            <a:avLst/>
          </a:prstGeom>
          <a:ln w="0">
            <a:noFill/>
          </a:ln>
        </p:spPr>
      </p:pic>
      <p:pic>
        <p:nvPicPr>
          <p:cNvPr id="351" name="" descr=""/>
          <p:cNvPicPr/>
          <p:nvPr/>
        </p:nvPicPr>
        <p:blipFill>
          <a:blip r:embed="rId2"/>
          <a:stretch/>
        </p:blipFill>
        <p:spPr>
          <a:xfrm>
            <a:off x="5122080" y="6681240"/>
            <a:ext cx="1947240" cy="115560"/>
          </a:xfrm>
          <a:prstGeom prst="rect">
            <a:avLst/>
          </a:prstGeom>
          <a:ln w="0">
            <a:noFill/>
          </a:ln>
        </p:spPr>
      </p:pic>
      <p:sp>
        <p:nvSpPr>
          <p:cNvPr id="352" name="Freeform 2"/>
          <p:cNvSpPr/>
          <p:nvPr/>
        </p:nvSpPr>
        <p:spPr>
          <a:xfrm>
            <a:off x="151560" y="6209280"/>
            <a:ext cx="1620720" cy="360360"/>
          </a:xfrm>
          <a:custGeom>
            <a:avLst/>
            <a:gdLst/>
            <a:ahLst/>
            <a:rect l="0" t="0" r="r" b="b"/>
            <a:pathLst>
              <a:path w="4502" h="1001">
                <a:moveTo>
                  <a:pt x="0" y="1000"/>
                </a:moveTo>
                <a:lnTo>
                  <a:pt x="4501" y="1000"/>
                </a:lnTo>
                <a:lnTo>
                  <a:pt x="4501" y="0"/>
                </a:lnTo>
                <a:lnTo>
                  <a:pt x="0" y="0"/>
                </a:lnTo>
                <a:lnTo>
                  <a:pt x="0" y="1000"/>
                </a:lnTo>
                <a:close/>
              </a:path>
            </a:pathLst>
          </a:custGeom>
          <a:solidFill>
            <a:srgbClr val="ffffff"/>
          </a:solidFill>
          <a:ln w="31680">
            <a:solidFill>
              <a:srgbClr val="ff0000"/>
            </a:solidFill>
            <a:round/>
          </a:ln>
        </p:spPr>
      </p:sp>
      <p:sp>
        <p:nvSpPr>
          <p:cNvPr id="353" name="TextShape 3"/>
          <p:cNvSpPr txBox="1"/>
          <p:nvPr/>
        </p:nvSpPr>
        <p:spPr>
          <a:xfrm>
            <a:off x="555840" y="627012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ff0000"/>
                </a:solidFill>
                <a:latin typeface="Meiryo"/>
              </a:rPr>
              <a:t>社内限り</a:t>
            </a:r>
            <a:endParaRPr b="0" lang="en-US" sz="1400" spc="-1" strike="noStrike">
              <a:latin typeface="Times New Roman"/>
            </a:endParaRPr>
          </a:p>
        </p:txBody>
      </p:sp>
      <p:pic>
        <p:nvPicPr>
          <p:cNvPr id="354" name="" descr=""/>
          <p:cNvPicPr/>
          <p:nvPr/>
        </p:nvPicPr>
        <p:blipFill>
          <a:blip r:embed="rId3"/>
          <a:stretch/>
        </p:blipFill>
        <p:spPr>
          <a:xfrm>
            <a:off x="11428560" y="149400"/>
            <a:ext cx="411120" cy="432360"/>
          </a:xfrm>
          <a:prstGeom prst="rect">
            <a:avLst/>
          </a:prstGeom>
          <a:ln w="0">
            <a:noFill/>
          </a:ln>
        </p:spPr>
      </p:pic>
      <p:sp>
        <p:nvSpPr>
          <p:cNvPr id="355" name="Freeform 4"/>
          <p:cNvSpPr/>
          <p:nvPr/>
        </p:nvSpPr>
        <p:spPr>
          <a:xfrm>
            <a:off x="9806040" y="204840"/>
            <a:ext cx="1497240" cy="361800"/>
          </a:xfrm>
          <a:custGeom>
            <a:avLst/>
            <a:gdLst/>
            <a:ahLst/>
            <a:rect l="0" t="0" r="r" b="b"/>
            <a:pathLst>
              <a:path w="4159" h="1005">
                <a:moveTo>
                  <a:pt x="0" y="1004"/>
                </a:moveTo>
                <a:lnTo>
                  <a:pt x="4158" y="1004"/>
                </a:lnTo>
                <a:lnTo>
                  <a:pt x="4158" y="0"/>
                </a:lnTo>
                <a:lnTo>
                  <a:pt x="0" y="0"/>
                </a:lnTo>
                <a:lnTo>
                  <a:pt x="0" y="1004"/>
                </a:lnTo>
                <a:close/>
              </a:path>
            </a:pathLst>
          </a:custGeom>
          <a:solidFill>
            <a:srgbClr val="ffffff"/>
          </a:solidFill>
          <a:ln w="18720">
            <a:solidFill>
              <a:srgbClr val="ff0000"/>
            </a:solidFill>
            <a:round/>
          </a:ln>
        </p:spPr>
      </p:sp>
      <p:sp>
        <p:nvSpPr>
          <p:cNvPr id="356" name="TextShape 5"/>
          <p:cNvSpPr txBox="1"/>
          <p:nvPr/>
        </p:nvSpPr>
        <p:spPr>
          <a:xfrm>
            <a:off x="9143280" y="6356520"/>
            <a:ext cx="23598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明日の笑顔を</a:t>
            </a:r>
            <a:r>
              <a:rPr b="0" lang="en-US" sz="1600" spc="-1" strike="noStrike">
                <a:solidFill>
                  <a:srgbClr val="000000"/>
                </a:solidFill>
                <a:latin typeface="UD Digi Kyokasho NPR"/>
              </a:rPr>
              <a:t> </a:t>
            </a:r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共に創る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357" name="TextShape 6"/>
          <p:cNvSpPr txBox="1"/>
          <p:nvPr/>
        </p:nvSpPr>
        <p:spPr>
          <a:xfrm>
            <a:off x="10151280" y="262800"/>
            <a:ext cx="48240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0000"/>
                </a:solidFill>
                <a:latin typeface="Meiryo"/>
              </a:rPr>
              <a:t>秘</a:t>
            </a:r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（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358" name="TextShape 7"/>
          <p:cNvSpPr txBox="1"/>
          <p:nvPr/>
        </p:nvSpPr>
        <p:spPr>
          <a:xfrm>
            <a:off x="10671120" y="391320"/>
            <a:ext cx="10188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700" spc="-1" strike="noStrike">
                <a:solidFill>
                  <a:srgbClr val="ff0000"/>
                </a:solidFill>
                <a:latin typeface="Meiryo"/>
              </a:rPr>
              <a:t> </a:t>
            </a:r>
            <a:endParaRPr b="0" lang="en-US" sz="700" spc="-1" strike="noStrike">
              <a:latin typeface="Times New Roman"/>
            </a:endParaRPr>
          </a:p>
        </p:txBody>
      </p:sp>
      <p:sp>
        <p:nvSpPr>
          <p:cNvPr id="359" name="TextShape 8"/>
          <p:cNvSpPr txBox="1"/>
          <p:nvPr/>
        </p:nvSpPr>
        <p:spPr>
          <a:xfrm>
            <a:off x="10707480" y="249840"/>
            <a:ext cx="2541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0000"/>
                </a:solidFill>
                <a:latin typeface="Meiryo"/>
              </a:rPr>
              <a:t>B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360" name="TextShape 9"/>
          <p:cNvSpPr txBox="1"/>
          <p:nvPr/>
        </p:nvSpPr>
        <p:spPr>
          <a:xfrm>
            <a:off x="10925640" y="262800"/>
            <a:ext cx="24156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）</a:t>
            </a:r>
            <a:endParaRPr b="0" lang="en-US" sz="1600" spc="-1" strike="noStrike">
              <a:latin typeface="Times New Roman"/>
            </a:endParaRPr>
          </a:p>
        </p:txBody>
      </p:sp>
      <p:pic>
        <p:nvPicPr>
          <p:cNvPr id="361" name="" descr=""/>
          <p:cNvPicPr/>
          <p:nvPr/>
        </p:nvPicPr>
        <p:blipFill>
          <a:blip r:embed="rId4"/>
          <a:stretch/>
        </p:blipFill>
        <p:spPr>
          <a:xfrm>
            <a:off x="4960800" y="6669000"/>
            <a:ext cx="2221560" cy="121680"/>
          </a:xfrm>
          <a:prstGeom prst="rect">
            <a:avLst/>
          </a:prstGeom>
          <a:ln w="0">
            <a:noFill/>
          </a:ln>
        </p:spPr>
      </p:pic>
      <p:sp>
        <p:nvSpPr>
          <p:cNvPr id="362" name="TextShape 10"/>
          <p:cNvSpPr txBox="1"/>
          <p:nvPr/>
        </p:nvSpPr>
        <p:spPr>
          <a:xfrm>
            <a:off x="8179200" y="303480"/>
            <a:ext cx="15246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100" spc="-1" strike="noStrike">
                <a:solidFill>
                  <a:srgbClr val="000000"/>
                </a:solidFill>
                <a:latin typeface="Meiryo"/>
              </a:rPr>
              <a:t>フィールドサポート部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363" name="Freeform 11"/>
          <p:cNvSpPr/>
          <p:nvPr/>
        </p:nvSpPr>
        <p:spPr>
          <a:xfrm>
            <a:off x="183240" y="773640"/>
            <a:ext cx="1424160" cy="457920"/>
          </a:xfrm>
          <a:custGeom>
            <a:avLst/>
            <a:gdLst/>
            <a:ahLst/>
            <a:rect l="0" t="0" r="r" b="b"/>
            <a:pathLst>
              <a:path w="3956" h="1272">
                <a:moveTo>
                  <a:pt x="0" y="1271"/>
                </a:moveTo>
                <a:lnTo>
                  <a:pt x="3955" y="1271"/>
                </a:lnTo>
                <a:lnTo>
                  <a:pt x="3955" y="0"/>
                </a:lnTo>
                <a:lnTo>
                  <a:pt x="0" y="0"/>
                </a:lnTo>
                <a:lnTo>
                  <a:pt x="0" y="1271"/>
                </a:lnTo>
                <a:close/>
              </a:path>
            </a:pathLst>
          </a:custGeom>
          <a:solidFill>
            <a:srgbClr val="4f81bd"/>
          </a:solidFill>
          <a:ln w="0">
            <a:noFill/>
          </a:ln>
        </p:spPr>
      </p:sp>
      <p:sp>
        <p:nvSpPr>
          <p:cNvPr id="364" name="Freeform 12"/>
          <p:cNvSpPr/>
          <p:nvPr/>
        </p:nvSpPr>
        <p:spPr>
          <a:xfrm>
            <a:off x="1606320" y="773640"/>
            <a:ext cx="3697920" cy="457920"/>
          </a:xfrm>
          <a:custGeom>
            <a:avLst/>
            <a:gdLst/>
            <a:ahLst/>
            <a:rect l="0" t="0" r="r" b="b"/>
            <a:pathLst>
              <a:path w="10272" h="1272">
                <a:moveTo>
                  <a:pt x="0" y="1271"/>
                </a:moveTo>
                <a:lnTo>
                  <a:pt x="10271" y="1271"/>
                </a:lnTo>
                <a:lnTo>
                  <a:pt x="10271" y="0"/>
                </a:lnTo>
                <a:lnTo>
                  <a:pt x="0" y="0"/>
                </a:lnTo>
                <a:lnTo>
                  <a:pt x="0" y="1271"/>
                </a:lnTo>
                <a:close/>
              </a:path>
            </a:pathLst>
          </a:custGeom>
          <a:solidFill>
            <a:srgbClr val="4f81bd"/>
          </a:solidFill>
          <a:ln w="0">
            <a:noFill/>
          </a:ln>
        </p:spPr>
      </p:sp>
      <p:sp>
        <p:nvSpPr>
          <p:cNvPr id="365" name="Freeform 13"/>
          <p:cNvSpPr/>
          <p:nvPr/>
        </p:nvSpPr>
        <p:spPr>
          <a:xfrm>
            <a:off x="5303520" y="773640"/>
            <a:ext cx="6675840" cy="457920"/>
          </a:xfrm>
          <a:custGeom>
            <a:avLst/>
            <a:gdLst/>
            <a:ahLst/>
            <a:rect l="0" t="0" r="r" b="b"/>
            <a:pathLst>
              <a:path w="18544" h="1272">
                <a:moveTo>
                  <a:pt x="0" y="1271"/>
                </a:moveTo>
                <a:lnTo>
                  <a:pt x="18543" y="1271"/>
                </a:lnTo>
                <a:lnTo>
                  <a:pt x="18543" y="0"/>
                </a:lnTo>
                <a:lnTo>
                  <a:pt x="0" y="0"/>
                </a:lnTo>
                <a:lnTo>
                  <a:pt x="0" y="1271"/>
                </a:lnTo>
                <a:close/>
              </a:path>
            </a:pathLst>
          </a:custGeom>
          <a:solidFill>
            <a:srgbClr val="4f81bd"/>
          </a:solidFill>
          <a:ln w="0">
            <a:noFill/>
          </a:ln>
        </p:spPr>
      </p:sp>
      <p:sp>
        <p:nvSpPr>
          <p:cNvPr id="366" name="Freeform 14"/>
          <p:cNvSpPr/>
          <p:nvPr/>
        </p:nvSpPr>
        <p:spPr>
          <a:xfrm>
            <a:off x="183240" y="1230840"/>
            <a:ext cx="1424160" cy="457920"/>
          </a:xfrm>
          <a:custGeom>
            <a:avLst/>
            <a:gdLst/>
            <a:ahLst/>
            <a:rect l="0" t="0" r="r" b="b"/>
            <a:pathLst>
              <a:path w="3956" h="1272">
                <a:moveTo>
                  <a:pt x="0" y="1271"/>
                </a:moveTo>
                <a:lnTo>
                  <a:pt x="3955" y="1271"/>
                </a:lnTo>
                <a:lnTo>
                  <a:pt x="3955" y="0"/>
                </a:lnTo>
                <a:lnTo>
                  <a:pt x="0" y="0"/>
                </a:lnTo>
                <a:lnTo>
                  <a:pt x="0" y="1271"/>
                </a:lnTo>
                <a:close/>
              </a:path>
            </a:pathLst>
          </a:custGeom>
          <a:solidFill>
            <a:srgbClr val="d0d8e8"/>
          </a:solidFill>
          <a:ln w="0">
            <a:noFill/>
          </a:ln>
        </p:spPr>
      </p:sp>
      <p:sp>
        <p:nvSpPr>
          <p:cNvPr id="367" name="Freeform 15"/>
          <p:cNvSpPr/>
          <p:nvPr/>
        </p:nvSpPr>
        <p:spPr>
          <a:xfrm>
            <a:off x="1606320" y="1230840"/>
            <a:ext cx="3697920" cy="457920"/>
          </a:xfrm>
          <a:custGeom>
            <a:avLst/>
            <a:gdLst/>
            <a:ahLst/>
            <a:rect l="0" t="0" r="r" b="b"/>
            <a:pathLst>
              <a:path w="10272" h="1272">
                <a:moveTo>
                  <a:pt x="0" y="1271"/>
                </a:moveTo>
                <a:lnTo>
                  <a:pt x="10271" y="1271"/>
                </a:lnTo>
                <a:lnTo>
                  <a:pt x="10271" y="0"/>
                </a:lnTo>
                <a:lnTo>
                  <a:pt x="0" y="0"/>
                </a:lnTo>
                <a:lnTo>
                  <a:pt x="0" y="1271"/>
                </a:lnTo>
                <a:close/>
              </a:path>
            </a:pathLst>
          </a:custGeom>
          <a:solidFill>
            <a:srgbClr val="d0d8e8"/>
          </a:solidFill>
          <a:ln w="0">
            <a:noFill/>
          </a:ln>
        </p:spPr>
      </p:sp>
      <p:sp>
        <p:nvSpPr>
          <p:cNvPr id="368" name="Freeform 16"/>
          <p:cNvSpPr/>
          <p:nvPr/>
        </p:nvSpPr>
        <p:spPr>
          <a:xfrm>
            <a:off x="5303520" y="1230840"/>
            <a:ext cx="6675840" cy="457920"/>
          </a:xfrm>
          <a:custGeom>
            <a:avLst/>
            <a:gdLst/>
            <a:ahLst/>
            <a:rect l="0" t="0" r="r" b="b"/>
            <a:pathLst>
              <a:path w="18544" h="1272">
                <a:moveTo>
                  <a:pt x="0" y="1271"/>
                </a:moveTo>
                <a:lnTo>
                  <a:pt x="18543" y="1271"/>
                </a:lnTo>
                <a:lnTo>
                  <a:pt x="18543" y="0"/>
                </a:lnTo>
                <a:lnTo>
                  <a:pt x="0" y="0"/>
                </a:lnTo>
                <a:lnTo>
                  <a:pt x="0" y="1271"/>
                </a:lnTo>
                <a:close/>
              </a:path>
            </a:pathLst>
          </a:custGeom>
          <a:solidFill>
            <a:srgbClr val="d0d8e8"/>
          </a:solidFill>
          <a:ln w="0">
            <a:noFill/>
          </a:ln>
        </p:spPr>
      </p:sp>
      <p:sp>
        <p:nvSpPr>
          <p:cNvPr id="369" name="Freeform 17"/>
          <p:cNvSpPr/>
          <p:nvPr/>
        </p:nvSpPr>
        <p:spPr>
          <a:xfrm>
            <a:off x="183240" y="1688040"/>
            <a:ext cx="1424160" cy="823680"/>
          </a:xfrm>
          <a:custGeom>
            <a:avLst/>
            <a:gdLst/>
            <a:ahLst/>
            <a:rect l="0" t="0" r="r" b="b"/>
            <a:pathLst>
              <a:path w="3956" h="2288">
                <a:moveTo>
                  <a:pt x="0" y="2287"/>
                </a:moveTo>
                <a:lnTo>
                  <a:pt x="3955" y="2287"/>
                </a:lnTo>
                <a:lnTo>
                  <a:pt x="3955" y="0"/>
                </a:lnTo>
                <a:lnTo>
                  <a:pt x="0" y="0"/>
                </a:lnTo>
                <a:lnTo>
                  <a:pt x="0" y="2287"/>
                </a:lnTo>
                <a:close/>
              </a:path>
            </a:pathLst>
          </a:custGeom>
          <a:solidFill>
            <a:srgbClr val="e9edf4"/>
          </a:solidFill>
          <a:ln w="0">
            <a:noFill/>
          </a:ln>
        </p:spPr>
      </p:sp>
      <p:sp>
        <p:nvSpPr>
          <p:cNvPr id="370" name="Freeform 18"/>
          <p:cNvSpPr/>
          <p:nvPr/>
        </p:nvSpPr>
        <p:spPr>
          <a:xfrm>
            <a:off x="1606320" y="1688040"/>
            <a:ext cx="3697920" cy="823680"/>
          </a:xfrm>
          <a:custGeom>
            <a:avLst/>
            <a:gdLst/>
            <a:ahLst/>
            <a:rect l="0" t="0" r="r" b="b"/>
            <a:pathLst>
              <a:path w="10272" h="2288">
                <a:moveTo>
                  <a:pt x="0" y="2287"/>
                </a:moveTo>
                <a:lnTo>
                  <a:pt x="10271" y="2287"/>
                </a:lnTo>
                <a:lnTo>
                  <a:pt x="10271" y="0"/>
                </a:lnTo>
                <a:lnTo>
                  <a:pt x="0" y="0"/>
                </a:lnTo>
                <a:lnTo>
                  <a:pt x="0" y="2287"/>
                </a:lnTo>
                <a:close/>
              </a:path>
            </a:pathLst>
          </a:custGeom>
          <a:solidFill>
            <a:srgbClr val="e9edf4"/>
          </a:solidFill>
          <a:ln w="0">
            <a:noFill/>
          </a:ln>
        </p:spPr>
      </p:sp>
      <p:sp>
        <p:nvSpPr>
          <p:cNvPr id="371" name="Freeform 19"/>
          <p:cNvSpPr/>
          <p:nvPr/>
        </p:nvSpPr>
        <p:spPr>
          <a:xfrm>
            <a:off x="5303520" y="1688040"/>
            <a:ext cx="6675840" cy="823680"/>
          </a:xfrm>
          <a:custGeom>
            <a:avLst/>
            <a:gdLst/>
            <a:ahLst/>
            <a:rect l="0" t="0" r="r" b="b"/>
            <a:pathLst>
              <a:path w="18544" h="2288">
                <a:moveTo>
                  <a:pt x="0" y="2287"/>
                </a:moveTo>
                <a:lnTo>
                  <a:pt x="18543" y="2287"/>
                </a:lnTo>
                <a:lnTo>
                  <a:pt x="18543" y="0"/>
                </a:lnTo>
                <a:lnTo>
                  <a:pt x="0" y="0"/>
                </a:lnTo>
                <a:lnTo>
                  <a:pt x="0" y="2287"/>
                </a:lnTo>
                <a:close/>
              </a:path>
            </a:pathLst>
          </a:custGeom>
          <a:solidFill>
            <a:srgbClr val="e9edf4"/>
          </a:solidFill>
          <a:ln w="0">
            <a:noFill/>
          </a:ln>
        </p:spPr>
      </p:sp>
      <p:sp>
        <p:nvSpPr>
          <p:cNvPr id="372" name="Freeform 20"/>
          <p:cNvSpPr/>
          <p:nvPr/>
        </p:nvSpPr>
        <p:spPr>
          <a:xfrm>
            <a:off x="183240" y="2511000"/>
            <a:ext cx="1424160" cy="823680"/>
          </a:xfrm>
          <a:custGeom>
            <a:avLst/>
            <a:gdLst/>
            <a:ahLst/>
            <a:rect l="0" t="0" r="r" b="b"/>
            <a:pathLst>
              <a:path w="3956" h="2288">
                <a:moveTo>
                  <a:pt x="0" y="2287"/>
                </a:moveTo>
                <a:lnTo>
                  <a:pt x="3955" y="2287"/>
                </a:lnTo>
                <a:lnTo>
                  <a:pt x="3955" y="0"/>
                </a:lnTo>
                <a:lnTo>
                  <a:pt x="0" y="0"/>
                </a:lnTo>
                <a:lnTo>
                  <a:pt x="0" y="2287"/>
                </a:lnTo>
                <a:close/>
              </a:path>
            </a:pathLst>
          </a:custGeom>
          <a:solidFill>
            <a:srgbClr val="d0d8e8"/>
          </a:solidFill>
          <a:ln w="0">
            <a:noFill/>
          </a:ln>
        </p:spPr>
      </p:sp>
      <p:sp>
        <p:nvSpPr>
          <p:cNvPr id="373" name="Freeform 21"/>
          <p:cNvSpPr/>
          <p:nvPr/>
        </p:nvSpPr>
        <p:spPr>
          <a:xfrm>
            <a:off x="1606320" y="2511000"/>
            <a:ext cx="3697920" cy="823680"/>
          </a:xfrm>
          <a:custGeom>
            <a:avLst/>
            <a:gdLst/>
            <a:ahLst/>
            <a:rect l="0" t="0" r="r" b="b"/>
            <a:pathLst>
              <a:path w="10272" h="2288">
                <a:moveTo>
                  <a:pt x="0" y="2287"/>
                </a:moveTo>
                <a:lnTo>
                  <a:pt x="10271" y="2287"/>
                </a:lnTo>
                <a:lnTo>
                  <a:pt x="10271" y="0"/>
                </a:lnTo>
                <a:lnTo>
                  <a:pt x="0" y="0"/>
                </a:lnTo>
                <a:lnTo>
                  <a:pt x="0" y="2287"/>
                </a:lnTo>
                <a:close/>
              </a:path>
            </a:pathLst>
          </a:custGeom>
          <a:solidFill>
            <a:srgbClr val="d0d8e8"/>
          </a:solidFill>
          <a:ln w="0">
            <a:noFill/>
          </a:ln>
        </p:spPr>
      </p:sp>
      <p:sp>
        <p:nvSpPr>
          <p:cNvPr id="374" name="Freeform 22"/>
          <p:cNvSpPr/>
          <p:nvPr/>
        </p:nvSpPr>
        <p:spPr>
          <a:xfrm>
            <a:off x="5303520" y="2511000"/>
            <a:ext cx="6675840" cy="823680"/>
          </a:xfrm>
          <a:custGeom>
            <a:avLst/>
            <a:gdLst/>
            <a:ahLst/>
            <a:rect l="0" t="0" r="r" b="b"/>
            <a:pathLst>
              <a:path w="18544" h="2288">
                <a:moveTo>
                  <a:pt x="0" y="2287"/>
                </a:moveTo>
                <a:lnTo>
                  <a:pt x="18543" y="2287"/>
                </a:lnTo>
                <a:lnTo>
                  <a:pt x="18543" y="0"/>
                </a:lnTo>
                <a:lnTo>
                  <a:pt x="0" y="0"/>
                </a:lnTo>
                <a:lnTo>
                  <a:pt x="0" y="2287"/>
                </a:lnTo>
                <a:close/>
              </a:path>
            </a:pathLst>
          </a:custGeom>
          <a:solidFill>
            <a:srgbClr val="d0d8e8"/>
          </a:solidFill>
          <a:ln w="0">
            <a:noFill/>
          </a:ln>
        </p:spPr>
      </p:sp>
      <p:sp>
        <p:nvSpPr>
          <p:cNvPr id="375" name="Freeform 23"/>
          <p:cNvSpPr/>
          <p:nvPr/>
        </p:nvSpPr>
        <p:spPr>
          <a:xfrm>
            <a:off x="183240" y="3333960"/>
            <a:ext cx="1424160" cy="457920"/>
          </a:xfrm>
          <a:custGeom>
            <a:avLst/>
            <a:gdLst/>
            <a:ahLst/>
            <a:rect l="0" t="0" r="r" b="b"/>
            <a:pathLst>
              <a:path w="3956" h="1272">
                <a:moveTo>
                  <a:pt x="0" y="1271"/>
                </a:moveTo>
                <a:lnTo>
                  <a:pt x="3955" y="1271"/>
                </a:lnTo>
                <a:lnTo>
                  <a:pt x="3955" y="0"/>
                </a:lnTo>
                <a:lnTo>
                  <a:pt x="0" y="0"/>
                </a:lnTo>
                <a:lnTo>
                  <a:pt x="0" y="1271"/>
                </a:lnTo>
                <a:close/>
              </a:path>
            </a:pathLst>
          </a:custGeom>
          <a:solidFill>
            <a:srgbClr val="e9edf4"/>
          </a:solidFill>
          <a:ln w="0">
            <a:noFill/>
          </a:ln>
        </p:spPr>
      </p:sp>
      <p:sp>
        <p:nvSpPr>
          <p:cNvPr id="376" name="Freeform 24"/>
          <p:cNvSpPr/>
          <p:nvPr/>
        </p:nvSpPr>
        <p:spPr>
          <a:xfrm>
            <a:off x="1606320" y="3333960"/>
            <a:ext cx="3697920" cy="457920"/>
          </a:xfrm>
          <a:custGeom>
            <a:avLst/>
            <a:gdLst/>
            <a:ahLst/>
            <a:rect l="0" t="0" r="r" b="b"/>
            <a:pathLst>
              <a:path w="10272" h="1272">
                <a:moveTo>
                  <a:pt x="0" y="1271"/>
                </a:moveTo>
                <a:lnTo>
                  <a:pt x="10271" y="1271"/>
                </a:lnTo>
                <a:lnTo>
                  <a:pt x="10271" y="0"/>
                </a:lnTo>
                <a:lnTo>
                  <a:pt x="0" y="0"/>
                </a:lnTo>
                <a:lnTo>
                  <a:pt x="0" y="1271"/>
                </a:lnTo>
                <a:close/>
              </a:path>
            </a:pathLst>
          </a:custGeom>
          <a:solidFill>
            <a:srgbClr val="e9edf4"/>
          </a:solidFill>
          <a:ln w="0">
            <a:noFill/>
          </a:ln>
        </p:spPr>
      </p:sp>
      <p:sp>
        <p:nvSpPr>
          <p:cNvPr id="377" name="Freeform 25"/>
          <p:cNvSpPr/>
          <p:nvPr/>
        </p:nvSpPr>
        <p:spPr>
          <a:xfrm>
            <a:off x="5303520" y="3333960"/>
            <a:ext cx="6675840" cy="457920"/>
          </a:xfrm>
          <a:custGeom>
            <a:avLst/>
            <a:gdLst/>
            <a:ahLst/>
            <a:rect l="0" t="0" r="r" b="b"/>
            <a:pathLst>
              <a:path w="18544" h="1272">
                <a:moveTo>
                  <a:pt x="0" y="1271"/>
                </a:moveTo>
                <a:lnTo>
                  <a:pt x="18543" y="1271"/>
                </a:lnTo>
                <a:lnTo>
                  <a:pt x="18543" y="0"/>
                </a:lnTo>
                <a:lnTo>
                  <a:pt x="0" y="0"/>
                </a:lnTo>
                <a:lnTo>
                  <a:pt x="0" y="1271"/>
                </a:lnTo>
                <a:close/>
              </a:path>
            </a:pathLst>
          </a:custGeom>
          <a:solidFill>
            <a:srgbClr val="e9edf4"/>
          </a:solidFill>
          <a:ln w="0">
            <a:noFill/>
          </a:ln>
        </p:spPr>
      </p:sp>
      <p:sp>
        <p:nvSpPr>
          <p:cNvPr id="378" name="Freeform 26"/>
          <p:cNvSpPr/>
          <p:nvPr/>
        </p:nvSpPr>
        <p:spPr>
          <a:xfrm>
            <a:off x="183240" y="3791160"/>
            <a:ext cx="1424160" cy="457920"/>
          </a:xfrm>
          <a:custGeom>
            <a:avLst/>
            <a:gdLst/>
            <a:ahLst/>
            <a:rect l="0" t="0" r="r" b="b"/>
            <a:pathLst>
              <a:path w="3956" h="1272">
                <a:moveTo>
                  <a:pt x="0" y="1271"/>
                </a:moveTo>
                <a:lnTo>
                  <a:pt x="3955" y="1271"/>
                </a:lnTo>
                <a:lnTo>
                  <a:pt x="3955" y="0"/>
                </a:lnTo>
                <a:lnTo>
                  <a:pt x="0" y="0"/>
                </a:lnTo>
                <a:lnTo>
                  <a:pt x="0" y="1271"/>
                </a:lnTo>
                <a:close/>
              </a:path>
            </a:pathLst>
          </a:custGeom>
          <a:solidFill>
            <a:srgbClr val="d0d8e8"/>
          </a:solidFill>
          <a:ln w="0">
            <a:noFill/>
          </a:ln>
        </p:spPr>
      </p:sp>
      <p:sp>
        <p:nvSpPr>
          <p:cNvPr id="379" name="Freeform 27"/>
          <p:cNvSpPr/>
          <p:nvPr/>
        </p:nvSpPr>
        <p:spPr>
          <a:xfrm>
            <a:off x="1606320" y="3791160"/>
            <a:ext cx="3697920" cy="457920"/>
          </a:xfrm>
          <a:custGeom>
            <a:avLst/>
            <a:gdLst/>
            <a:ahLst/>
            <a:rect l="0" t="0" r="r" b="b"/>
            <a:pathLst>
              <a:path w="10272" h="1272">
                <a:moveTo>
                  <a:pt x="0" y="1271"/>
                </a:moveTo>
                <a:lnTo>
                  <a:pt x="10271" y="1271"/>
                </a:lnTo>
                <a:lnTo>
                  <a:pt x="10271" y="0"/>
                </a:lnTo>
                <a:lnTo>
                  <a:pt x="0" y="0"/>
                </a:lnTo>
                <a:lnTo>
                  <a:pt x="0" y="1271"/>
                </a:lnTo>
                <a:close/>
              </a:path>
            </a:pathLst>
          </a:custGeom>
          <a:solidFill>
            <a:srgbClr val="d0d8e8"/>
          </a:solidFill>
          <a:ln w="0">
            <a:noFill/>
          </a:ln>
        </p:spPr>
      </p:sp>
      <p:sp>
        <p:nvSpPr>
          <p:cNvPr id="380" name="Freeform 28"/>
          <p:cNvSpPr/>
          <p:nvPr/>
        </p:nvSpPr>
        <p:spPr>
          <a:xfrm>
            <a:off x="5303520" y="3791160"/>
            <a:ext cx="6675840" cy="457920"/>
          </a:xfrm>
          <a:custGeom>
            <a:avLst/>
            <a:gdLst/>
            <a:ahLst/>
            <a:rect l="0" t="0" r="r" b="b"/>
            <a:pathLst>
              <a:path w="18544" h="1272">
                <a:moveTo>
                  <a:pt x="0" y="1271"/>
                </a:moveTo>
                <a:lnTo>
                  <a:pt x="18543" y="1271"/>
                </a:lnTo>
                <a:lnTo>
                  <a:pt x="18543" y="0"/>
                </a:lnTo>
                <a:lnTo>
                  <a:pt x="0" y="0"/>
                </a:lnTo>
                <a:lnTo>
                  <a:pt x="0" y="1271"/>
                </a:lnTo>
                <a:close/>
              </a:path>
            </a:pathLst>
          </a:custGeom>
          <a:solidFill>
            <a:srgbClr val="d0d8e8"/>
          </a:solidFill>
          <a:ln w="0">
            <a:noFill/>
          </a:ln>
        </p:spPr>
      </p:sp>
      <p:sp>
        <p:nvSpPr>
          <p:cNvPr id="381" name="Freeform 29"/>
          <p:cNvSpPr/>
          <p:nvPr/>
        </p:nvSpPr>
        <p:spPr>
          <a:xfrm>
            <a:off x="183240" y="4248360"/>
            <a:ext cx="1424160" cy="457920"/>
          </a:xfrm>
          <a:custGeom>
            <a:avLst/>
            <a:gdLst/>
            <a:ahLst/>
            <a:rect l="0" t="0" r="r" b="b"/>
            <a:pathLst>
              <a:path w="3956" h="1272">
                <a:moveTo>
                  <a:pt x="0" y="1271"/>
                </a:moveTo>
                <a:lnTo>
                  <a:pt x="3955" y="1271"/>
                </a:lnTo>
                <a:lnTo>
                  <a:pt x="3955" y="0"/>
                </a:lnTo>
                <a:lnTo>
                  <a:pt x="0" y="0"/>
                </a:lnTo>
                <a:lnTo>
                  <a:pt x="0" y="1271"/>
                </a:lnTo>
                <a:close/>
              </a:path>
            </a:pathLst>
          </a:custGeom>
          <a:solidFill>
            <a:srgbClr val="e9edf4"/>
          </a:solidFill>
          <a:ln w="0">
            <a:noFill/>
          </a:ln>
        </p:spPr>
      </p:sp>
      <p:sp>
        <p:nvSpPr>
          <p:cNvPr id="382" name="Freeform 30"/>
          <p:cNvSpPr/>
          <p:nvPr/>
        </p:nvSpPr>
        <p:spPr>
          <a:xfrm>
            <a:off x="1606320" y="4248360"/>
            <a:ext cx="3697920" cy="457920"/>
          </a:xfrm>
          <a:custGeom>
            <a:avLst/>
            <a:gdLst/>
            <a:ahLst/>
            <a:rect l="0" t="0" r="r" b="b"/>
            <a:pathLst>
              <a:path w="10272" h="1272">
                <a:moveTo>
                  <a:pt x="0" y="1271"/>
                </a:moveTo>
                <a:lnTo>
                  <a:pt x="10271" y="1271"/>
                </a:lnTo>
                <a:lnTo>
                  <a:pt x="10271" y="0"/>
                </a:lnTo>
                <a:lnTo>
                  <a:pt x="0" y="0"/>
                </a:lnTo>
                <a:lnTo>
                  <a:pt x="0" y="1271"/>
                </a:lnTo>
                <a:close/>
              </a:path>
            </a:pathLst>
          </a:custGeom>
          <a:solidFill>
            <a:srgbClr val="e9edf4"/>
          </a:solidFill>
          <a:ln w="0">
            <a:noFill/>
          </a:ln>
        </p:spPr>
      </p:sp>
      <p:sp>
        <p:nvSpPr>
          <p:cNvPr id="383" name="Freeform 31"/>
          <p:cNvSpPr/>
          <p:nvPr/>
        </p:nvSpPr>
        <p:spPr>
          <a:xfrm>
            <a:off x="5303520" y="4248360"/>
            <a:ext cx="6675840" cy="457920"/>
          </a:xfrm>
          <a:custGeom>
            <a:avLst/>
            <a:gdLst/>
            <a:ahLst/>
            <a:rect l="0" t="0" r="r" b="b"/>
            <a:pathLst>
              <a:path w="18544" h="1272">
                <a:moveTo>
                  <a:pt x="0" y="1271"/>
                </a:moveTo>
                <a:lnTo>
                  <a:pt x="18543" y="1271"/>
                </a:lnTo>
                <a:lnTo>
                  <a:pt x="18543" y="0"/>
                </a:lnTo>
                <a:lnTo>
                  <a:pt x="0" y="0"/>
                </a:lnTo>
                <a:lnTo>
                  <a:pt x="0" y="1271"/>
                </a:lnTo>
                <a:close/>
              </a:path>
            </a:pathLst>
          </a:custGeom>
          <a:solidFill>
            <a:srgbClr val="e9edf4"/>
          </a:solidFill>
          <a:ln w="0">
            <a:noFill/>
          </a:ln>
        </p:spPr>
      </p:sp>
      <p:sp>
        <p:nvSpPr>
          <p:cNvPr id="384" name="Line 32"/>
          <p:cNvSpPr/>
          <p:nvPr/>
        </p:nvSpPr>
        <p:spPr>
          <a:xfrm>
            <a:off x="1606320" y="767520"/>
            <a:ext cx="0" cy="394452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Line 33"/>
          <p:cNvSpPr/>
          <p:nvPr/>
        </p:nvSpPr>
        <p:spPr>
          <a:xfrm>
            <a:off x="5303520" y="767520"/>
            <a:ext cx="0" cy="394452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6" name="Line 34"/>
          <p:cNvSpPr/>
          <p:nvPr/>
        </p:nvSpPr>
        <p:spPr>
          <a:xfrm>
            <a:off x="177120" y="1230840"/>
            <a:ext cx="11807640" cy="0"/>
          </a:xfrm>
          <a:prstGeom prst="line">
            <a:avLst/>
          </a:prstGeom>
          <a:ln w="37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7" name="Line 35"/>
          <p:cNvSpPr/>
          <p:nvPr/>
        </p:nvSpPr>
        <p:spPr>
          <a:xfrm>
            <a:off x="177120" y="1688040"/>
            <a:ext cx="11807640" cy="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8" name="Line 36"/>
          <p:cNvSpPr/>
          <p:nvPr/>
        </p:nvSpPr>
        <p:spPr>
          <a:xfrm>
            <a:off x="177120" y="2511000"/>
            <a:ext cx="11807640" cy="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Line 37"/>
          <p:cNvSpPr/>
          <p:nvPr/>
        </p:nvSpPr>
        <p:spPr>
          <a:xfrm>
            <a:off x="177120" y="3333960"/>
            <a:ext cx="11807640" cy="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0" name="Line 38"/>
          <p:cNvSpPr/>
          <p:nvPr/>
        </p:nvSpPr>
        <p:spPr>
          <a:xfrm>
            <a:off x="177120" y="3791160"/>
            <a:ext cx="11807640" cy="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Line 39"/>
          <p:cNvSpPr/>
          <p:nvPr/>
        </p:nvSpPr>
        <p:spPr>
          <a:xfrm>
            <a:off x="177120" y="4248360"/>
            <a:ext cx="11807640" cy="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Line 40"/>
          <p:cNvSpPr/>
          <p:nvPr/>
        </p:nvSpPr>
        <p:spPr>
          <a:xfrm>
            <a:off x="183240" y="767520"/>
            <a:ext cx="0" cy="394452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3" name="Line 41"/>
          <p:cNvSpPr/>
          <p:nvPr/>
        </p:nvSpPr>
        <p:spPr>
          <a:xfrm>
            <a:off x="11978640" y="767520"/>
            <a:ext cx="0" cy="394452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Line 42"/>
          <p:cNvSpPr/>
          <p:nvPr/>
        </p:nvSpPr>
        <p:spPr>
          <a:xfrm>
            <a:off x="177120" y="773640"/>
            <a:ext cx="11807640" cy="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Line 43"/>
          <p:cNvSpPr/>
          <p:nvPr/>
        </p:nvSpPr>
        <p:spPr>
          <a:xfrm>
            <a:off x="177120" y="4705560"/>
            <a:ext cx="11807640" cy="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TextShape 44"/>
          <p:cNvSpPr txBox="1"/>
          <p:nvPr/>
        </p:nvSpPr>
        <p:spPr>
          <a:xfrm>
            <a:off x="183600" y="160560"/>
            <a:ext cx="885780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２．</a:t>
            </a:r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25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年</a:t>
            </a:r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3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月～資料の改廃内容：</a:t>
            </a:r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RPA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作成版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397" name="TextShape 45"/>
          <p:cNvSpPr txBox="1"/>
          <p:nvPr/>
        </p:nvSpPr>
        <p:spPr>
          <a:xfrm>
            <a:off x="285840" y="841680"/>
            <a:ext cx="122004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ffffff"/>
                </a:solidFill>
                <a:latin typeface="MeiryoUI"/>
              </a:rPr>
              <a:t>資料種別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398" name="TextShape 46"/>
          <p:cNvSpPr txBox="1"/>
          <p:nvPr/>
        </p:nvSpPr>
        <p:spPr>
          <a:xfrm>
            <a:off x="2928960" y="841680"/>
            <a:ext cx="122004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ffffff"/>
                </a:solidFill>
                <a:latin typeface="MeiryoUI"/>
              </a:rPr>
              <a:t>シート名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399" name="TextShape 47"/>
          <p:cNvSpPr txBox="1"/>
          <p:nvPr/>
        </p:nvSpPr>
        <p:spPr>
          <a:xfrm>
            <a:off x="8336520" y="841680"/>
            <a:ext cx="61020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ffffff"/>
                </a:solidFill>
                <a:latin typeface="MeiryoUI"/>
              </a:rPr>
              <a:t>内容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00" name="TextShape 48"/>
          <p:cNvSpPr txBox="1"/>
          <p:nvPr/>
        </p:nvSpPr>
        <p:spPr>
          <a:xfrm>
            <a:off x="590760" y="1298880"/>
            <a:ext cx="61020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週間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01" name="TextShape 49"/>
          <p:cNvSpPr txBox="1"/>
          <p:nvPr/>
        </p:nvSpPr>
        <p:spPr>
          <a:xfrm>
            <a:off x="2595240" y="1298880"/>
            <a:ext cx="213444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サマリーシート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02" name="TextShape 50"/>
          <p:cNvSpPr txBox="1"/>
          <p:nvPr/>
        </p:nvSpPr>
        <p:spPr>
          <a:xfrm>
            <a:off x="5497920" y="1298880"/>
            <a:ext cx="762048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「キャッシュレス・アプリ」と「エコだ値検証」を</a:t>
            </a:r>
            <a:r>
              <a:rPr b="1" lang="zh-CN" sz="2000" spc="-1" strike="noStrike">
                <a:solidFill>
                  <a:srgbClr val="c00000"/>
                </a:solidFill>
                <a:latin typeface="MeiryoUI"/>
              </a:rPr>
              <a:t>追加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03" name="TextShape 51"/>
          <p:cNvSpPr txBox="1"/>
          <p:nvPr/>
        </p:nvSpPr>
        <p:spPr>
          <a:xfrm>
            <a:off x="590760" y="1939320"/>
            <a:ext cx="61020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週間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04" name="TextShape 52"/>
          <p:cNvSpPr txBox="1"/>
          <p:nvPr/>
        </p:nvSpPr>
        <p:spPr>
          <a:xfrm>
            <a:off x="2054160" y="1756440"/>
            <a:ext cx="309744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日別・時間別</a:t>
            </a:r>
            <a:r>
              <a:rPr b="1" lang="en-US" sz="2000" spc="-1" strike="noStrike">
                <a:solidFill>
                  <a:srgbClr val="262626"/>
                </a:solidFill>
                <a:latin typeface="Meiryo UI"/>
              </a:rPr>
              <a:t>6</a:t>
            </a:r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週推移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05" name="TextShape 53"/>
          <p:cNvSpPr txBox="1"/>
          <p:nvPr/>
        </p:nvSpPr>
        <p:spPr>
          <a:xfrm>
            <a:off x="2645280" y="2122200"/>
            <a:ext cx="201312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カウンター</a:t>
            </a:r>
            <a:r>
              <a:rPr b="1" lang="en-US" sz="2000" spc="-1" strike="noStrike">
                <a:solidFill>
                  <a:srgbClr val="262626"/>
                </a:solidFill>
                <a:latin typeface="Meiryo UI"/>
              </a:rPr>
              <a:t>FF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06" name="TextShape 54"/>
          <p:cNvSpPr txBox="1"/>
          <p:nvPr/>
        </p:nvSpPr>
        <p:spPr>
          <a:xfrm>
            <a:off x="5497920" y="1939320"/>
            <a:ext cx="61020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0070c0"/>
                </a:solidFill>
                <a:latin typeface="MeiryoUI"/>
              </a:rPr>
              <a:t>廃止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07" name="TextShape 55"/>
          <p:cNvSpPr txBox="1"/>
          <p:nvPr/>
        </p:nvSpPr>
        <p:spPr>
          <a:xfrm>
            <a:off x="590760" y="2761920"/>
            <a:ext cx="61020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週間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08" name="TextShape 56"/>
          <p:cNvSpPr txBox="1"/>
          <p:nvPr/>
        </p:nvSpPr>
        <p:spPr>
          <a:xfrm>
            <a:off x="2845080" y="2579040"/>
            <a:ext cx="122004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買上点数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09" name="TextShape 57"/>
          <p:cNvSpPr txBox="1"/>
          <p:nvPr/>
        </p:nvSpPr>
        <p:spPr>
          <a:xfrm>
            <a:off x="3020400" y="2945520"/>
            <a:ext cx="91512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品揃え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10" name="TextShape 58"/>
          <p:cNvSpPr txBox="1"/>
          <p:nvPr/>
        </p:nvSpPr>
        <p:spPr>
          <a:xfrm>
            <a:off x="5497920" y="2761920"/>
            <a:ext cx="304848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0070c0"/>
                </a:solidFill>
                <a:latin typeface="MeiryoUI"/>
              </a:rPr>
              <a:t>廃止</a:t>
            </a:r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し月間資料に集約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11" name="TextShape 59"/>
          <p:cNvSpPr txBox="1"/>
          <p:nvPr/>
        </p:nvSpPr>
        <p:spPr>
          <a:xfrm>
            <a:off x="590760" y="3402720"/>
            <a:ext cx="61020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週間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12" name="TextShape 60"/>
          <p:cNvSpPr txBox="1"/>
          <p:nvPr/>
        </p:nvSpPr>
        <p:spPr>
          <a:xfrm>
            <a:off x="3090240" y="3402720"/>
            <a:ext cx="91512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アプリ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13" name="TextShape 61"/>
          <p:cNvSpPr txBox="1"/>
          <p:nvPr/>
        </p:nvSpPr>
        <p:spPr>
          <a:xfrm>
            <a:off x="5497920" y="3402720"/>
            <a:ext cx="396288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0070c0"/>
                </a:solidFill>
                <a:latin typeface="MeiryoUI"/>
              </a:rPr>
              <a:t>廃止</a:t>
            </a:r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しサマリーシートに統合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14" name="TextShape 62"/>
          <p:cNvSpPr txBox="1"/>
          <p:nvPr/>
        </p:nvSpPr>
        <p:spPr>
          <a:xfrm>
            <a:off x="704880" y="3859920"/>
            <a:ext cx="34956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000" spc="-1" strike="noStrike">
                <a:solidFill>
                  <a:srgbClr val="262626"/>
                </a:solidFill>
                <a:latin typeface="Meiryo UI"/>
              </a:rPr>
              <a:t>AI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15" name="TextShape 63"/>
          <p:cNvSpPr txBox="1"/>
          <p:nvPr/>
        </p:nvSpPr>
        <p:spPr>
          <a:xfrm>
            <a:off x="2692800" y="3859920"/>
            <a:ext cx="152460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販売＋在庫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16" name="TextShape 64"/>
          <p:cNvSpPr txBox="1"/>
          <p:nvPr/>
        </p:nvSpPr>
        <p:spPr>
          <a:xfrm>
            <a:off x="5497920" y="3859920"/>
            <a:ext cx="576972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000" spc="-1" strike="noStrike">
                <a:solidFill>
                  <a:srgbClr val="262626"/>
                </a:solidFill>
                <a:latin typeface="Meiryo UI"/>
              </a:rPr>
              <a:t>2</a:t>
            </a:r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シート（販売・在庫）を１シートの統合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17" name="TextShape 65"/>
          <p:cNvSpPr txBox="1"/>
          <p:nvPr/>
        </p:nvSpPr>
        <p:spPr>
          <a:xfrm>
            <a:off x="590760" y="4317480"/>
            <a:ext cx="61020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中間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18" name="TextShape 66"/>
          <p:cNvSpPr txBox="1"/>
          <p:nvPr/>
        </p:nvSpPr>
        <p:spPr>
          <a:xfrm>
            <a:off x="2776320" y="4317480"/>
            <a:ext cx="152460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予算シート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19" name="Freeform 67"/>
          <p:cNvSpPr/>
          <p:nvPr/>
        </p:nvSpPr>
        <p:spPr>
          <a:xfrm>
            <a:off x="182880" y="5289480"/>
            <a:ext cx="2268360" cy="860400"/>
          </a:xfrm>
          <a:custGeom>
            <a:avLst/>
            <a:gdLst/>
            <a:ahLst/>
            <a:rect l="0" t="0" r="r" b="b"/>
            <a:pathLst>
              <a:path w="6301" h="2390">
                <a:moveTo>
                  <a:pt x="0" y="2389"/>
                </a:moveTo>
                <a:lnTo>
                  <a:pt x="6300" y="2389"/>
                </a:lnTo>
                <a:lnTo>
                  <a:pt x="6300" y="0"/>
                </a:lnTo>
                <a:lnTo>
                  <a:pt x="0" y="0"/>
                </a:lnTo>
                <a:lnTo>
                  <a:pt x="0" y="2389"/>
                </a:lnTo>
                <a:close/>
              </a:path>
            </a:pathLst>
          </a:custGeom>
          <a:solidFill>
            <a:srgbClr val="008080"/>
          </a:solidFill>
          <a:ln w="0">
            <a:noFill/>
          </a:ln>
        </p:spPr>
      </p:sp>
      <p:sp>
        <p:nvSpPr>
          <p:cNvPr id="420" name="TextShape 68"/>
          <p:cNvSpPr txBox="1"/>
          <p:nvPr/>
        </p:nvSpPr>
        <p:spPr>
          <a:xfrm>
            <a:off x="5497920" y="4317480"/>
            <a:ext cx="426780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翌月の棚卸し有・無し欄の削除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21" name="TextShape 69"/>
          <p:cNvSpPr txBox="1"/>
          <p:nvPr/>
        </p:nvSpPr>
        <p:spPr>
          <a:xfrm>
            <a:off x="780120" y="5376960"/>
            <a:ext cx="122004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ffffff"/>
                </a:solidFill>
                <a:latin typeface="MeiryoUI"/>
              </a:rPr>
              <a:t>・改廃版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22" name="Freeform 70"/>
          <p:cNvSpPr/>
          <p:nvPr/>
        </p:nvSpPr>
        <p:spPr>
          <a:xfrm>
            <a:off x="2555640" y="5289480"/>
            <a:ext cx="9423720" cy="860400"/>
          </a:xfrm>
          <a:custGeom>
            <a:avLst/>
            <a:gdLst/>
            <a:ahLst/>
            <a:rect l="0" t="0" r="r" b="b"/>
            <a:pathLst>
              <a:path w="26177" h="2390">
                <a:moveTo>
                  <a:pt x="0" y="2389"/>
                </a:moveTo>
                <a:lnTo>
                  <a:pt x="26176" y="2389"/>
                </a:lnTo>
                <a:lnTo>
                  <a:pt x="26176" y="0"/>
                </a:lnTo>
                <a:lnTo>
                  <a:pt x="0" y="0"/>
                </a:lnTo>
                <a:lnTo>
                  <a:pt x="0" y="2389"/>
                </a:lnTo>
                <a:close/>
              </a:path>
            </a:pathLst>
          </a:custGeom>
          <a:solidFill>
            <a:srgbClr val="d7e4bd"/>
          </a:solidFill>
          <a:ln w="0">
            <a:noFill/>
          </a:ln>
        </p:spPr>
      </p:sp>
      <p:sp>
        <p:nvSpPr>
          <p:cNvPr id="423" name="TextShape 71"/>
          <p:cNvSpPr txBox="1"/>
          <p:nvPr/>
        </p:nvSpPr>
        <p:spPr>
          <a:xfrm>
            <a:off x="450720" y="5743440"/>
            <a:ext cx="213444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ffffff"/>
                </a:solidFill>
                <a:latin typeface="MeiryoUI"/>
              </a:rPr>
              <a:t>・新パスワード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24" name="Freeform 72"/>
          <p:cNvSpPr/>
          <p:nvPr/>
        </p:nvSpPr>
        <p:spPr>
          <a:xfrm>
            <a:off x="170280" y="4735080"/>
            <a:ext cx="1423800" cy="542880"/>
          </a:xfrm>
          <a:custGeom>
            <a:avLst/>
            <a:gdLst/>
            <a:ahLst/>
            <a:rect l="0" t="0" r="r" b="b"/>
            <a:pathLst>
              <a:path w="3955" h="1508">
                <a:moveTo>
                  <a:pt x="0" y="1507"/>
                </a:moveTo>
                <a:lnTo>
                  <a:pt x="3954" y="1507"/>
                </a:lnTo>
                <a:lnTo>
                  <a:pt x="3954" y="0"/>
                </a:lnTo>
                <a:lnTo>
                  <a:pt x="0" y="0"/>
                </a:lnTo>
                <a:lnTo>
                  <a:pt x="0" y="1507"/>
                </a:lnTo>
                <a:close/>
              </a:path>
            </a:pathLst>
          </a:custGeom>
          <a:solidFill>
            <a:srgbClr val="fdeada"/>
          </a:solidFill>
          <a:ln w="0">
            <a:noFill/>
          </a:ln>
        </p:spPr>
      </p:sp>
      <p:sp>
        <p:nvSpPr>
          <p:cNvPr id="425" name="Freeform 73"/>
          <p:cNvSpPr/>
          <p:nvPr/>
        </p:nvSpPr>
        <p:spPr>
          <a:xfrm>
            <a:off x="1593720" y="4735080"/>
            <a:ext cx="3801960" cy="542880"/>
          </a:xfrm>
          <a:custGeom>
            <a:avLst/>
            <a:gdLst/>
            <a:ahLst/>
            <a:rect l="0" t="0" r="r" b="b"/>
            <a:pathLst>
              <a:path w="10561" h="1508">
                <a:moveTo>
                  <a:pt x="0" y="1507"/>
                </a:moveTo>
                <a:lnTo>
                  <a:pt x="10560" y="1507"/>
                </a:lnTo>
                <a:lnTo>
                  <a:pt x="10560" y="0"/>
                </a:lnTo>
                <a:lnTo>
                  <a:pt x="0" y="0"/>
                </a:lnTo>
                <a:lnTo>
                  <a:pt x="0" y="1507"/>
                </a:lnTo>
                <a:close/>
              </a:path>
            </a:pathLst>
          </a:custGeom>
          <a:solidFill>
            <a:srgbClr val="fdeada"/>
          </a:solidFill>
          <a:ln w="0">
            <a:noFill/>
          </a:ln>
        </p:spPr>
      </p:sp>
      <p:sp>
        <p:nvSpPr>
          <p:cNvPr id="426" name="Freeform 74"/>
          <p:cNvSpPr/>
          <p:nvPr/>
        </p:nvSpPr>
        <p:spPr>
          <a:xfrm>
            <a:off x="5394960" y="4735080"/>
            <a:ext cx="6571080" cy="542880"/>
          </a:xfrm>
          <a:custGeom>
            <a:avLst/>
            <a:gdLst/>
            <a:ahLst/>
            <a:rect l="0" t="0" r="r" b="b"/>
            <a:pathLst>
              <a:path w="18253" h="1508">
                <a:moveTo>
                  <a:pt x="0" y="1507"/>
                </a:moveTo>
                <a:lnTo>
                  <a:pt x="18252" y="1507"/>
                </a:lnTo>
                <a:lnTo>
                  <a:pt x="18252" y="0"/>
                </a:lnTo>
                <a:lnTo>
                  <a:pt x="0" y="0"/>
                </a:lnTo>
                <a:lnTo>
                  <a:pt x="0" y="1507"/>
                </a:lnTo>
                <a:close/>
              </a:path>
            </a:pathLst>
          </a:custGeom>
          <a:solidFill>
            <a:srgbClr val="fdeada"/>
          </a:solidFill>
          <a:ln w="0">
            <a:noFill/>
          </a:ln>
        </p:spPr>
      </p:sp>
      <p:sp>
        <p:nvSpPr>
          <p:cNvPr id="427" name="Line 75"/>
          <p:cNvSpPr/>
          <p:nvPr/>
        </p:nvSpPr>
        <p:spPr>
          <a:xfrm>
            <a:off x="1593720" y="4728960"/>
            <a:ext cx="0" cy="56736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8" name="Line 76"/>
          <p:cNvSpPr/>
          <p:nvPr/>
        </p:nvSpPr>
        <p:spPr>
          <a:xfrm>
            <a:off x="5394960" y="4728960"/>
            <a:ext cx="0" cy="56736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9" name="Line 77"/>
          <p:cNvSpPr/>
          <p:nvPr/>
        </p:nvSpPr>
        <p:spPr>
          <a:xfrm>
            <a:off x="170280" y="4728960"/>
            <a:ext cx="0" cy="56736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0" name="Line 78"/>
          <p:cNvSpPr/>
          <p:nvPr/>
        </p:nvSpPr>
        <p:spPr>
          <a:xfrm>
            <a:off x="11965320" y="4728960"/>
            <a:ext cx="0" cy="56736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1" name="Line 79"/>
          <p:cNvSpPr/>
          <p:nvPr/>
        </p:nvSpPr>
        <p:spPr>
          <a:xfrm>
            <a:off x="163800" y="4735080"/>
            <a:ext cx="11808000" cy="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2" name="Line 80"/>
          <p:cNvSpPr/>
          <p:nvPr/>
        </p:nvSpPr>
        <p:spPr>
          <a:xfrm>
            <a:off x="163800" y="5277240"/>
            <a:ext cx="11808000" cy="0"/>
          </a:xfrm>
          <a:prstGeom prst="line">
            <a:avLst/>
          </a:prstGeom>
          <a:ln w="378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3" name="TextShape 81"/>
          <p:cNvSpPr txBox="1"/>
          <p:nvPr/>
        </p:nvSpPr>
        <p:spPr>
          <a:xfrm>
            <a:off x="5117040" y="5426280"/>
            <a:ext cx="534780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4000" spc="-1" strike="noStrike">
                <a:solidFill>
                  <a:srgbClr val="404040"/>
                </a:solidFill>
                <a:latin typeface="Meiryo UI"/>
              </a:rPr>
              <a:t>25</a:t>
            </a:r>
            <a:r>
              <a:rPr b="1" lang="zh-CN" sz="4000" spc="-1" strike="noStrike">
                <a:solidFill>
                  <a:srgbClr val="404040"/>
                </a:solidFill>
                <a:latin typeface="MeiryoUI"/>
              </a:rPr>
              <a:t>年</a:t>
            </a:r>
            <a:r>
              <a:rPr b="1" lang="en-US" sz="4000" spc="-1" strike="noStrike">
                <a:solidFill>
                  <a:srgbClr val="404040"/>
                </a:solidFill>
                <a:latin typeface="Meiryo UI"/>
              </a:rPr>
              <a:t>3</a:t>
            </a:r>
            <a:r>
              <a:rPr b="1" lang="zh-CN" sz="4000" spc="-1" strike="noStrike">
                <a:solidFill>
                  <a:srgbClr val="404040"/>
                </a:solidFill>
                <a:latin typeface="MeiryoUI"/>
              </a:rPr>
              <a:t>月</a:t>
            </a:r>
            <a:r>
              <a:rPr b="1" lang="en-US" sz="4000" spc="-1" strike="noStrike">
                <a:solidFill>
                  <a:srgbClr val="404040"/>
                </a:solidFill>
                <a:latin typeface="Meiryo UI"/>
              </a:rPr>
              <a:t>3</a:t>
            </a:r>
            <a:r>
              <a:rPr b="1" lang="zh-CN" sz="4000" spc="-1" strike="noStrike">
                <a:solidFill>
                  <a:srgbClr val="404040"/>
                </a:solidFill>
                <a:latin typeface="MeiryoUI"/>
              </a:rPr>
              <a:t>日</a:t>
            </a:r>
            <a:r>
              <a:rPr b="1" lang="en-US" sz="4000" spc="-1" strike="noStrike">
                <a:solidFill>
                  <a:srgbClr val="404040"/>
                </a:solidFill>
                <a:latin typeface="Meiryo UI"/>
              </a:rPr>
              <a:t>(</a:t>
            </a:r>
            <a:r>
              <a:rPr b="1" lang="zh-CN" sz="4000" spc="-1" strike="noStrike">
                <a:solidFill>
                  <a:srgbClr val="404040"/>
                </a:solidFill>
                <a:latin typeface="MeiryoUI"/>
              </a:rPr>
              <a:t>月</a:t>
            </a:r>
            <a:r>
              <a:rPr b="1" lang="en-US" sz="4000" spc="-1" strike="noStrike">
                <a:solidFill>
                  <a:srgbClr val="404040"/>
                </a:solidFill>
                <a:latin typeface="Meiryo UI"/>
              </a:rPr>
              <a:t>)</a:t>
            </a:r>
            <a:endParaRPr b="0" lang="en-US" sz="4000" spc="-1" strike="noStrike">
              <a:latin typeface="Times New Roman"/>
            </a:endParaRPr>
          </a:p>
        </p:txBody>
      </p:sp>
      <p:sp>
        <p:nvSpPr>
          <p:cNvPr id="434" name="TextShape 82"/>
          <p:cNvSpPr txBox="1"/>
          <p:nvPr/>
        </p:nvSpPr>
        <p:spPr>
          <a:xfrm>
            <a:off x="425160" y="4846680"/>
            <a:ext cx="91512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全資料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35" name="TextShape 83"/>
          <p:cNvSpPr txBox="1"/>
          <p:nvPr/>
        </p:nvSpPr>
        <p:spPr>
          <a:xfrm>
            <a:off x="2685600" y="4846680"/>
            <a:ext cx="165960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000" spc="-1" strike="noStrike">
                <a:solidFill>
                  <a:srgbClr val="262626"/>
                </a:solidFill>
                <a:latin typeface="MeiryoUI"/>
              </a:rPr>
              <a:t>★</a:t>
            </a:r>
            <a:r>
              <a:rPr b="1" lang="en-US" sz="2000" spc="-1" strike="noStrike">
                <a:solidFill>
                  <a:srgbClr val="262626"/>
                </a:solidFill>
                <a:latin typeface="Meiryo UI"/>
              </a:rPr>
              <a:t>FC</a:t>
            </a:r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入力★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436" name="TextShape 84"/>
          <p:cNvSpPr txBox="1"/>
          <p:nvPr/>
        </p:nvSpPr>
        <p:spPr>
          <a:xfrm>
            <a:off x="5487120" y="4846680"/>
            <a:ext cx="645012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パスワード変更（アルファベット＋数字</a:t>
            </a:r>
            <a:r>
              <a:rPr b="1" lang="en-US" sz="2000" spc="-1" strike="noStrike">
                <a:solidFill>
                  <a:srgbClr val="262626"/>
                </a:solidFill>
                <a:latin typeface="Meiryo UI"/>
              </a:rPr>
              <a:t>4</a:t>
            </a:r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桁）</a:t>
            </a:r>
            <a:endParaRPr b="0" lang="en-US" sz="2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Freeform 1"/>
          <p:cNvSpPr/>
          <p:nvPr/>
        </p:nvSpPr>
        <p:spPr>
          <a:xfrm>
            <a:off x="0" y="-360"/>
            <a:ext cx="12192480" cy="6858720"/>
          </a:xfrm>
          <a:custGeom>
            <a:avLst/>
            <a:gdLst/>
            <a:ahLst/>
            <a:rect l="0" t="0" r="r" b="b"/>
            <a:pathLst>
              <a:path w="33868" h="19052">
                <a:moveTo>
                  <a:pt x="0" y="19051"/>
                </a:moveTo>
                <a:lnTo>
                  <a:pt x="33867" y="19051"/>
                </a:lnTo>
                <a:lnTo>
                  <a:pt x="33867" y="0"/>
                </a:lnTo>
                <a:lnTo>
                  <a:pt x="0" y="0"/>
                </a:lnTo>
                <a:lnTo>
                  <a:pt x="0" y="190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pic>
        <p:nvPicPr>
          <p:cNvPr id="438" name="" descr=""/>
          <p:cNvPicPr/>
          <p:nvPr/>
        </p:nvPicPr>
        <p:blipFill>
          <a:blip r:embed="rId1"/>
          <a:stretch/>
        </p:blipFill>
        <p:spPr>
          <a:xfrm>
            <a:off x="175320" y="586800"/>
            <a:ext cx="11841120" cy="209880"/>
          </a:xfrm>
          <a:prstGeom prst="rect">
            <a:avLst/>
          </a:prstGeom>
          <a:ln w="0">
            <a:noFill/>
          </a:ln>
        </p:spPr>
      </p:pic>
      <p:pic>
        <p:nvPicPr>
          <p:cNvPr id="439" name="" descr=""/>
          <p:cNvPicPr/>
          <p:nvPr/>
        </p:nvPicPr>
        <p:blipFill>
          <a:blip r:embed="rId2"/>
          <a:stretch/>
        </p:blipFill>
        <p:spPr>
          <a:xfrm>
            <a:off x="5122080" y="6681240"/>
            <a:ext cx="1947240" cy="115560"/>
          </a:xfrm>
          <a:prstGeom prst="rect">
            <a:avLst/>
          </a:prstGeom>
          <a:ln w="0">
            <a:noFill/>
          </a:ln>
        </p:spPr>
      </p:pic>
      <p:sp>
        <p:nvSpPr>
          <p:cNvPr id="440" name="Freeform 2"/>
          <p:cNvSpPr/>
          <p:nvPr/>
        </p:nvSpPr>
        <p:spPr>
          <a:xfrm>
            <a:off x="151560" y="6209280"/>
            <a:ext cx="1620720" cy="360360"/>
          </a:xfrm>
          <a:custGeom>
            <a:avLst/>
            <a:gdLst/>
            <a:ahLst/>
            <a:rect l="0" t="0" r="r" b="b"/>
            <a:pathLst>
              <a:path w="4502" h="1001">
                <a:moveTo>
                  <a:pt x="0" y="1000"/>
                </a:moveTo>
                <a:lnTo>
                  <a:pt x="4501" y="1000"/>
                </a:lnTo>
                <a:lnTo>
                  <a:pt x="4501" y="0"/>
                </a:lnTo>
                <a:lnTo>
                  <a:pt x="0" y="0"/>
                </a:lnTo>
                <a:lnTo>
                  <a:pt x="0" y="1000"/>
                </a:lnTo>
                <a:close/>
              </a:path>
            </a:pathLst>
          </a:custGeom>
          <a:solidFill>
            <a:srgbClr val="ffffff"/>
          </a:solidFill>
          <a:ln w="31680">
            <a:solidFill>
              <a:srgbClr val="ff0000"/>
            </a:solidFill>
            <a:round/>
          </a:ln>
        </p:spPr>
      </p:sp>
      <p:sp>
        <p:nvSpPr>
          <p:cNvPr id="441" name="TextShape 3"/>
          <p:cNvSpPr txBox="1"/>
          <p:nvPr/>
        </p:nvSpPr>
        <p:spPr>
          <a:xfrm>
            <a:off x="555840" y="627012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ff0000"/>
                </a:solidFill>
                <a:latin typeface="Meiryo"/>
              </a:rPr>
              <a:t>社内限り</a:t>
            </a:r>
            <a:endParaRPr b="0" lang="en-US" sz="1400" spc="-1" strike="noStrike">
              <a:latin typeface="Times New Roman"/>
            </a:endParaRPr>
          </a:p>
        </p:txBody>
      </p:sp>
      <p:pic>
        <p:nvPicPr>
          <p:cNvPr id="442" name="" descr=""/>
          <p:cNvPicPr/>
          <p:nvPr/>
        </p:nvPicPr>
        <p:blipFill>
          <a:blip r:embed="rId3"/>
          <a:stretch/>
        </p:blipFill>
        <p:spPr>
          <a:xfrm>
            <a:off x="11428560" y="149400"/>
            <a:ext cx="411120" cy="432360"/>
          </a:xfrm>
          <a:prstGeom prst="rect">
            <a:avLst/>
          </a:prstGeom>
          <a:ln w="0">
            <a:noFill/>
          </a:ln>
        </p:spPr>
      </p:pic>
      <p:sp>
        <p:nvSpPr>
          <p:cNvPr id="443" name="Freeform 4"/>
          <p:cNvSpPr/>
          <p:nvPr/>
        </p:nvSpPr>
        <p:spPr>
          <a:xfrm>
            <a:off x="9806040" y="204840"/>
            <a:ext cx="1497240" cy="361800"/>
          </a:xfrm>
          <a:custGeom>
            <a:avLst/>
            <a:gdLst/>
            <a:ahLst/>
            <a:rect l="0" t="0" r="r" b="b"/>
            <a:pathLst>
              <a:path w="4159" h="1005">
                <a:moveTo>
                  <a:pt x="0" y="1004"/>
                </a:moveTo>
                <a:lnTo>
                  <a:pt x="4158" y="1004"/>
                </a:lnTo>
                <a:lnTo>
                  <a:pt x="4158" y="0"/>
                </a:lnTo>
                <a:lnTo>
                  <a:pt x="0" y="0"/>
                </a:lnTo>
                <a:lnTo>
                  <a:pt x="0" y="1004"/>
                </a:lnTo>
                <a:close/>
              </a:path>
            </a:pathLst>
          </a:custGeom>
          <a:solidFill>
            <a:srgbClr val="ffffff"/>
          </a:solidFill>
          <a:ln w="18720">
            <a:solidFill>
              <a:srgbClr val="ff0000"/>
            </a:solidFill>
            <a:round/>
          </a:ln>
        </p:spPr>
      </p:sp>
      <p:sp>
        <p:nvSpPr>
          <p:cNvPr id="444" name="TextShape 5"/>
          <p:cNvSpPr txBox="1"/>
          <p:nvPr/>
        </p:nvSpPr>
        <p:spPr>
          <a:xfrm>
            <a:off x="9143280" y="6356520"/>
            <a:ext cx="23598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明日の笑顔を</a:t>
            </a:r>
            <a:r>
              <a:rPr b="0" lang="en-US" sz="1600" spc="-1" strike="noStrike">
                <a:solidFill>
                  <a:srgbClr val="000000"/>
                </a:solidFill>
                <a:latin typeface="UD Digi Kyokasho NPR"/>
              </a:rPr>
              <a:t> </a:t>
            </a:r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共に創る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445" name="TextShape 6"/>
          <p:cNvSpPr txBox="1"/>
          <p:nvPr/>
        </p:nvSpPr>
        <p:spPr>
          <a:xfrm>
            <a:off x="10151280" y="262800"/>
            <a:ext cx="48240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0000"/>
                </a:solidFill>
                <a:latin typeface="Meiryo"/>
              </a:rPr>
              <a:t>秘</a:t>
            </a:r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（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446" name="TextShape 7"/>
          <p:cNvSpPr txBox="1"/>
          <p:nvPr/>
        </p:nvSpPr>
        <p:spPr>
          <a:xfrm>
            <a:off x="10671120" y="391320"/>
            <a:ext cx="10188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700" spc="-1" strike="noStrike">
                <a:solidFill>
                  <a:srgbClr val="ff0000"/>
                </a:solidFill>
                <a:latin typeface="Meiryo"/>
              </a:rPr>
              <a:t> </a:t>
            </a:r>
            <a:endParaRPr b="0" lang="en-US" sz="700" spc="-1" strike="noStrike">
              <a:latin typeface="Times New Roman"/>
            </a:endParaRPr>
          </a:p>
        </p:txBody>
      </p:sp>
      <p:sp>
        <p:nvSpPr>
          <p:cNvPr id="447" name="TextShape 8"/>
          <p:cNvSpPr txBox="1"/>
          <p:nvPr/>
        </p:nvSpPr>
        <p:spPr>
          <a:xfrm>
            <a:off x="10707480" y="249840"/>
            <a:ext cx="2541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0000"/>
                </a:solidFill>
                <a:latin typeface="Meiryo"/>
              </a:rPr>
              <a:t>B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448" name="TextShape 9"/>
          <p:cNvSpPr txBox="1"/>
          <p:nvPr/>
        </p:nvSpPr>
        <p:spPr>
          <a:xfrm>
            <a:off x="10925640" y="262800"/>
            <a:ext cx="24156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）</a:t>
            </a:r>
            <a:endParaRPr b="0" lang="en-US" sz="1600" spc="-1" strike="noStrike">
              <a:latin typeface="Times New Roman"/>
            </a:endParaRPr>
          </a:p>
        </p:txBody>
      </p:sp>
      <p:pic>
        <p:nvPicPr>
          <p:cNvPr id="449" name="" descr=""/>
          <p:cNvPicPr/>
          <p:nvPr/>
        </p:nvPicPr>
        <p:blipFill>
          <a:blip r:embed="rId4"/>
          <a:stretch/>
        </p:blipFill>
        <p:spPr>
          <a:xfrm>
            <a:off x="4960800" y="6669000"/>
            <a:ext cx="2221560" cy="121680"/>
          </a:xfrm>
          <a:prstGeom prst="rect">
            <a:avLst/>
          </a:prstGeom>
          <a:ln w="0">
            <a:noFill/>
          </a:ln>
        </p:spPr>
      </p:pic>
      <p:sp>
        <p:nvSpPr>
          <p:cNvPr id="450" name="TextShape 10"/>
          <p:cNvSpPr txBox="1"/>
          <p:nvPr/>
        </p:nvSpPr>
        <p:spPr>
          <a:xfrm>
            <a:off x="8179200" y="303480"/>
            <a:ext cx="15246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100" spc="-1" strike="noStrike">
                <a:solidFill>
                  <a:srgbClr val="000000"/>
                </a:solidFill>
                <a:latin typeface="Meiryo"/>
              </a:rPr>
              <a:t>フィールドサポート部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451" name="Freeform 11"/>
          <p:cNvSpPr/>
          <p:nvPr/>
        </p:nvSpPr>
        <p:spPr>
          <a:xfrm>
            <a:off x="354960" y="1825560"/>
            <a:ext cx="11482560" cy="4094280"/>
          </a:xfrm>
          <a:custGeom>
            <a:avLst/>
            <a:gdLst/>
            <a:ahLst/>
            <a:rect l="0" t="0" r="r" b="b"/>
            <a:pathLst>
              <a:path w="31896" h="11373">
                <a:moveTo>
                  <a:pt x="0" y="11372"/>
                </a:moveTo>
                <a:lnTo>
                  <a:pt x="31895" y="11372"/>
                </a:lnTo>
                <a:lnTo>
                  <a:pt x="31895" y="0"/>
                </a:lnTo>
                <a:lnTo>
                  <a:pt x="0" y="0"/>
                </a:lnTo>
                <a:lnTo>
                  <a:pt x="0" y="11372"/>
                </a:lnTo>
                <a:close/>
              </a:path>
            </a:pathLst>
          </a:custGeom>
          <a:solidFill>
            <a:srgbClr val="dbeef4"/>
          </a:solidFill>
          <a:ln w="0">
            <a:noFill/>
          </a:ln>
        </p:spPr>
      </p:sp>
      <p:sp>
        <p:nvSpPr>
          <p:cNvPr id="452" name="TextShape 12"/>
          <p:cNvSpPr txBox="1"/>
          <p:nvPr/>
        </p:nvSpPr>
        <p:spPr>
          <a:xfrm>
            <a:off x="183600" y="160560"/>
            <a:ext cx="284904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資料改廃の背景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453" name="Freeform 13"/>
          <p:cNvSpPr/>
          <p:nvPr/>
        </p:nvSpPr>
        <p:spPr>
          <a:xfrm>
            <a:off x="447120" y="2445840"/>
            <a:ext cx="2538000" cy="26640"/>
          </a:xfrm>
          <a:custGeom>
            <a:avLst/>
            <a:gdLst/>
            <a:ahLst/>
            <a:rect l="0" t="0" r="r" b="b"/>
            <a:pathLst>
              <a:path w="7050" h="74">
                <a:moveTo>
                  <a:pt x="0" y="73"/>
                </a:moveTo>
                <a:lnTo>
                  <a:pt x="7049" y="73"/>
                </a:lnTo>
                <a:lnTo>
                  <a:pt x="7049" y="0"/>
                </a:lnTo>
                <a:lnTo>
                  <a:pt x="0" y="0"/>
                </a:lnTo>
                <a:lnTo>
                  <a:pt x="0" y="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454" name="TextShape 14"/>
          <p:cNvSpPr txBox="1"/>
          <p:nvPr/>
        </p:nvSpPr>
        <p:spPr>
          <a:xfrm>
            <a:off x="447120" y="1925280"/>
            <a:ext cx="2604600" cy="59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3600" spc="-1" strike="noStrike">
                <a:solidFill>
                  <a:srgbClr val="000000"/>
                </a:solidFill>
                <a:latin typeface="MSPGothic"/>
              </a:rPr>
              <a:t>❶</a:t>
            </a:r>
            <a:r>
              <a:rPr b="0" lang="zh-CN" sz="3600" spc="-1" strike="noStrike">
                <a:solidFill>
                  <a:srgbClr val="000000"/>
                </a:solidFill>
                <a:latin typeface="MSPGothic"/>
              </a:rPr>
              <a:t>使用頻度</a:t>
            </a:r>
            <a:endParaRPr b="0" lang="en-US" sz="3600" spc="-1" strike="noStrike">
              <a:latin typeface="Times New Roman"/>
            </a:endParaRPr>
          </a:p>
        </p:txBody>
      </p:sp>
      <p:sp>
        <p:nvSpPr>
          <p:cNvPr id="455" name="TextShape 15"/>
          <p:cNvSpPr txBox="1"/>
          <p:nvPr/>
        </p:nvSpPr>
        <p:spPr>
          <a:xfrm>
            <a:off x="447120" y="2523240"/>
            <a:ext cx="411156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800" spc="-1" strike="noStrike">
                <a:solidFill>
                  <a:srgbClr val="000000"/>
                </a:solidFill>
                <a:latin typeface="MSPGothic"/>
              </a:rPr>
              <a:t>例：週間資料（</a:t>
            </a:r>
            <a:r>
              <a:rPr b="0" lang="en-US" sz="2800" spc="-1" strike="noStrike">
                <a:solidFill>
                  <a:srgbClr val="000000"/>
                </a:solidFill>
                <a:latin typeface="MS PGothic"/>
              </a:rPr>
              <a:t>5</a:t>
            </a:r>
            <a:r>
              <a:rPr b="0" lang="zh-CN" sz="2800" spc="-1" strike="noStrike">
                <a:solidFill>
                  <a:srgbClr val="000000"/>
                </a:solidFill>
                <a:latin typeface="MSPGothic"/>
              </a:rPr>
              <a:t>択）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456" name="TextShape 16"/>
          <p:cNvSpPr txBox="1"/>
          <p:nvPr/>
        </p:nvSpPr>
        <p:spPr>
          <a:xfrm>
            <a:off x="447120" y="3011040"/>
            <a:ext cx="1391868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800" spc="-1" strike="noStrike">
                <a:solidFill>
                  <a:srgbClr val="000000"/>
                </a:solidFill>
                <a:latin typeface="MSPGothic"/>
              </a:rPr>
              <a:t>「毎週」「隔週」「月に</a:t>
            </a:r>
            <a:r>
              <a:rPr b="0" lang="en-US" sz="2800" spc="-1" strike="noStrike">
                <a:solidFill>
                  <a:srgbClr val="000000"/>
                </a:solidFill>
                <a:latin typeface="MS PGothic"/>
              </a:rPr>
              <a:t>1</a:t>
            </a:r>
            <a:r>
              <a:rPr b="0" lang="zh-CN" sz="2800" spc="-1" strike="noStrike">
                <a:solidFill>
                  <a:srgbClr val="000000"/>
                </a:solidFill>
                <a:latin typeface="MSPGothic"/>
              </a:rPr>
              <a:t>～</a:t>
            </a:r>
            <a:r>
              <a:rPr b="0" lang="en-US" sz="2800" spc="-1" strike="noStrike">
                <a:solidFill>
                  <a:srgbClr val="000000"/>
                </a:solidFill>
                <a:latin typeface="MS PGothic"/>
              </a:rPr>
              <a:t>2</a:t>
            </a:r>
            <a:r>
              <a:rPr b="0" lang="zh-CN" sz="2800" spc="-1" strike="noStrike">
                <a:solidFill>
                  <a:srgbClr val="000000"/>
                </a:solidFill>
                <a:latin typeface="MSPGothic"/>
              </a:rPr>
              <a:t>回」「必要な時に使う」「使用していない」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457" name="Freeform 17"/>
          <p:cNvSpPr/>
          <p:nvPr/>
        </p:nvSpPr>
        <p:spPr>
          <a:xfrm>
            <a:off x="447120" y="4335480"/>
            <a:ext cx="2030760" cy="26640"/>
          </a:xfrm>
          <a:custGeom>
            <a:avLst/>
            <a:gdLst/>
            <a:ahLst/>
            <a:rect l="0" t="0" r="r" b="b"/>
            <a:pathLst>
              <a:path w="5641" h="74">
                <a:moveTo>
                  <a:pt x="0" y="73"/>
                </a:moveTo>
                <a:lnTo>
                  <a:pt x="5640" y="73"/>
                </a:lnTo>
                <a:lnTo>
                  <a:pt x="5640" y="0"/>
                </a:lnTo>
                <a:lnTo>
                  <a:pt x="0" y="0"/>
                </a:lnTo>
                <a:lnTo>
                  <a:pt x="0" y="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458" name="TextShape 18"/>
          <p:cNvSpPr txBox="1"/>
          <p:nvPr/>
        </p:nvSpPr>
        <p:spPr>
          <a:xfrm>
            <a:off x="447120" y="3815280"/>
            <a:ext cx="2097000" cy="59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3600" spc="-1" strike="noStrike">
                <a:solidFill>
                  <a:srgbClr val="000000"/>
                </a:solidFill>
                <a:latin typeface="MSPGothic"/>
              </a:rPr>
              <a:t>❷</a:t>
            </a:r>
            <a:r>
              <a:rPr b="0" lang="zh-CN" sz="3600" spc="-1" strike="noStrike">
                <a:solidFill>
                  <a:srgbClr val="000000"/>
                </a:solidFill>
                <a:latin typeface="MSPGothic"/>
              </a:rPr>
              <a:t>必要性</a:t>
            </a:r>
            <a:endParaRPr b="0" lang="en-US" sz="3600" spc="-1" strike="noStrike">
              <a:latin typeface="Times New Roman"/>
            </a:endParaRPr>
          </a:p>
        </p:txBody>
      </p:sp>
      <p:sp>
        <p:nvSpPr>
          <p:cNvPr id="459" name="TextShape 19"/>
          <p:cNvSpPr txBox="1"/>
          <p:nvPr/>
        </p:nvSpPr>
        <p:spPr>
          <a:xfrm>
            <a:off x="447120" y="4413600"/>
            <a:ext cx="411156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800" spc="-1" strike="noStrike">
                <a:solidFill>
                  <a:srgbClr val="000000"/>
                </a:solidFill>
                <a:latin typeface="MSPGothic"/>
              </a:rPr>
              <a:t>例：週間資料（</a:t>
            </a:r>
            <a:r>
              <a:rPr b="0" lang="en-US" sz="2800" spc="-1" strike="noStrike">
                <a:solidFill>
                  <a:srgbClr val="000000"/>
                </a:solidFill>
                <a:latin typeface="MS PGothic"/>
              </a:rPr>
              <a:t>4</a:t>
            </a:r>
            <a:r>
              <a:rPr b="0" lang="zh-CN" sz="2800" spc="-1" strike="noStrike">
                <a:solidFill>
                  <a:srgbClr val="000000"/>
                </a:solidFill>
                <a:latin typeface="MSPGothic"/>
              </a:rPr>
              <a:t>択）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460" name="TextShape 20"/>
          <p:cNvSpPr txBox="1"/>
          <p:nvPr/>
        </p:nvSpPr>
        <p:spPr>
          <a:xfrm>
            <a:off x="447120" y="4901400"/>
            <a:ext cx="854568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800" spc="-1" strike="noStrike">
                <a:solidFill>
                  <a:srgbClr val="000000"/>
                </a:solidFill>
                <a:latin typeface="MSPGothic"/>
              </a:rPr>
              <a:t>「無いと困る」「代替え可能だが無いと困る」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461" name="TextShape 21"/>
          <p:cNvSpPr txBox="1"/>
          <p:nvPr/>
        </p:nvSpPr>
        <p:spPr>
          <a:xfrm>
            <a:off x="447120" y="5388480"/>
            <a:ext cx="773208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800" spc="-1" strike="noStrike">
                <a:solidFill>
                  <a:srgbClr val="000000"/>
                </a:solidFill>
                <a:latin typeface="MSPGothic"/>
              </a:rPr>
              <a:t>「あれば便利だが無くてもいい」「不要」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462" name="Freeform 22"/>
          <p:cNvSpPr/>
          <p:nvPr/>
        </p:nvSpPr>
        <p:spPr>
          <a:xfrm>
            <a:off x="447120" y="1680840"/>
            <a:ext cx="9810720" cy="20520"/>
          </a:xfrm>
          <a:custGeom>
            <a:avLst/>
            <a:gdLst/>
            <a:ahLst/>
            <a:rect l="0" t="0" r="r" b="b"/>
            <a:pathLst>
              <a:path w="27252" h="57">
                <a:moveTo>
                  <a:pt x="0" y="0"/>
                </a:moveTo>
                <a:lnTo>
                  <a:pt x="6812" y="0"/>
                </a:lnTo>
                <a:lnTo>
                  <a:pt x="13626" y="0"/>
                </a:lnTo>
                <a:lnTo>
                  <a:pt x="20438" y="0"/>
                </a:lnTo>
                <a:lnTo>
                  <a:pt x="27251" y="0"/>
                </a:lnTo>
                <a:lnTo>
                  <a:pt x="27251" y="56"/>
                </a:lnTo>
                <a:lnTo>
                  <a:pt x="20438" y="56"/>
                </a:lnTo>
                <a:lnTo>
                  <a:pt x="13626" y="56"/>
                </a:lnTo>
                <a:lnTo>
                  <a:pt x="6812" y="56"/>
                </a:lnTo>
                <a:lnTo>
                  <a:pt x="0" y="5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pic>
        <p:nvPicPr>
          <p:cNvPr id="463" name="" descr=""/>
          <p:cNvPicPr/>
          <p:nvPr/>
        </p:nvPicPr>
        <p:blipFill>
          <a:blip r:embed="rId5"/>
          <a:stretch/>
        </p:blipFill>
        <p:spPr>
          <a:xfrm>
            <a:off x="2819520" y="1100160"/>
            <a:ext cx="692280" cy="853920"/>
          </a:xfrm>
          <a:prstGeom prst="rect">
            <a:avLst/>
          </a:prstGeom>
          <a:ln w="0">
            <a:noFill/>
          </a:ln>
        </p:spPr>
      </p:pic>
      <p:sp>
        <p:nvSpPr>
          <p:cNvPr id="464" name="TextShape 23"/>
          <p:cNvSpPr txBox="1"/>
          <p:nvPr/>
        </p:nvSpPr>
        <p:spPr>
          <a:xfrm>
            <a:off x="447120" y="1262880"/>
            <a:ext cx="112597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800" spc="-1" strike="noStrike">
                <a:solidFill>
                  <a:srgbClr val="000000"/>
                </a:solidFill>
                <a:latin typeface="MSPGothic"/>
              </a:rPr>
              <a:t>各</a:t>
            </a:r>
            <a:r>
              <a:rPr b="0" lang="en-US" sz="2800" spc="-1" strike="noStrike">
                <a:solidFill>
                  <a:srgbClr val="000000"/>
                </a:solidFill>
                <a:latin typeface="MS PGothic"/>
              </a:rPr>
              <a:t>ZO 1DO</a:t>
            </a:r>
            <a:r>
              <a:rPr b="0" lang="zh-CN" sz="2800" spc="-1" strike="noStrike">
                <a:solidFill>
                  <a:srgbClr val="000000"/>
                </a:solidFill>
                <a:latin typeface="MSPGothic"/>
              </a:rPr>
              <a:t>実施</a:t>
            </a:r>
            <a:r>
              <a:rPr b="0" lang="en-US" sz="2800" spc="-1" strike="noStrike">
                <a:solidFill>
                  <a:srgbClr val="000000"/>
                </a:solidFill>
                <a:latin typeface="MS PGothic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MS PGothic"/>
              </a:rPr>
              <a:t>198</a:t>
            </a:r>
            <a:r>
              <a:rPr b="0" lang="zh-CN" sz="2800" spc="-1" strike="noStrike">
                <a:solidFill>
                  <a:srgbClr val="000000"/>
                </a:solidFill>
                <a:latin typeface="MSPGothic"/>
              </a:rPr>
              <a:t>名の</a:t>
            </a:r>
            <a:r>
              <a:rPr b="0" lang="en-US" sz="2800" spc="-1" strike="noStrike">
                <a:solidFill>
                  <a:srgbClr val="000000"/>
                </a:solidFill>
                <a:latin typeface="MS PGothic"/>
              </a:rPr>
              <a:t>OFC</a:t>
            </a:r>
            <a:r>
              <a:rPr b="0" lang="zh-CN" sz="2800" spc="-1" strike="noStrike">
                <a:solidFill>
                  <a:srgbClr val="000000"/>
                </a:solidFill>
                <a:latin typeface="MSPGothic"/>
              </a:rPr>
              <a:t>さんにご回答いただきました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465" name="TextShape 24"/>
          <p:cNvSpPr txBox="1"/>
          <p:nvPr/>
        </p:nvSpPr>
        <p:spPr>
          <a:xfrm>
            <a:off x="183600" y="790560"/>
            <a:ext cx="675720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262626"/>
                </a:solidFill>
                <a:latin typeface="MeiryoUI"/>
              </a:rPr>
              <a:t>▼</a:t>
            </a:r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24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年</a:t>
            </a:r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7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月</a:t>
            </a:r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 </a:t>
            </a:r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OFC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アンケートを実施</a:t>
            </a:r>
            <a:endParaRPr b="0" lang="en-US" sz="2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Freeform 1"/>
          <p:cNvSpPr/>
          <p:nvPr/>
        </p:nvSpPr>
        <p:spPr>
          <a:xfrm>
            <a:off x="0" y="-360"/>
            <a:ext cx="12192480" cy="6858720"/>
          </a:xfrm>
          <a:custGeom>
            <a:avLst/>
            <a:gdLst/>
            <a:ahLst/>
            <a:rect l="0" t="0" r="r" b="b"/>
            <a:pathLst>
              <a:path w="33868" h="19052">
                <a:moveTo>
                  <a:pt x="0" y="19051"/>
                </a:moveTo>
                <a:lnTo>
                  <a:pt x="33867" y="19051"/>
                </a:lnTo>
                <a:lnTo>
                  <a:pt x="33867" y="0"/>
                </a:lnTo>
                <a:lnTo>
                  <a:pt x="0" y="0"/>
                </a:lnTo>
                <a:lnTo>
                  <a:pt x="0" y="190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pic>
        <p:nvPicPr>
          <p:cNvPr id="467" name="" descr=""/>
          <p:cNvPicPr/>
          <p:nvPr/>
        </p:nvPicPr>
        <p:blipFill>
          <a:blip r:embed="rId1"/>
          <a:stretch/>
        </p:blipFill>
        <p:spPr>
          <a:xfrm>
            <a:off x="175320" y="586800"/>
            <a:ext cx="11841120" cy="209880"/>
          </a:xfrm>
          <a:prstGeom prst="rect">
            <a:avLst/>
          </a:prstGeom>
          <a:ln w="0">
            <a:noFill/>
          </a:ln>
        </p:spPr>
      </p:pic>
      <p:pic>
        <p:nvPicPr>
          <p:cNvPr id="468" name="" descr=""/>
          <p:cNvPicPr/>
          <p:nvPr/>
        </p:nvPicPr>
        <p:blipFill>
          <a:blip r:embed="rId2"/>
          <a:stretch/>
        </p:blipFill>
        <p:spPr>
          <a:xfrm>
            <a:off x="5122080" y="6681240"/>
            <a:ext cx="1947240" cy="115560"/>
          </a:xfrm>
          <a:prstGeom prst="rect">
            <a:avLst/>
          </a:prstGeom>
          <a:ln w="0">
            <a:noFill/>
          </a:ln>
        </p:spPr>
      </p:pic>
      <p:sp>
        <p:nvSpPr>
          <p:cNvPr id="469" name="Freeform 2"/>
          <p:cNvSpPr/>
          <p:nvPr/>
        </p:nvSpPr>
        <p:spPr>
          <a:xfrm>
            <a:off x="151560" y="6209280"/>
            <a:ext cx="1620720" cy="360360"/>
          </a:xfrm>
          <a:custGeom>
            <a:avLst/>
            <a:gdLst/>
            <a:ahLst/>
            <a:rect l="0" t="0" r="r" b="b"/>
            <a:pathLst>
              <a:path w="4502" h="1001">
                <a:moveTo>
                  <a:pt x="0" y="1000"/>
                </a:moveTo>
                <a:lnTo>
                  <a:pt x="4501" y="1000"/>
                </a:lnTo>
                <a:lnTo>
                  <a:pt x="4501" y="0"/>
                </a:lnTo>
                <a:lnTo>
                  <a:pt x="0" y="0"/>
                </a:lnTo>
                <a:lnTo>
                  <a:pt x="0" y="1000"/>
                </a:lnTo>
                <a:close/>
              </a:path>
            </a:pathLst>
          </a:custGeom>
          <a:solidFill>
            <a:srgbClr val="ffffff"/>
          </a:solidFill>
          <a:ln w="31680">
            <a:solidFill>
              <a:srgbClr val="ff0000"/>
            </a:solidFill>
            <a:round/>
          </a:ln>
        </p:spPr>
      </p:sp>
      <p:sp>
        <p:nvSpPr>
          <p:cNvPr id="470" name="TextShape 3"/>
          <p:cNvSpPr txBox="1"/>
          <p:nvPr/>
        </p:nvSpPr>
        <p:spPr>
          <a:xfrm>
            <a:off x="555840" y="627012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ff0000"/>
                </a:solidFill>
                <a:latin typeface="Meiryo"/>
              </a:rPr>
              <a:t>社内限り</a:t>
            </a:r>
            <a:endParaRPr b="0" lang="en-US" sz="1400" spc="-1" strike="noStrike">
              <a:latin typeface="Times New Roman"/>
            </a:endParaRPr>
          </a:p>
        </p:txBody>
      </p:sp>
      <p:pic>
        <p:nvPicPr>
          <p:cNvPr id="471" name="" descr=""/>
          <p:cNvPicPr/>
          <p:nvPr/>
        </p:nvPicPr>
        <p:blipFill>
          <a:blip r:embed="rId3"/>
          <a:stretch/>
        </p:blipFill>
        <p:spPr>
          <a:xfrm>
            <a:off x="11428560" y="149400"/>
            <a:ext cx="411120" cy="432360"/>
          </a:xfrm>
          <a:prstGeom prst="rect">
            <a:avLst/>
          </a:prstGeom>
          <a:ln w="0">
            <a:noFill/>
          </a:ln>
        </p:spPr>
      </p:pic>
      <p:sp>
        <p:nvSpPr>
          <p:cNvPr id="472" name="Freeform 4"/>
          <p:cNvSpPr/>
          <p:nvPr/>
        </p:nvSpPr>
        <p:spPr>
          <a:xfrm>
            <a:off x="9806040" y="204840"/>
            <a:ext cx="1497240" cy="361800"/>
          </a:xfrm>
          <a:custGeom>
            <a:avLst/>
            <a:gdLst/>
            <a:ahLst/>
            <a:rect l="0" t="0" r="r" b="b"/>
            <a:pathLst>
              <a:path w="4159" h="1005">
                <a:moveTo>
                  <a:pt x="0" y="1004"/>
                </a:moveTo>
                <a:lnTo>
                  <a:pt x="4158" y="1004"/>
                </a:lnTo>
                <a:lnTo>
                  <a:pt x="4158" y="0"/>
                </a:lnTo>
                <a:lnTo>
                  <a:pt x="0" y="0"/>
                </a:lnTo>
                <a:lnTo>
                  <a:pt x="0" y="1004"/>
                </a:lnTo>
                <a:close/>
              </a:path>
            </a:pathLst>
          </a:custGeom>
          <a:solidFill>
            <a:srgbClr val="ffffff"/>
          </a:solidFill>
          <a:ln w="18720">
            <a:solidFill>
              <a:srgbClr val="ff0000"/>
            </a:solidFill>
            <a:round/>
          </a:ln>
        </p:spPr>
      </p:sp>
      <p:sp>
        <p:nvSpPr>
          <p:cNvPr id="473" name="TextShape 5"/>
          <p:cNvSpPr txBox="1"/>
          <p:nvPr/>
        </p:nvSpPr>
        <p:spPr>
          <a:xfrm>
            <a:off x="9143280" y="6356520"/>
            <a:ext cx="23598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明日の笑顔を</a:t>
            </a:r>
            <a:r>
              <a:rPr b="0" lang="en-US" sz="1600" spc="-1" strike="noStrike">
                <a:solidFill>
                  <a:srgbClr val="000000"/>
                </a:solidFill>
                <a:latin typeface="UD Digi Kyokasho NPR"/>
              </a:rPr>
              <a:t> </a:t>
            </a:r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共に創る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474" name="TextShape 6"/>
          <p:cNvSpPr txBox="1"/>
          <p:nvPr/>
        </p:nvSpPr>
        <p:spPr>
          <a:xfrm>
            <a:off x="10151280" y="262800"/>
            <a:ext cx="48240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0000"/>
                </a:solidFill>
                <a:latin typeface="Meiryo"/>
              </a:rPr>
              <a:t>秘</a:t>
            </a:r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（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475" name="TextShape 7"/>
          <p:cNvSpPr txBox="1"/>
          <p:nvPr/>
        </p:nvSpPr>
        <p:spPr>
          <a:xfrm>
            <a:off x="10671120" y="391320"/>
            <a:ext cx="10188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700" spc="-1" strike="noStrike">
                <a:solidFill>
                  <a:srgbClr val="ff0000"/>
                </a:solidFill>
                <a:latin typeface="Meiryo"/>
              </a:rPr>
              <a:t> </a:t>
            </a:r>
            <a:endParaRPr b="0" lang="en-US" sz="700" spc="-1" strike="noStrike">
              <a:latin typeface="Times New Roman"/>
            </a:endParaRPr>
          </a:p>
        </p:txBody>
      </p:sp>
      <p:sp>
        <p:nvSpPr>
          <p:cNvPr id="476" name="TextShape 8"/>
          <p:cNvSpPr txBox="1"/>
          <p:nvPr/>
        </p:nvSpPr>
        <p:spPr>
          <a:xfrm>
            <a:off x="10707480" y="249840"/>
            <a:ext cx="2541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0000"/>
                </a:solidFill>
                <a:latin typeface="Meiryo"/>
              </a:rPr>
              <a:t>B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477" name="TextShape 9"/>
          <p:cNvSpPr txBox="1"/>
          <p:nvPr/>
        </p:nvSpPr>
        <p:spPr>
          <a:xfrm>
            <a:off x="10925640" y="262800"/>
            <a:ext cx="24156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）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478" name="Freeform 10"/>
          <p:cNvSpPr/>
          <p:nvPr/>
        </p:nvSpPr>
        <p:spPr>
          <a:xfrm>
            <a:off x="366840" y="1333800"/>
            <a:ext cx="5617440" cy="4508640"/>
          </a:xfrm>
          <a:custGeom>
            <a:avLst/>
            <a:gdLst/>
            <a:ahLst/>
            <a:rect l="0" t="0" r="r" b="b"/>
            <a:pathLst>
              <a:path w="15604" h="12524">
                <a:moveTo>
                  <a:pt x="0" y="12523"/>
                </a:moveTo>
                <a:lnTo>
                  <a:pt x="15603" y="12523"/>
                </a:lnTo>
                <a:lnTo>
                  <a:pt x="15603" y="0"/>
                </a:lnTo>
                <a:lnTo>
                  <a:pt x="0" y="0"/>
                </a:lnTo>
                <a:lnTo>
                  <a:pt x="0" y="12523"/>
                </a:lnTo>
                <a:close/>
              </a:path>
            </a:pathLst>
          </a:custGeom>
          <a:noFill/>
          <a:ln w="1440">
            <a:solidFill>
              <a:srgbClr val="000000"/>
            </a:solidFill>
            <a:miter/>
          </a:ln>
        </p:spPr>
      </p:sp>
      <p:sp>
        <p:nvSpPr>
          <p:cNvPr id="479" name="Freeform 11"/>
          <p:cNvSpPr/>
          <p:nvPr/>
        </p:nvSpPr>
        <p:spPr>
          <a:xfrm>
            <a:off x="758880" y="1463040"/>
            <a:ext cx="5032800" cy="3434040"/>
          </a:xfrm>
          <a:custGeom>
            <a:avLst/>
            <a:gdLst/>
            <a:ahLst/>
            <a:rect l="0" t="0" r="r" b="b"/>
            <a:pathLst>
              <a:path w="13980" h="9539">
                <a:moveTo>
                  <a:pt x="0" y="9538"/>
                </a:moveTo>
                <a:lnTo>
                  <a:pt x="13979" y="9538"/>
                </a:lnTo>
                <a:moveTo>
                  <a:pt x="0" y="8175"/>
                </a:moveTo>
                <a:lnTo>
                  <a:pt x="13979" y="8175"/>
                </a:lnTo>
                <a:moveTo>
                  <a:pt x="0" y="6812"/>
                </a:moveTo>
                <a:lnTo>
                  <a:pt x="13979" y="6812"/>
                </a:lnTo>
                <a:moveTo>
                  <a:pt x="0" y="5453"/>
                </a:moveTo>
                <a:lnTo>
                  <a:pt x="13979" y="5453"/>
                </a:lnTo>
                <a:moveTo>
                  <a:pt x="0" y="4090"/>
                </a:moveTo>
                <a:lnTo>
                  <a:pt x="13979" y="4090"/>
                </a:lnTo>
                <a:moveTo>
                  <a:pt x="0" y="2727"/>
                </a:moveTo>
                <a:lnTo>
                  <a:pt x="13979" y="2727"/>
                </a:lnTo>
                <a:moveTo>
                  <a:pt x="0" y="1364"/>
                </a:moveTo>
                <a:lnTo>
                  <a:pt x="13979" y="1364"/>
                </a:lnTo>
                <a:moveTo>
                  <a:pt x="0" y="0"/>
                </a:moveTo>
                <a:lnTo>
                  <a:pt x="13979" y="0"/>
                </a:lnTo>
              </a:path>
            </a:pathLst>
          </a:custGeom>
          <a:ln w="9360">
            <a:solidFill>
              <a:srgbClr val="d9d9d9"/>
            </a:solidFill>
            <a:round/>
          </a:ln>
        </p:spPr>
      </p:sp>
      <p:sp>
        <p:nvSpPr>
          <p:cNvPr id="480" name="Freeform 12"/>
          <p:cNvSpPr/>
          <p:nvPr/>
        </p:nvSpPr>
        <p:spPr>
          <a:xfrm>
            <a:off x="1388160" y="1463040"/>
            <a:ext cx="4403520" cy="3924720"/>
          </a:xfrm>
          <a:custGeom>
            <a:avLst/>
            <a:gdLst/>
            <a:ahLst/>
            <a:rect l="0" t="0" r="r" b="b"/>
            <a:pathLst>
              <a:path w="12232" h="10902">
                <a:moveTo>
                  <a:pt x="0" y="0"/>
                </a:moveTo>
                <a:lnTo>
                  <a:pt x="0" y="10901"/>
                </a:lnTo>
                <a:moveTo>
                  <a:pt x="1748" y="0"/>
                </a:moveTo>
                <a:lnTo>
                  <a:pt x="1748" y="10901"/>
                </a:lnTo>
                <a:moveTo>
                  <a:pt x="3494" y="0"/>
                </a:moveTo>
                <a:lnTo>
                  <a:pt x="3494" y="10901"/>
                </a:lnTo>
                <a:moveTo>
                  <a:pt x="5242" y="0"/>
                </a:moveTo>
                <a:lnTo>
                  <a:pt x="5242" y="10901"/>
                </a:lnTo>
                <a:moveTo>
                  <a:pt x="6990" y="0"/>
                </a:moveTo>
                <a:lnTo>
                  <a:pt x="6990" y="10901"/>
                </a:lnTo>
                <a:moveTo>
                  <a:pt x="8739" y="0"/>
                </a:moveTo>
                <a:lnTo>
                  <a:pt x="8739" y="10901"/>
                </a:lnTo>
                <a:moveTo>
                  <a:pt x="10487" y="0"/>
                </a:moveTo>
                <a:lnTo>
                  <a:pt x="10487" y="10901"/>
                </a:lnTo>
                <a:moveTo>
                  <a:pt x="12231" y="0"/>
                </a:moveTo>
                <a:lnTo>
                  <a:pt x="12231" y="10901"/>
                </a:lnTo>
              </a:path>
            </a:pathLst>
          </a:custGeom>
          <a:ln w="9360">
            <a:solidFill>
              <a:srgbClr val="d9d9d9"/>
            </a:solidFill>
            <a:round/>
          </a:ln>
        </p:spPr>
      </p:sp>
      <p:sp>
        <p:nvSpPr>
          <p:cNvPr id="481" name="Line 13"/>
          <p:cNvSpPr/>
          <p:nvPr/>
        </p:nvSpPr>
        <p:spPr>
          <a:xfrm flipV="1">
            <a:off x="758880" y="1463040"/>
            <a:ext cx="0" cy="392400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2" name="Line 14"/>
          <p:cNvSpPr/>
          <p:nvPr/>
        </p:nvSpPr>
        <p:spPr>
          <a:xfrm>
            <a:off x="758880" y="5387040"/>
            <a:ext cx="5032080" cy="0"/>
          </a:xfrm>
          <a:prstGeom prst="line">
            <a:avLst/>
          </a:prstGeom>
          <a:ln w="9360">
            <a:solidFill>
              <a:srgbClr val="bfbfb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3" name="Freeform 15"/>
          <p:cNvSpPr/>
          <p:nvPr/>
        </p:nvSpPr>
        <p:spPr>
          <a:xfrm>
            <a:off x="5475240" y="1460160"/>
            <a:ext cx="253800" cy="253800"/>
          </a:xfrm>
          <a:custGeom>
            <a:avLst/>
            <a:gdLst/>
            <a:ahLst/>
            <a:rect l="0" t="0" r="r" b="b"/>
            <a:pathLst>
              <a:path w="705" h="705">
                <a:moveTo>
                  <a:pt x="351" y="0"/>
                </a:moveTo>
                <a:lnTo>
                  <a:pt x="704" y="351"/>
                </a:lnTo>
                <a:lnTo>
                  <a:pt x="351" y="704"/>
                </a:lnTo>
                <a:lnTo>
                  <a:pt x="0" y="351"/>
                </a:lnTo>
                <a:lnTo>
                  <a:pt x="351" y="0"/>
                </a:lnTo>
                <a:close/>
              </a:path>
            </a:pathLst>
          </a:custGeom>
          <a:solidFill>
            <a:srgbClr val="c00000"/>
          </a:solidFill>
          <a:ln w="9360">
            <a:solidFill>
              <a:srgbClr val="4f81bd"/>
            </a:solidFill>
            <a:round/>
          </a:ln>
        </p:spPr>
      </p:sp>
      <p:sp>
        <p:nvSpPr>
          <p:cNvPr id="484" name="Freeform 16"/>
          <p:cNvSpPr/>
          <p:nvPr/>
        </p:nvSpPr>
        <p:spPr>
          <a:xfrm>
            <a:off x="4614120" y="1882440"/>
            <a:ext cx="253800" cy="253440"/>
          </a:xfrm>
          <a:custGeom>
            <a:avLst/>
            <a:gdLst/>
            <a:ahLst/>
            <a:rect l="0" t="0" r="r" b="b"/>
            <a:pathLst>
              <a:path w="705" h="704">
                <a:moveTo>
                  <a:pt x="352" y="0"/>
                </a:moveTo>
                <a:lnTo>
                  <a:pt x="704" y="352"/>
                </a:lnTo>
                <a:lnTo>
                  <a:pt x="352" y="703"/>
                </a:lnTo>
                <a:lnTo>
                  <a:pt x="0" y="352"/>
                </a:lnTo>
                <a:lnTo>
                  <a:pt x="352" y="0"/>
                </a:lnTo>
                <a:close/>
              </a:path>
            </a:pathLst>
          </a:custGeom>
          <a:solidFill>
            <a:srgbClr val="c00000"/>
          </a:solidFill>
          <a:ln w="9360">
            <a:solidFill>
              <a:srgbClr val="4f81bd"/>
            </a:solidFill>
            <a:round/>
          </a:ln>
        </p:spPr>
      </p:sp>
      <p:sp>
        <p:nvSpPr>
          <p:cNvPr id="485" name="Freeform 17"/>
          <p:cNvSpPr/>
          <p:nvPr/>
        </p:nvSpPr>
        <p:spPr>
          <a:xfrm>
            <a:off x="1820520" y="3563280"/>
            <a:ext cx="253800" cy="253800"/>
          </a:xfrm>
          <a:custGeom>
            <a:avLst/>
            <a:gdLst/>
            <a:ahLst/>
            <a:rect l="0" t="0" r="r" b="b"/>
            <a:pathLst>
              <a:path w="705" h="705">
                <a:moveTo>
                  <a:pt x="353" y="0"/>
                </a:moveTo>
                <a:lnTo>
                  <a:pt x="704" y="352"/>
                </a:lnTo>
                <a:lnTo>
                  <a:pt x="353" y="704"/>
                </a:lnTo>
                <a:lnTo>
                  <a:pt x="0" y="352"/>
                </a:lnTo>
                <a:lnTo>
                  <a:pt x="353" y="0"/>
                </a:lnTo>
                <a:close/>
              </a:path>
            </a:pathLst>
          </a:custGeom>
          <a:solidFill>
            <a:srgbClr val="c00000"/>
          </a:solidFill>
          <a:ln w="9360">
            <a:solidFill>
              <a:srgbClr val="4f81bd"/>
            </a:solidFill>
            <a:round/>
          </a:ln>
        </p:spPr>
      </p:sp>
      <p:sp>
        <p:nvSpPr>
          <p:cNvPr id="486" name="Freeform 18"/>
          <p:cNvSpPr/>
          <p:nvPr/>
        </p:nvSpPr>
        <p:spPr>
          <a:xfrm>
            <a:off x="2424240" y="2994840"/>
            <a:ext cx="253440" cy="253800"/>
          </a:xfrm>
          <a:custGeom>
            <a:avLst/>
            <a:gdLst/>
            <a:ahLst/>
            <a:rect l="0" t="0" r="r" b="b"/>
            <a:pathLst>
              <a:path w="704" h="705">
                <a:moveTo>
                  <a:pt x="351" y="0"/>
                </a:moveTo>
                <a:lnTo>
                  <a:pt x="703" y="351"/>
                </a:lnTo>
                <a:lnTo>
                  <a:pt x="351" y="704"/>
                </a:lnTo>
                <a:lnTo>
                  <a:pt x="0" y="351"/>
                </a:lnTo>
                <a:lnTo>
                  <a:pt x="351" y="0"/>
                </a:lnTo>
                <a:close/>
              </a:path>
            </a:pathLst>
          </a:custGeom>
          <a:solidFill>
            <a:srgbClr val="c00000"/>
          </a:solidFill>
          <a:ln w="9360">
            <a:solidFill>
              <a:srgbClr val="4f81bd"/>
            </a:solidFill>
            <a:round/>
          </a:ln>
        </p:spPr>
      </p:sp>
      <p:sp>
        <p:nvSpPr>
          <p:cNvPr id="487" name="Freeform 19"/>
          <p:cNvSpPr/>
          <p:nvPr/>
        </p:nvSpPr>
        <p:spPr>
          <a:xfrm>
            <a:off x="3059640" y="2504160"/>
            <a:ext cx="253800" cy="253800"/>
          </a:xfrm>
          <a:custGeom>
            <a:avLst/>
            <a:gdLst/>
            <a:ahLst/>
            <a:rect l="0" t="0" r="r" b="b"/>
            <a:pathLst>
              <a:path w="705" h="705">
                <a:moveTo>
                  <a:pt x="352" y="0"/>
                </a:moveTo>
                <a:lnTo>
                  <a:pt x="704" y="351"/>
                </a:lnTo>
                <a:lnTo>
                  <a:pt x="352" y="704"/>
                </a:lnTo>
                <a:lnTo>
                  <a:pt x="0" y="351"/>
                </a:lnTo>
                <a:lnTo>
                  <a:pt x="352" y="0"/>
                </a:lnTo>
                <a:close/>
              </a:path>
            </a:pathLst>
          </a:custGeom>
          <a:solidFill>
            <a:srgbClr val="c00000"/>
          </a:solidFill>
          <a:ln w="9360">
            <a:solidFill>
              <a:srgbClr val="4f81bd"/>
            </a:solidFill>
            <a:round/>
          </a:ln>
        </p:spPr>
      </p:sp>
      <p:sp>
        <p:nvSpPr>
          <p:cNvPr id="488" name="Freeform 20"/>
          <p:cNvSpPr/>
          <p:nvPr/>
        </p:nvSpPr>
        <p:spPr>
          <a:xfrm>
            <a:off x="1852560" y="2994840"/>
            <a:ext cx="253800" cy="253800"/>
          </a:xfrm>
          <a:custGeom>
            <a:avLst/>
            <a:gdLst/>
            <a:ahLst/>
            <a:rect l="0" t="0" r="r" b="b"/>
            <a:pathLst>
              <a:path w="705" h="705">
                <a:moveTo>
                  <a:pt x="353" y="0"/>
                </a:moveTo>
                <a:lnTo>
                  <a:pt x="704" y="351"/>
                </a:lnTo>
                <a:lnTo>
                  <a:pt x="353" y="704"/>
                </a:lnTo>
                <a:lnTo>
                  <a:pt x="0" y="351"/>
                </a:lnTo>
                <a:lnTo>
                  <a:pt x="353" y="0"/>
                </a:lnTo>
                <a:close/>
              </a:path>
            </a:pathLst>
          </a:custGeom>
          <a:solidFill>
            <a:srgbClr val="c00000"/>
          </a:solidFill>
          <a:ln w="9360">
            <a:solidFill>
              <a:srgbClr val="4f81bd"/>
            </a:solidFill>
            <a:round/>
          </a:ln>
        </p:spPr>
      </p:sp>
      <p:sp>
        <p:nvSpPr>
          <p:cNvPr id="489" name="TextShape 21"/>
          <p:cNvSpPr txBox="1"/>
          <p:nvPr/>
        </p:nvSpPr>
        <p:spPr>
          <a:xfrm>
            <a:off x="8179200" y="303480"/>
            <a:ext cx="15246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100" spc="-1" strike="noStrike">
                <a:solidFill>
                  <a:srgbClr val="000000"/>
                </a:solidFill>
                <a:latin typeface="Meiryo"/>
              </a:rPr>
              <a:t>フィールドサポート部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490" name="TextShape 22"/>
          <p:cNvSpPr txBox="1"/>
          <p:nvPr/>
        </p:nvSpPr>
        <p:spPr>
          <a:xfrm>
            <a:off x="463320" y="531756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20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491" name="TextShape 23"/>
          <p:cNvSpPr txBox="1"/>
          <p:nvPr/>
        </p:nvSpPr>
        <p:spPr>
          <a:xfrm>
            <a:off x="463320" y="482688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30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492" name="TextShape 24"/>
          <p:cNvSpPr txBox="1"/>
          <p:nvPr/>
        </p:nvSpPr>
        <p:spPr>
          <a:xfrm>
            <a:off x="463320" y="433656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40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493" name="TextShape 25"/>
          <p:cNvSpPr txBox="1"/>
          <p:nvPr/>
        </p:nvSpPr>
        <p:spPr>
          <a:xfrm>
            <a:off x="463320" y="384588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50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494" name="TextShape 26"/>
          <p:cNvSpPr txBox="1"/>
          <p:nvPr/>
        </p:nvSpPr>
        <p:spPr>
          <a:xfrm>
            <a:off x="463320" y="335520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60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495" name="TextShape 27"/>
          <p:cNvSpPr txBox="1"/>
          <p:nvPr/>
        </p:nvSpPr>
        <p:spPr>
          <a:xfrm>
            <a:off x="463320" y="286488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70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496" name="TextShape 28"/>
          <p:cNvSpPr txBox="1"/>
          <p:nvPr/>
        </p:nvSpPr>
        <p:spPr>
          <a:xfrm>
            <a:off x="463320" y="237384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80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497" name="TextShape 29"/>
          <p:cNvSpPr txBox="1"/>
          <p:nvPr/>
        </p:nvSpPr>
        <p:spPr>
          <a:xfrm>
            <a:off x="463320" y="188352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90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498" name="TextShape 30"/>
          <p:cNvSpPr txBox="1"/>
          <p:nvPr/>
        </p:nvSpPr>
        <p:spPr>
          <a:xfrm>
            <a:off x="385920" y="1393200"/>
            <a:ext cx="2340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100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499" name="TextShape 31"/>
          <p:cNvSpPr txBox="1"/>
          <p:nvPr/>
        </p:nvSpPr>
        <p:spPr>
          <a:xfrm>
            <a:off x="681840" y="551556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20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00" name="TextShape 32"/>
          <p:cNvSpPr txBox="1"/>
          <p:nvPr/>
        </p:nvSpPr>
        <p:spPr>
          <a:xfrm>
            <a:off x="1310760" y="551556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30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01" name="TextShape 33"/>
          <p:cNvSpPr txBox="1"/>
          <p:nvPr/>
        </p:nvSpPr>
        <p:spPr>
          <a:xfrm>
            <a:off x="1940040" y="551556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40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02" name="TextShape 34"/>
          <p:cNvSpPr txBox="1"/>
          <p:nvPr/>
        </p:nvSpPr>
        <p:spPr>
          <a:xfrm>
            <a:off x="2569320" y="551556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50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03" name="TextShape 35"/>
          <p:cNvSpPr txBox="1"/>
          <p:nvPr/>
        </p:nvSpPr>
        <p:spPr>
          <a:xfrm>
            <a:off x="3198600" y="551556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60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04" name="TextShape 36"/>
          <p:cNvSpPr txBox="1"/>
          <p:nvPr/>
        </p:nvSpPr>
        <p:spPr>
          <a:xfrm>
            <a:off x="3827520" y="551556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70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05" name="TextShape 37"/>
          <p:cNvSpPr txBox="1"/>
          <p:nvPr/>
        </p:nvSpPr>
        <p:spPr>
          <a:xfrm>
            <a:off x="4456800" y="551556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80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06" name="TextShape 38"/>
          <p:cNvSpPr txBox="1"/>
          <p:nvPr/>
        </p:nvSpPr>
        <p:spPr>
          <a:xfrm>
            <a:off x="5086080" y="551556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90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07" name="Freeform 39"/>
          <p:cNvSpPr/>
          <p:nvPr/>
        </p:nvSpPr>
        <p:spPr>
          <a:xfrm>
            <a:off x="3285720" y="1461240"/>
            <a:ext cx="2487600" cy="2004840"/>
          </a:xfrm>
          <a:custGeom>
            <a:avLst/>
            <a:gdLst/>
            <a:ahLst/>
            <a:rect l="0" t="0" r="r" b="b"/>
            <a:pathLst>
              <a:path w="6910" h="5569">
                <a:moveTo>
                  <a:pt x="0" y="5568"/>
                </a:moveTo>
                <a:lnTo>
                  <a:pt x="6909" y="5568"/>
                </a:lnTo>
                <a:lnTo>
                  <a:pt x="6909" y="0"/>
                </a:lnTo>
                <a:lnTo>
                  <a:pt x="0" y="0"/>
                </a:lnTo>
                <a:lnTo>
                  <a:pt x="0" y="5568"/>
                </a:lnTo>
                <a:close/>
              </a:path>
            </a:pathLst>
          </a:custGeom>
          <a:solidFill>
            <a:srgbClr val="ffcccc">
              <a:alpha val="40000"/>
            </a:srgbClr>
          </a:solidFill>
          <a:ln w="0">
            <a:noFill/>
          </a:ln>
        </p:spPr>
      </p:sp>
      <p:sp>
        <p:nvSpPr>
          <p:cNvPr id="508" name="TextShape 40"/>
          <p:cNvSpPr txBox="1"/>
          <p:nvPr/>
        </p:nvSpPr>
        <p:spPr>
          <a:xfrm>
            <a:off x="5676480" y="5515560"/>
            <a:ext cx="2340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100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09" name="TextShape 41"/>
          <p:cNvSpPr txBox="1"/>
          <p:nvPr/>
        </p:nvSpPr>
        <p:spPr>
          <a:xfrm>
            <a:off x="146520" y="1021680"/>
            <a:ext cx="6865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Meiryo"/>
              </a:rPr>
              <a:t>必要度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10" name="Freeform 42"/>
          <p:cNvSpPr/>
          <p:nvPr/>
        </p:nvSpPr>
        <p:spPr>
          <a:xfrm>
            <a:off x="6350400" y="1333800"/>
            <a:ext cx="5622480" cy="4508640"/>
          </a:xfrm>
          <a:custGeom>
            <a:avLst/>
            <a:gdLst/>
            <a:ahLst/>
            <a:rect l="0" t="0" r="r" b="b"/>
            <a:pathLst>
              <a:path w="15618" h="12524">
                <a:moveTo>
                  <a:pt x="0" y="12523"/>
                </a:moveTo>
                <a:lnTo>
                  <a:pt x="15617" y="12523"/>
                </a:lnTo>
                <a:lnTo>
                  <a:pt x="15617" y="0"/>
                </a:lnTo>
                <a:lnTo>
                  <a:pt x="0" y="0"/>
                </a:lnTo>
                <a:lnTo>
                  <a:pt x="0" y="12523"/>
                </a:lnTo>
                <a:close/>
              </a:path>
            </a:pathLst>
          </a:custGeom>
          <a:noFill/>
          <a:ln w="1440">
            <a:solidFill>
              <a:srgbClr val="000000">
                <a:alpha val="40000"/>
              </a:srgbClr>
            </a:solidFill>
            <a:miter/>
          </a:ln>
        </p:spPr>
      </p:sp>
      <p:sp>
        <p:nvSpPr>
          <p:cNvPr id="511" name="Freeform 43"/>
          <p:cNvSpPr/>
          <p:nvPr/>
        </p:nvSpPr>
        <p:spPr>
          <a:xfrm>
            <a:off x="6860880" y="1465920"/>
            <a:ext cx="4851720" cy="3440520"/>
          </a:xfrm>
          <a:custGeom>
            <a:avLst/>
            <a:gdLst/>
            <a:ahLst/>
            <a:rect l="0" t="0" r="r" b="b"/>
            <a:pathLst>
              <a:path w="13477" h="9557">
                <a:moveTo>
                  <a:pt x="0" y="9556"/>
                </a:moveTo>
                <a:lnTo>
                  <a:pt x="13476" y="9556"/>
                </a:lnTo>
                <a:moveTo>
                  <a:pt x="0" y="8192"/>
                </a:moveTo>
                <a:lnTo>
                  <a:pt x="13476" y="8192"/>
                </a:lnTo>
                <a:moveTo>
                  <a:pt x="0" y="6825"/>
                </a:moveTo>
                <a:lnTo>
                  <a:pt x="13476" y="6825"/>
                </a:lnTo>
                <a:moveTo>
                  <a:pt x="0" y="5462"/>
                </a:moveTo>
                <a:lnTo>
                  <a:pt x="13476" y="5462"/>
                </a:lnTo>
                <a:moveTo>
                  <a:pt x="0" y="4095"/>
                </a:moveTo>
                <a:lnTo>
                  <a:pt x="13476" y="4095"/>
                </a:lnTo>
                <a:moveTo>
                  <a:pt x="0" y="2731"/>
                </a:moveTo>
                <a:lnTo>
                  <a:pt x="13476" y="2731"/>
                </a:lnTo>
                <a:moveTo>
                  <a:pt x="0" y="1364"/>
                </a:moveTo>
                <a:lnTo>
                  <a:pt x="13476" y="1364"/>
                </a:lnTo>
                <a:moveTo>
                  <a:pt x="0" y="0"/>
                </a:moveTo>
                <a:lnTo>
                  <a:pt x="13476" y="0"/>
                </a:lnTo>
              </a:path>
            </a:pathLst>
          </a:custGeom>
          <a:ln w="9360">
            <a:solidFill>
              <a:srgbClr val="d9d9d9">
                <a:alpha val="40000"/>
              </a:srgbClr>
            </a:solidFill>
            <a:round/>
          </a:ln>
        </p:spPr>
      </p:sp>
      <p:sp>
        <p:nvSpPr>
          <p:cNvPr id="512" name="Freeform 44"/>
          <p:cNvSpPr/>
          <p:nvPr/>
        </p:nvSpPr>
        <p:spPr>
          <a:xfrm>
            <a:off x="7467480" y="1465920"/>
            <a:ext cx="4245120" cy="3932640"/>
          </a:xfrm>
          <a:custGeom>
            <a:avLst/>
            <a:gdLst/>
            <a:ahLst/>
            <a:rect l="0" t="0" r="r" b="b"/>
            <a:pathLst>
              <a:path w="11792" h="10924">
                <a:moveTo>
                  <a:pt x="0" y="0"/>
                </a:moveTo>
                <a:lnTo>
                  <a:pt x="0" y="10923"/>
                </a:lnTo>
                <a:moveTo>
                  <a:pt x="1685" y="0"/>
                </a:moveTo>
                <a:lnTo>
                  <a:pt x="1685" y="10923"/>
                </a:lnTo>
                <a:moveTo>
                  <a:pt x="3370" y="0"/>
                </a:moveTo>
                <a:lnTo>
                  <a:pt x="3370" y="10923"/>
                </a:lnTo>
                <a:moveTo>
                  <a:pt x="5050" y="0"/>
                </a:moveTo>
                <a:lnTo>
                  <a:pt x="5050" y="10923"/>
                </a:lnTo>
                <a:moveTo>
                  <a:pt x="6735" y="0"/>
                </a:moveTo>
                <a:lnTo>
                  <a:pt x="6735" y="10923"/>
                </a:lnTo>
                <a:moveTo>
                  <a:pt x="8420" y="0"/>
                </a:moveTo>
                <a:lnTo>
                  <a:pt x="8420" y="10923"/>
                </a:lnTo>
                <a:moveTo>
                  <a:pt x="10106" y="0"/>
                </a:moveTo>
                <a:lnTo>
                  <a:pt x="10106" y="10923"/>
                </a:lnTo>
                <a:moveTo>
                  <a:pt x="11791" y="0"/>
                </a:moveTo>
                <a:lnTo>
                  <a:pt x="11791" y="10923"/>
                </a:lnTo>
              </a:path>
            </a:pathLst>
          </a:custGeom>
          <a:ln w="9360">
            <a:solidFill>
              <a:srgbClr val="d9d9d9">
                <a:alpha val="40000"/>
              </a:srgbClr>
            </a:solidFill>
            <a:round/>
          </a:ln>
        </p:spPr>
      </p:sp>
      <p:sp>
        <p:nvSpPr>
          <p:cNvPr id="513" name="Line 45"/>
          <p:cNvSpPr/>
          <p:nvPr/>
        </p:nvSpPr>
        <p:spPr>
          <a:xfrm flipV="1">
            <a:off x="6860880" y="1465920"/>
            <a:ext cx="0" cy="3931920"/>
          </a:xfrm>
          <a:prstGeom prst="line">
            <a:avLst/>
          </a:prstGeom>
          <a:ln w="9360">
            <a:solidFill>
              <a:srgbClr val="bfbfb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4" name="Line 46"/>
          <p:cNvSpPr/>
          <p:nvPr/>
        </p:nvSpPr>
        <p:spPr>
          <a:xfrm>
            <a:off x="6860880" y="5397840"/>
            <a:ext cx="4851000" cy="0"/>
          </a:xfrm>
          <a:prstGeom prst="line">
            <a:avLst/>
          </a:prstGeom>
          <a:ln w="9360">
            <a:solidFill>
              <a:srgbClr val="bfbfbf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5" name="Freeform 47"/>
          <p:cNvSpPr/>
          <p:nvPr/>
        </p:nvSpPr>
        <p:spPr>
          <a:xfrm>
            <a:off x="11396160" y="1565280"/>
            <a:ext cx="253800" cy="253800"/>
          </a:xfrm>
          <a:custGeom>
            <a:avLst/>
            <a:gdLst/>
            <a:ahLst/>
            <a:rect l="0" t="0" r="r" b="b"/>
            <a:pathLst>
              <a:path w="705" h="705">
                <a:moveTo>
                  <a:pt x="353" y="0"/>
                </a:moveTo>
                <a:lnTo>
                  <a:pt x="704" y="353"/>
                </a:lnTo>
                <a:lnTo>
                  <a:pt x="353" y="704"/>
                </a:lnTo>
                <a:lnTo>
                  <a:pt x="0" y="353"/>
                </a:lnTo>
                <a:lnTo>
                  <a:pt x="353" y="0"/>
                </a:lnTo>
                <a:close/>
              </a:path>
            </a:pathLst>
          </a:custGeom>
          <a:solidFill>
            <a:srgbClr val="c00000"/>
          </a:solidFill>
          <a:ln w="9360">
            <a:solidFill>
              <a:srgbClr val="4f81bd"/>
            </a:solidFill>
            <a:round/>
          </a:ln>
        </p:spPr>
      </p:sp>
      <p:sp>
        <p:nvSpPr>
          <p:cNvPr id="516" name="Freeform 48"/>
          <p:cNvSpPr/>
          <p:nvPr/>
        </p:nvSpPr>
        <p:spPr>
          <a:xfrm>
            <a:off x="8983800" y="2779920"/>
            <a:ext cx="253800" cy="253800"/>
          </a:xfrm>
          <a:custGeom>
            <a:avLst/>
            <a:gdLst/>
            <a:ahLst/>
            <a:rect l="0" t="0" r="r" b="b"/>
            <a:pathLst>
              <a:path w="705" h="705">
                <a:moveTo>
                  <a:pt x="351" y="0"/>
                </a:moveTo>
                <a:lnTo>
                  <a:pt x="704" y="353"/>
                </a:lnTo>
                <a:lnTo>
                  <a:pt x="351" y="704"/>
                </a:lnTo>
                <a:lnTo>
                  <a:pt x="0" y="353"/>
                </a:lnTo>
                <a:lnTo>
                  <a:pt x="351" y="0"/>
                </a:lnTo>
                <a:close/>
              </a:path>
            </a:pathLst>
          </a:custGeom>
          <a:solidFill>
            <a:srgbClr val="c00000"/>
          </a:solidFill>
          <a:ln w="9360">
            <a:solidFill>
              <a:srgbClr val="4f81bd"/>
            </a:solidFill>
            <a:round/>
          </a:ln>
        </p:spPr>
      </p:sp>
      <p:sp>
        <p:nvSpPr>
          <p:cNvPr id="517" name="Freeform 49"/>
          <p:cNvSpPr/>
          <p:nvPr/>
        </p:nvSpPr>
        <p:spPr>
          <a:xfrm>
            <a:off x="8584560" y="2705400"/>
            <a:ext cx="253800" cy="253440"/>
          </a:xfrm>
          <a:custGeom>
            <a:avLst/>
            <a:gdLst/>
            <a:ahLst/>
            <a:rect l="0" t="0" r="r" b="b"/>
            <a:pathLst>
              <a:path w="705" h="704">
                <a:moveTo>
                  <a:pt x="351" y="0"/>
                </a:moveTo>
                <a:lnTo>
                  <a:pt x="704" y="351"/>
                </a:lnTo>
                <a:lnTo>
                  <a:pt x="351" y="703"/>
                </a:lnTo>
                <a:lnTo>
                  <a:pt x="0" y="351"/>
                </a:lnTo>
                <a:lnTo>
                  <a:pt x="351" y="0"/>
                </a:lnTo>
                <a:close/>
              </a:path>
            </a:pathLst>
          </a:custGeom>
          <a:solidFill>
            <a:srgbClr val="c00000"/>
          </a:solidFill>
          <a:ln w="9360">
            <a:solidFill>
              <a:srgbClr val="4f81bd"/>
            </a:solidFill>
            <a:round/>
          </a:ln>
        </p:spPr>
      </p:sp>
      <p:sp>
        <p:nvSpPr>
          <p:cNvPr id="518" name="Freeform 50"/>
          <p:cNvSpPr/>
          <p:nvPr/>
        </p:nvSpPr>
        <p:spPr>
          <a:xfrm>
            <a:off x="9838800" y="1987560"/>
            <a:ext cx="253800" cy="253800"/>
          </a:xfrm>
          <a:custGeom>
            <a:avLst/>
            <a:gdLst/>
            <a:ahLst/>
            <a:rect l="0" t="0" r="r" b="b"/>
            <a:pathLst>
              <a:path w="705" h="705">
                <a:moveTo>
                  <a:pt x="352" y="0"/>
                </a:moveTo>
                <a:lnTo>
                  <a:pt x="704" y="351"/>
                </a:lnTo>
                <a:lnTo>
                  <a:pt x="352" y="704"/>
                </a:lnTo>
                <a:lnTo>
                  <a:pt x="0" y="351"/>
                </a:lnTo>
                <a:lnTo>
                  <a:pt x="352" y="0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519" name="Freeform 51"/>
          <p:cNvSpPr/>
          <p:nvPr/>
        </p:nvSpPr>
        <p:spPr>
          <a:xfrm>
            <a:off x="9838800" y="1987560"/>
            <a:ext cx="253800" cy="253800"/>
          </a:xfrm>
          <a:custGeom>
            <a:avLst/>
            <a:gdLst/>
            <a:ahLst/>
            <a:rect l="0" t="0" r="r" b="b"/>
            <a:pathLst>
              <a:path w="705" h="705">
                <a:moveTo>
                  <a:pt x="352" y="0"/>
                </a:moveTo>
                <a:lnTo>
                  <a:pt x="704" y="351"/>
                </a:lnTo>
                <a:lnTo>
                  <a:pt x="352" y="704"/>
                </a:lnTo>
                <a:lnTo>
                  <a:pt x="0" y="351"/>
                </a:lnTo>
                <a:lnTo>
                  <a:pt x="352" y="0"/>
                </a:lnTo>
                <a:close/>
              </a:path>
            </a:pathLst>
          </a:custGeom>
          <a:noFill/>
          <a:ln w="9360">
            <a:solidFill>
              <a:srgbClr val="4f81bd"/>
            </a:solidFill>
            <a:round/>
          </a:ln>
        </p:spPr>
      </p:sp>
      <p:sp>
        <p:nvSpPr>
          <p:cNvPr id="520" name="Freeform 52"/>
          <p:cNvSpPr/>
          <p:nvPr/>
        </p:nvSpPr>
        <p:spPr>
          <a:xfrm>
            <a:off x="7086600" y="3895560"/>
            <a:ext cx="253440" cy="253800"/>
          </a:xfrm>
          <a:custGeom>
            <a:avLst/>
            <a:gdLst/>
            <a:ahLst/>
            <a:rect l="0" t="0" r="r" b="b"/>
            <a:pathLst>
              <a:path w="704" h="705">
                <a:moveTo>
                  <a:pt x="352" y="0"/>
                </a:moveTo>
                <a:lnTo>
                  <a:pt x="703" y="352"/>
                </a:lnTo>
                <a:lnTo>
                  <a:pt x="352" y="704"/>
                </a:lnTo>
                <a:lnTo>
                  <a:pt x="0" y="352"/>
                </a:lnTo>
                <a:lnTo>
                  <a:pt x="352" y="0"/>
                </a:lnTo>
                <a:close/>
              </a:path>
            </a:pathLst>
          </a:custGeom>
          <a:solidFill>
            <a:srgbClr val="c00000"/>
          </a:solidFill>
          <a:ln w="9360">
            <a:solidFill>
              <a:srgbClr val="4f81bd"/>
            </a:solidFill>
            <a:round/>
          </a:ln>
        </p:spPr>
      </p:sp>
      <p:sp>
        <p:nvSpPr>
          <p:cNvPr id="521" name="Freeform 53"/>
          <p:cNvSpPr/>
          <p:nvPr/>
        </p:nvSpPr>
        <p:spPr>
          <a:xfrm>
            <a:off x="7395840" y="3747600"/>
            <a:ext cx="253800" cy="253800"/>
          </a:xfrm>
          <a:custGeom>
            <a:avLst/>
            <a:gdLst/>
            <a:ahLst/>
            <a:rect l="0" t="0" r="r" b="b"/>
            <a:pathLst>
              <a:path w="705" h="705">
                <a:moveTo>
                  <a:pt x="353" y="0"/>
                </a:moveTo>
                <a:lnTo>
                  <a:pt x="704" y="352"/>
                </a:lnTo>
                <a:lnTo>
                  <a:pt x="353" y="704"/>
                </a:lnTo>
                <a:lnTo>
                  <a:pt x="0" y="352"/>
                </a:lnTo>
                <a:lnTo>
                  <a:pt x="353" y="0"/>
                </a:lnTo>
                <a:close/>
              </a:path>
            </a:pathLst>
          </a:custGeom>
          <a:solidFill>
            <a:srgbClr val="c00000"/>
          </a:solidFill>
          <a:ln w="9360">
            <a:solidFill>
              <a:srgbClr val="4f81bd"/>
            </a:solidFill>
            <a:round/>
          </a:ln>
        </p:spPr>
      </p:sp>
      <p:sp>
        <p:nvSpPr>
          <p:cNvPr id="522" name="Freeform 54"/>
          <p:cNvSpPr/>
          <p:nvPr/>
        </p:nvSpPr>
        <p:spPr>
          <a:xfrm>
            <a:off x="8517600" y="2405160"/>
            <a:ext cx="253440" cy="253440"/>
          </a:xfrm>
          <a:custGeom>
            <a:avLst/>
            <a:gdLst/>
            <a:ahLst/>
            <a:rect l="0" t="0" r="r" b="b"/>
            <a:pathLst>
              <a:path w="704" h="704">
                <a:moveTo>
                  <a:pt x="351" y="0"/>
                </a:moveTo>
                <a:lnTo>
                  <a:pt x="703" y="351"/>
                </a:lnTo>
                <a:lnTo>
                  <a:pt x="351" y="703"/>
                </a:lnTo>
                <a:lnTo>
                  <a:pt x="0" y="351"/>
                </a:lnTo>
                <a:lnTo>
                  <a:pt x="351" y="0"/>
                </a:lnTo>
                <a:close/>
              </a:path>
            </a:pathLst>
          </a:custGeom>
          <a:solidFill>
            <a:srgbClr val="c00000"/>
          </a:solidFill>
          <a:ln w="9360">
            <a:solidFill>
              <a:srgbClr val="4f81bd"/>
            </a:solidFill>
            <a:round/>
          </a:ln>
        </p:spPr>
      </p:sp>
      <p:sp>
        <p:nvSpPr>
          <p:cNvPr id="523" name="Freeform 55"/>
          <p:cNvSpPr/>
          <p:nvPr/>
        </p:nvSpPr>
        <p:spPr>
          <a:xfrm>
            <a:off x="8002440" y="2729520"/>
            <a:ext cx="253440" cy="253800"/>
          </a:xfrm>
          <a:custGeom>
            <a:avLst/>
            <a:gdLst/>
            <a:ahLst/>
            <a:rect l="0" t="0" r="r" b="b"/>
            <a:pathLst>
              <a:path w="704" h="705">
                <a:moveTo>
                  <a:pt x="351" y="0"/>
                </a:moveTo>
                <a:lnTo>
                  <a:pt x="703" y="352"/>
                </a:lnTo>
                <a:lnTo>
                  <a:pt x="351" y="704"/>
                </a:lnTo>
                <a:lnTo>
                  <a:pt x="0" y="352"/>
                </a:lnTo>
                <a:lnTo>
                  <a:pt x="351" y="0"/>
                </a:lnTo>
                <a:close/>
              </a:path>
            </a:pathLst>
          </a:custGeom>
          <a:solidFill>
            <a:srgbClr val="c00000"/>
          </a:solidFill>
          <a:ln w="9360">
            <a:solidFill>
              <a:srgbClr val="4f81bd"/>
            </a:solidFill>
            <a:round/>
          </a:ln>
        </p:spPr>
      </p:sp>
      <p:sp>
        <p:nvSpPr>
          <p:cNvPr id="524" name="Freeform 56"/>
          <p:cNvSpPr/>
          <p:nvPr/>
        </p:nvSpPr>
        <p:spPr>
          <a:xfrm>
            <a:off x="9596520" y="1958400"/>
            <a:ext cx="253800" cy="253800"/>
          </a:xfrm>
          <a:custGeom>
            <a:avLst/>
            <a:gdLst/>
            <a:ahLst/>
            <a:rect l="0" t="0" r="r" b="b"/>
            <a:pathLst>
              <a:path w="705" h="705">
                <a:moveTo>
                  <a:pt x="352" y="0"/>
                </a:moveTo>
                <a:lnTo>
                  <a:pt x="704" y="352"/>
                </a:lnTo>
                <a:lnTo>
                  <a:pt x="352" y="704"/>
                </a:lnTo>
                <a:lnTo>
                  <a:pt x="0" y="352"/>
                </a:lnTo>
                <a:lnTo>
                  <a:pt x="352" y="0"/>
                </a:lnTo>
                <a:close/>
              </a:path>
            </a:pathLst>
          </a:custGeom>
          <a:solidFill>
            <a:srgbClr val="c00000"/>
          </a:solidFill>
          <a:ln w="9360">
            <a:solidFill>
              <a:srgbClr val="4f81bd"/>
            </a:solidFill>
            <a:round/>
          </a:ln>
        </p:spPr>
      </p:sp>
      <p:sp>
        <p:nvSpPr>
          <p:cNvPr id="525" name="Freeform 57"/>
          <p:cNvSpPr/>
          <p:nvPr/>
        </p:nvSpPr>
        <p:spPr>
          <a:xfrm>
            <a:off x="6777000" y="3993120"/>
            <a:ext cx="253800" cy="253800"/>
          </a:xfrm>
          <a:custGeom>
            <a:avLst/>
            <a:gdLst/>
            <a:ahLst/>
            <a:rect l="0" t="0" r="r" b="b"/>
            <a:pathLst>
              <a:path w="705" h="705">
                <a:moveTo>
                  <a:pt x="352" y="0"/>
                </a:moveTo>
                <a:lnTo>
                  <a:pt x="704" y="351"/>
                </a:lnTo>
                <a:lnTo>
                  <a:pt x="352" y="704"/>
                </a:lnTo>
                <a:lnTo>
                  <a:pt x="0" y="351"/>
                </a:lnTo>
                <a:lnTo>
                  <a:pt x="352" y="0"/>
                </a:lnTo>
                <a:close/>
              </a:path>
            </a:pathLst>
          </a:custGeom>
          <a:solidFill>
            <a:srgbClr val="c00000"/>
          </a:solidFill>
          <a:ln w="9360">
            <a:solidFill>
              <a:srgbClr val="4f81bd"/>
            </a:solidFill>
            <a:round/>
          </a:ln>
        </p:spPr>
      </p:sp>
      <p:sp>
        <p:nvSpPr>
          <p:cNvPr id="526" name="TextShape 58"/>
          <p:cNvSpPr txBox="1"/>
          <p:nvPr/>
        </p:nvSpPr>
        <p:spPr>
          <a:xfrm>
            <a:off x="5674320" y="5146560"/>
            <a:ext cx="4579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Meiryo"/>
              </a:rPr>
              <a:t>頻度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27" name="TextShape 59"/>
          <p:cNvSpPr txBox="1"/>
          <p:nvPr/>
        </p:nvSpPr>
        <p:spPr>
          <a:xfrm>
            <a:off x="6566760" y="532800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20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28" name="TextShape 60"/>
          <p:cNvSpPr txBox="1"/>
          <p:nvPr/>
        </p:nvSpPr>
        <p:spPr>
          <a:xfrm>
            <a:off x="6566760" y="483660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30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29" name="TextShape 61"/>
          <p:cNvSpPr txBox="1"/>
          <p:nvPr/>
        </p:nvSpPr>
        <p:spPr>
          <a:xfrm>
            <a:off x="6566760" y="434484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40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30" name="TextShape 62"/>
          <p:cNvSpPr txBox="1"/>
          <p:nvPr/>
        </p:nvSpPr>
        <p:spPr>
          <a:xfrm>
            <a:off x="6566760" y="385344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50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31" name="TextShape 63"/>
          <p:cNvSpPr txBox="1"/>
          <p:nvPr/>
        </p:nvSpPr>
        <p:spPr>
          <a:xfrm>
            <a:off x="6566760" y="336168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60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32" name="TextShape 64"/>
          <p:cNvSpPr txBox="1"/>
          <p:nvPr/>
        </p:nvSpPr>
        <p:spPr>
          <a:xfrm>
            <a:off x="6566760" y="286956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70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33" name="TextShape 65"/>
          <p:cNvSpPr txBox="1"/>
          <p:nvPr/>
        </p:nvSpPr>
        <p:spPr>
          <a:xfrm>
            <a:off x="6566760" y="237816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80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34" name="TextShape 66"/>
          <p:cNvSpPr txBox="1"/>
          <p:nvPr/>
        </p:nvSpPr>
        <p:spPr>
          <a:xfrm>
            <a:off x="6566760" y="188640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90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35" name="TextShape 67"/>
          <p:cNvSpPr txBox="1"/>
          <p:nvPr/>
        </p:nvSpPr>
        <p:spPr>
          <a:xfrm>
            <a:off x="6489360" y="1394640"/>
            <a:ext cx="2340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100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36" name="TextShape 68"/>
          <p:cNvSpPr txBox="1"/>
          <p:nvPr/>
        </p:nvSpPr>
        <p:spPr>
          <a:xfrm>
            <a:off x="6785640" y="552672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20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37" name="TextShape 69"/>
          <p:cNvSpPr txBox="1"/>
          <p:nvPr/>
        </p:nvSpPr>
        <p:spPr>
          <a:xfrm>
            <a:off x="7391520" y="552672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30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38" name="TextShape 70"/>
          <p:cNvSpPr txBox="1"/>
          <p:nvPr/>
        </p:nvSpPr>
        <p:spPr>
          <a:xfrm>
            <a:off x="7998120" y="552672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40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39" name="TextShape 71"/>
          <p:cNvSpPr txBox="1"/>
          <p:nvPr/>
        </p:nvSpPr>
        <p:spPr>
          <a:xfrm>
            <a:off x="8604360" y="552672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50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40" name="TextShape 72"/>
          <p:cNvSpPr txBox="1"/>
          <p:nvPr/>
        </p:nvSpPr>
        <p:spPr>
          <a:xfrm>
            <a:off x="9210600" y="552672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60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41" name="TextShape 73"/>
          <p:cNvSpPr txBox="1"/>
          <p:nvPr/>
        </p:nvSpPr>
        <p:spPr>
          <a:xfrm>
            <a:off x="9816840" y="552672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70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42" name="TextShape 74"/>
          <p:cNvSpPr txBox="1"/>
          <p:nvPr/>
        </p:nvSpPr>
        <p:spPr>
          <a:xfrm>
            <a:off x="10423440" y="552672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80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43" name="TextShape 75"/>
          <p:cNvSpPr txBox="1"/>
          <p:nvPr/>
        </p:nvSpPr>
        <p:spPr>
          <a:xfrm>
            <a:off x="11029320" y="5526720"/>
            <a:ext cx="156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90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44" name="TextShape 76"/>
          <p:cNvSpPr txBox="1"/>
          <p:nvPr/>
        </p:nvSpPr>
        <p:spPr>
          <a:xfrm>
            <a:off x="11597040" y="5526720"/>
            <a:ext cx="2340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100" spc="-1" strike="noStrike">
                <a:solidFill>
                  <a:srgbClr val="595959"/>
                </a:solidFill>
                <a:latin typeface="Calibri"/>
              </a:rPr>
              <a:t>100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545" name="TextShape 77"/>
          <p:cNvSpPr txBox="1"/>
          <p:nvPr/>
        </p:nvSpPr>
        <p:spPr>
          <a:xfrm>
            <a:off x="6243480" y="1021680"/>
            <a:ext cx="6865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Meiryo"/>
              </a:rPr>
              <a:t>必要度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46" name="Freeform 78"/>
          <p:cNvSpPr/>
          <p:nvPr/>
        </p:nvSpPr>
        <p:spPr>
          <a:xfrm>
            <a:off x="9244440" y="1461240"/>
            <a:ext cx="2489400" cy="2004840"/>
          </a:xfrm>
          <a:custGeom>
            <a:avLst/>
            <a:gdLst/>
            <a:ahLst/>
            <a:rect l="0" t="0" r="r" b="b"/>
            <a:pathLst>
              <a:path w="6915" h="5569">
                <a:moveTo>
                  <a:pt x="0" y="5568"/>
                </a:moveTo>
                <a:lnTo>
                  <a:pt x="6914" y="5568"/>
                </a:lnTo>
                <a:lnTo>
                  <a:pt x="6914" y="0"/>
                </a:lnTo>
                <a:lnTo>
                  <a:pt x="0" y="0"/>
                </a:lnTo>
                <a:lnTo>
                  <a:pt x="0" y="5568"/>
                </a:lnTo>
                <a:close/>
              </a:path>
            </a:pathLst>
          </a:custGeom>
          <a:solidFill>
            <a:srgbClr val="ffcccc">
              <a:alpha val="40000"/>
            </a:srgbClr>
          </a:solidFill>
          <a:ln w="0">
            <a:noFill/>
          </a:ln>
        </p:spPr>
      </p:sp>
      <p:sp>
        <p:nvSpPr>
          <p:cNvPr id="547" name="Freeform 79"/>
          <p:cNvSpPr/>
          <p:nvPr/>
        </p:nvSpPr>
        <p:spPr>
          <a:xfrm>
            <a:off x="6824160" y="3433320"/>
            <a:ext cx="2487960" cy="1951560"/>
          </a:xfrm>
          <a:custGeom>
            <a:avLst/>
            <a:gdLst/>
            <a:ahLst/>
            <a:rect l="0" t="0" r="r" b="b"/>
            <a:pathLst>
              <a:path w="6911" h="5421">
                <a:moveTo>
                  <a:pt x="0" y="5420"/>
                </a:moveTo>
                <a:lnTo>
                  <a:pt x="6910" y="5420"/>
                </a:lnTo>
                <a:lnTo>
                  <a:pt x="6910" y="0"/>
                </a:lnTo>
                <a:lnTo>
                  <a:pt x="0" y="0"/>
                </a:lnTo>
                <a:lnTo>
                  <a:pt x="0" y="5420"/>
                </a:lnTo>
                <a:close/>
              </a:path>
            </a:pathLst>
          </a:custGeom>
          <a:solidFill>
            <a:srgbClr val="dbeef4">
              <a:alpha val="40000"/>
            </a:srgbClr>
          </a:solidFill>
          <a:ln w="0">
            <a:noFill/>
          </a:ln>
        </p:spPr>
      </p:sp>
      <p:sp>
        <p:nvSpPr>
          <p:cNvPr id="548" name="Freeform 80"/>
          <p:cNvSpPr/>
          <p:nvPr/>
        </p:nvSpPr>
        <p:spPr>
          <a:xfrm>
            <a:off x="787680" y="3433320"/>
            <a:ext cx="2489400" cy="1951560"/>
          </a:xfrm>
          <a:custGeom>
            <a:avLst/>
            <a:gdLst/>
            <a:ahLst/>
            <a:rect l="0" t="0" r="r" b="b"/>
            <a:pathLst>
              <a:path w="6915" h="5421">
                <a:moveTo>
                  <a:pt x="0" y="5420"/>
                </a:moveTo>
                <a:lnTo>
                  <a:pt x="6914" y="5420"/>
                </a:lnTo>
                <a:lnTo>
                  <a:pt x="6914" y="0"/>
                </a:lnTo>
                <a:lnTo>
                  <a:pt x="0" y="0"/>
                </a:lnTo>
                <a:lnTo>
                  <a:pt x="0" y="5420"/>
                </a:lnTo>
                <a:close/>
              </a:path>
            </a:pathLst>
          </a:custGeom>
          <a:solidFill>
            <a:srgbClr val="dbeef4">
              <a:alpha val="40000"/>
            </a:srgbClr>
          </a:solidFill>
          <a:ln w="0">
            <a:noFill/>
          </a:ln>
        </p:spPr>
      </p:sp>
      <p:sp>
        <p:nvSpPr>
          <p:cNvPr id="549" name="Freeform 81"/>
          <p:cNvSpPr/>
          <p:nvPr/>
        </p:nvSpPr>
        <p:spPr>
          <a:xfrm>
            <a:off x="3764880" y="2381040"/>
            <a:ext cx="1884240" cy="803880"/>
          </a:xfrm>
          <a:custGeom>
            <a:avLst/>
            <a:gdLst/>
            <a:ahLst/>
            <a:rect l="0" t="0" r="r" b="b"/>
            <a:pathLst>
              <a:path w="5234" h="2233">
                <a:moveTo>
                  <a:pt x="0" y="2232"/>
                </a:moveTo>
                <a:lnTo>
                  <a:pt x="5233" y="2232"/>
                </a:lnTo>
                <a:lnTo>
                  <a:pt x="5233" y="0"/>
                </a:lnTo>
                <a:lnTo>
                  <a:pt x="0" y="0"/>
                </a:lnTo>
                <a:lnTo>
                  <a:pt x="0" y="2232"/>
                </a:lnTo>
                <a:close/>
              </a:path>
            </a:pathLst>
          </a:custGeom>
          <a:solidFill>
            <a:srgbClr val="c00000"/>
          </a:solidFill>
          <a:ln w="25200">
            <a:solidFill>
              <a:srgbClr val="385d8a"/>
            </a:solidFill>
            <a:round/>
          </a:ln>
        </p:spPr>
      </p:sp>
      <p:sp>
        <p:nvSpPr>
          <p:cNvPr id="550" name="TextShape 82"/>
          <p:cNvSpPr txBox="1"/>
          <p:nvPr/>
        </p:nvSpPr>
        <p:spPr>
          <a:xfrm>
            <a:off x="11413440" y="5178960"/>
            <a:ext cx="4579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Meiryo"/>
              </a:rPr>
              <a:t>頻度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51" name="Freeform 83"/>
          <p:cNvSpPr/>
          <p:nvPr/>
        </p:nvSpPr>
        <p:spPr>
          <a:xfrm>
            <a:off x="4083840" y="2730600"/>
            <a:ext cx="1372320" cy="12960"/>
          </a:xfrm>
          <a:custGeom>
            <a:avLst/>
            <a:gdLst/>
            <a:ahLst/>
            <a:rect l="0" t="0" r="r" b="b"/>
            <a:pathLst>
              <a:path w="3812" h="36">
                <a:moveTo>
                  <a:pt x="0" y="0"/>
                </a:moveTo>
                <a:lnTo>
                  <a:pt x="952" y="0"/>
                </a:lnTo>
                <a:lnTo>
                  <a:pt x="1905" y="0"/>
                </a:lnTo>
                <a:lnTo>
                  <a:pt x="2858" y="0"/>
                </a:lnTo>
                <a:lnTo>
                  <a:pt x="3811" y="0"/>
                </a:lnTo>
                <a:lnTo>
                  <a:pt x="3811" y="35"/>
                </a:lnTo>
                <a:lnTo>
                  <a:pt x="2858" y="35"/>
                </a:lnTo>
                <a:lnTo>
                  <a:pt x="1905" y="35"/>
                </a:lnTo>
                <a:lnTo>
                  <a:pt x="952" y="35"/>
                </a:lnTo>
                <a:lnTo>
                  <a:pt x="0" y="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552" name="TextShape 84"/>
          <p:cNvSpPr txBox="1"/>
          <p:nvPr/>
        </p:nvSpPr>
        <p:spPr>
          <a:xfrm>
            <a:off x="3855960" y="2496240"/>
            <a:ext cx="16009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Meiryo"/>
              </a:rPr>
              <a:t>・経営数値分析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53" name="TextShape 85"/>
          <p:cNvSpPr txBox="1"/>
          <p:nvPr/>
        </p:nvSpPr>
        <p:spPr>
          <a:xfrm>
            <a:off x="3855960" y="2770560"/>
            <a:ext cx="2293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Meiryo"/>
              </a:rPr>
              <a:t>・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54" name="Freeform 86"/>
          <p:cNvSpPr/>
          <p:nvPr/>
        </p:nvSpPr>
        <p:spPr>
          <a:xfrm>
            <a:off x="4083840" y="3004920"/>
            <a:ext cx="844920" cy="12960"/>
          </a:xfrm>
          <a:custGeom>
            <a:avLst/>
            <a:gdLst/>
            <a:ahLst/>
            <a:rect l="0" t="0" r="r" b="b"/>
            <a:pathLst>
              <a:path w="2347" h="36">
                <a:moveTo>
                  <a:pt x="0" y="0"/>
                </a:moveTo>
                <a:lnTo>
                  <a:pt x="1172" y="0"/>
                </a:lnTo>
                <a:lnTo>
                  <a:pt x="2346" y="0"/>
                </a:lnTo>
                <a:lnTo>
                  <a:pt x="2346" y="35"/>
                </a:lnTo>
                <a:lnTo>
                  <a:pt x="1172" y="35"/>
                </a:lnTo>
                <a:lnTo>
                  <a:pt x="0" y="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555" name="Freeform 87"/>
          <p:cNvSpPr/>
          <p:nvPr/>
        </p:nvSpPr>
        <p:spPr>
          <a:xfrm>
            <a:off x="9490680" y="2333880"/>
            <a:ext cx="2117520" cy="910440"/>
          </a:xfrm>
          <a:custGeom>
            <a:avLst/>
            <a:gdLst/>
            <a:ahLst/>
            <a:rect l="0" t="0" r="r" b="b"/>
            <a:pathLst>
              <a:path w="5882" h="2529">
                <a:moveTo>
                  <a:pt x="0" y="2528"/>
                </a:moveTo>
                <a:lnTo>
                  <a:pt x="5881" y="2528"/>
                </a:lnTo>
                <a:lnTo>
                  <a:pt x="5881" y="0"/>
                </a:lnTo>
                <a:lnTo>
                  <a:pt x="0" y="0"/>
                </a:lnTo>
                <a:lnTo>
                  <a:pt x="0" y="2528"/>
                </a:lnTo>
                <a:close/>
              </a:path>
            </a:pathLst>
          </a:custGeom>
          <a:solidFill>
            <a:srgbClr val="c00000"/>
          </a:solidFill>
          <a:ln w="25200">
            <a:solidFill>
              <a:srgbClr val="385d8a"/>
            </a:solidFill>
            <a:round/>
          </a:ln>
        </p:spPr>
      </p:sp>
      <p:sp>
        <p:nvSpPr>
          <p:cNvPr id="556" name="TextShape 88"/>
          <p:cNvSpPr txBox="1"/>
          <p:nvPr/>
        </p:nvSpPr>
        <p:spPr>
          <a:xfrm>
            <a:off x="4084560" y="2811240"/>
            <a:ext cx="84492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POSPMA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57" name="Freeform 89"/>
          <p:cNvSpPr/>
          <p:nvPr/>
        </p:nvSpPr>
        <p:spPr>
          <a:xfrm>
            <a:off x="9809280" y="2598480"/>
            <a:ext cx="915120" cy="12960"/>
          </a:xfrm>
          <a:custGeom>
            <a:avLst/>
            <a:gdLst/>
            <a:ahLst/>
            <a:rect l="0" t="0" r="r" b="b"/>
            <a:pathLst>
              <a:path w="2542" h="36">
                <a:moveTo>
                  <a:pt x="0" y="0"/>
                </a:moveTo>
                <a:lnTo>
                  <a:pt x="1270" y="0"/>
                </a:lnTo>
                <a:lnTo>
                  <a:pt x="2541" y="0"/>
                </a:lnTo>
                <a:lnTo>
                  <a:pt x="2541" y="35"/>
                </a:lnTo>
                <a:lnTo>
                  <a:pt x="1270" y="35"/>
                </a:lnTo>
                <a:lnTo>
                  <a:pt x="0" y="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558" name="TextShape 90"/>
          <p:cNvSpPr txBox="1"/>
          <p:nvPr/>
        </p:nvSpPr>
        <p:spPr>
          <a:xfrm>
            <a:off x="9582120" y="2364120"/>
            <a:ext cx="11437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Meiryo"/>
              </a:rPr>
              <a:t>・サマリー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59" name="TextShape 91"/>
          <p:cNvSpPr txBox="1"/>
          <p:nvPr/>
        </p:nvSpPr>
        <p:spPr>
          <a:xfrm>
            <a:off x="9582120" y="2639160"/>
            <a:ext cx="2293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Meiryo"/>
              </a:rPr>
              <a:t>・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60" name="Freeform 92"/>
          <p:cNvSpPr/>
          <p:nvPr/>
        </p:nvSpPr>
        <p:spPr>
          <a:xfrm>
            <a:off x="9809280" y="2872800"/>
            <a:ext cx="845280" cy="12960"/>
          </a:xfrm>
          <a:custGeom>
            <a:avLst/>
            <a:gdLst/>
            <a:ahLst/>
            <a:rect l="0" t="0" r="r" b="b"/>
            <a:pathLst>
              <a:path w="2348" h="36">
                <a:moveTo>
                  <a:pt x="0" y="0"/>
                </a:moveTo>
                <a:lnTo>
                  <a:pt x="1173" y="0"/>
                </a:lnTo>
                <a:lnTo>
                  <a:pt x="2347" y="0"/>
                </a:lnTo>
                <a:lnTo>
                  <a:pt x="2347" y="35"/>
                </a:lnTo>
                <a:lnTo>
                  <a:pt x="1173" y="35"/>
                </a:lnTo>
                <a:lnTo>
                  <a:pt x="0" y="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561" name="TextShape 93"/>
          <p:cNvSpPr txBox="1"/>
          <p:nvPr/>
        </p:nvSpPr>
        <p:spPr>
          <a:xfrm>
            <a:off x="9810720" y="2679840"/>
            <a:ext cx="84492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POSPMA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62" name="Freeform 94"/>
          <p:cNvSpPr/>
          <p:nvPr/>
        </p:nvSpPr>
        <p:spPr>
          <a:xfrm>
            <a:off x="9809280" y="3141000"/>
            <a:ext cx="915120" cy="12960"/>
          </a:xfrm>
          <a:custGeom>
            <a:avLst/>
            <a:gdLst/>
            <a:ahLst/>
            <a:rect l="0" t="0" r="r" b="b"/>
            <a:pathLst>
              <a:path w="2542" h="36">
                <a:moveTo>
                  <a:pt x="0" y="0"/>
                </a:moveTo>
                <a:lnTo>
                  <a:pt x="1270" y="0"/>
                </a:lnTo>
                <a:lnTo>
                  <a:pt x="2541" y="0"/>
                </a:lnTo>
                <a:lnTo>
                  <a:pt x="2541" y="35"/>
                </a:lnTo>
                <a:lnTo>
                  <a:pt x="1270" y="35"/>
                </a:lnTo>
                <a:lnTo>
                  <a:pt x="0" y="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563" name="TextShape 95"/>
          <p:cNvSpPr txBox="1"/>
          <p:nvPr/>
        </p:nvSpPr>
        <p:spPr>
          <a:xfrm>
            <a:off x="9582120" y="2907360"/>
            <a:ext cx="11437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Meiryo"/>
              </a:rPr>
              <a:t>・中間資料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64" name="Freeform 96"/>
          <p:cNvSpPr/>
          <p:nvPr/>
        </p:nvSpPr>
        <p:spPr>
          <a:xfrm>
            <a:off x="1145160" y="4254120"/>
            <a:ext cx="1776240" cy="511200"/>
          </a:xfrm>
          <a:custGeom>
            <a:avLst/>
            <a:gdLst/>
            <a:ahLst/>
            <a:rect l="0" t="0" r="r" b="b"/>
            <a:pathLst>
              <a:path w="4934" h="1420">
                <a:moveTo>
                  <a:pt x="0" y="1419"/>
                </a:moveTo>
                <a:lnTo>
                  <a:pt x="4933" y="1419"/>
                </a:lnTo>
                <a:lnTo>
                  <a:pt x="4933" y="0"/>
                </a:lnTo>
                <a:lnTo>
                  <a:pt x="0" y="0"/>
                </a:lnTo>
                <a:lnTo>
                  <a:pt x="0" y="1419"/>
                </a:lnTo>
                <a:close/>
              </a:path>
            </a:pathLst>
          </a:custGeom>
          <a:solidFill>
            <a:srgbClr val="254061"/>
          </a:solidFill>
          <a:ln w="25200">
            <a:solidFill>
              <a:srgbClr val="385d8a"/>
            </a:solidFill>
            <a:round/>
          </a:ln>
        </p:spPr>
      </p:sp>
      <p:sp>
        <p:nvSpPr>
          <p:cNvPr id="565" name="TextShape 97"/>
          <p:cNvSpPr txBox="1"/>
          <p:nvPr/>
        </p:nvSpPr>
        <p:spPr>
          <a:xfrm>
            <a:off x="10725480" y="3013200"/>
            <a:ext cx="68652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800" spc="-1" strike="noStrike">
                <a:solidFill>
                  <a:srgbClr val="ffffff"/>
                </a:solidFill>
                <a:latin typeface="Meiryo"/>
              </a:rPr>
              <a:t>（利益試算）</a:t>
            </a:r>
            <a:endParaRPr b="0" lang="en-US" sz="800" spc="-1" strike="noStrike">
              <a:latin typeface="Times New Roman"/>
            </a:endParaRPr>
          </a:p>
        </p:txBody>
      </p:sp>
      <p:sp>
        <p:nvSpPr>
          <p:cNvPr id="566" name="Freeform 98"/>
          <p:cNvSpPr/>
          <p:nvPr/>
        </p:nvSpPr>
        <p:spPr>
          <a:xfrm>
            <a:off x="1464480" y="4593960"/>
            <a:ext cx="915120" cy="12960"/>
          </a:xfrm>
          <a:custGeom>
            <a:avLst/>
            <a:gdLst/>
            <a:ahLst/>
            <a:rect l="0" t="0" r="r" b="b"/>
            <a:pathLst>
              <a:path w="2542" h="36">
                <a:moveTo>
                  <a:pt x="0" y="0"/>
                </a:moveTo>
                <a:lnTo>
                  <a:pt x="847" y="0"/>
                </a:lnTo>
                <a:lnTo>
                  <a:pt x="1693" y="0"/>
                </a:lnTo>
                <a:lnTo>
                  <a:pt x="2541" y="0"/>
                </a:lnTo>
                <a:lnTo>
                  <a:pt x="2541" y="35"/>
                </a:lnTo>
                <a:lnTo>
                  <a:pt x="1693" y="35"/>
                </a:lnTo>
                <a:lnTo>
                  <a:pt x="847" y="35"/>
                </a:lnTo>
                <a:lnTo>
                  <a:pt x="0" y="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567" name="Freeform 99"/>
          <p:cNvSpPr/>
          <p:nvPr/>
        </p:nvSpPr>
        <p:spPr>
          <a:xfrm>
            <a:off x="7134480" y="4258800"/>
            <a:ext cx="1992600" cy="1036800"/>
          </a:xfrm>
          <a:custGeom>
            <a:avLst/>
            <a:gdLst/>
            <a:ahLst/>
            <a:rect l="0" t="0" r="r" b="b"/>
            <a:pathLst>
              <a:path w="5535" h="2880">
                <a:moveTo>
                  <a:pt x="0" y="2879"/>
                </a:moveTo>
                <a:lnTo>
                  <a:pt x="5534" y="2879"/>
                </a:lnTo>
                <a:lnTo>
                  <a:pt x="5534" y="0"/>
                </a:lnTo>
                <a:lnTo>
                  <a:pt x="0" y="0"/>
                </a:lnTo>
                <a:lnTo>
                  <a:pt x="0" y="2879"/>
                </a:lnTo>
                <a:close/>
              </a:path>
            </a:pathLst>
          </a:custGeom>
          <a:solidFill>
            <a:srgbClr val="254061"/>
          </a:solidFill>
          <a:ln w="25200">
            <a:solidFill>
              <a:srgbClr val="385d8a"/>
            </a:solidFill>
            <a:round/>
          </a:ln>
        </p:spPr>
      </p:sp>
      <p:sp>
        <p:nvSpPr>
          <p:cNvPr id="568" name="TextShape 100"/>
          <p:cNvSpPr txBox="1"/>
          <p:nvPr/>
        </p:nvSpPr>
        <p:spPr>
          <a:xfrm>
            <a:off x="1236240" y="4359960"/>
            <a:ext cx="11437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Meiryo"/>
              </a:rPr>
              <a:t>・買上点数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69" name="TextShape 101"/>
          <p:cNvSpPr txBox="1"/>
          <p:nvPr/>
        </p:nvSpPr>
        <p:spPr>
          <a:xfrm>
            <a:off x="7226640" y="4352760"/>
            <a:ext cx="2293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Meiryo"/>
              </a:rPr>
              <a:t>・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70" name="TextShape 102"/>
          <p:cNvSpPr txBox="1"/>
          <p:nvPr/>
        </p:nvSpPr>
        <p:spPr>
          <a:xfrm>
            <a:off x="7455240" y="4393440"/>
            <a:ext cx="22860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AI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71" name="TextShape 103"/>
          <p:cNvSpPr txBox="1"/>
          <p:nvPr/>
        </p:nvSpPr>
        <p:spPr>
          <a:xfrm>
            <a:off x="7655400" y="4352760"/>
            <a:ext cx="9151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Meiryo"/>
              </a:rPr>
              <a:t>発注検証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72" name="TextShape 104"/>
          <p:cNvSpPr txBox="1"/>
          <p:nvPr/>
        </p:nvSpPr>
        <p:spPr>
          <a:xfrm>
            <a:off x="7226640" y="4627800"/>
            <a:ext cx="11437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Meiryo"/>
              </a:rPr>
              <a:t>・買上点数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73" name="TextShape 105"/>
          <p:cNvSpPr txBox="1"/>
          <p:nvPr/>
        </p:nvSpPr>
        <p:spPr>
          <a:xfrm>
            <a:off x="7226640" y="4902120"/>
            <a:ext cx="13723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Meiryo"/>
              </a:rPr>
              <a:t>・カウンター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74" name="Freeform 106"/>
          <p:cNvSpPr/>
          <p:nvPr/>
        </p:nvSpPr>
        <p:spPr>
          <a:xfrm>
            <a:off x="884520" y="1478880"/>
            <a:ext cx="2297520" cy="969840"/>
          </a:xfrm>
          <a:custGeom>
            <a:avLst/>
            <a:gdLst/>
            <a:ahLst/>
            <a:rect l="0" t="0" r="r" b="b"/>
            <a:pathLst>
              <a:path w="6382" h="2694">
                <a:moveTo>
                  <a:pt x="0" y="2693"/>
                </a:moveTo>
                <a:lnTo>
                  <a:pt x="6381" y="2693"/>
                </a:lnTo>
                <a:lnTo>
                  <a:pt x="6381" y="0"/>
                </a:lnTo>
                <a:lnTo>
                  <a:pt x="0" y="0"/>
                </a:lnTo>
                <a:lnTo>
                  <a:pt x="0" y="2693"/>
                </a:lnTo>
                <a:close/>
              </a:path>
            </a:pathLst>
          </a:custGeom>
          <a:solidFill>
            <a:srgbClr val="f2f2f2"/>
          </a:solidFill>
          <a:ln w="25200">
            <a:solidFill>
              <a:srgbClr val="385d8a"/>
            </a:solidFill>
            <a:round/>
          </a:ln>
        </p:spPr>
      </p:sp>
      <p:sp>
        <p:nvSpPr>
          <p:cNvPr id="575" name="TextShape 107"/>
          <p:cNvSpPr txBox="1"/>
          <p:nvPr/>
        </p:nvSpPr>
        <p:spPr>
          <a:xfrm>
            <a:off x="8598600" y="4942800"/>
            <a:ext cx="228240" cy="23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FF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76" name="Freeform 108"/>
          <p:cNvSpPr/>
          <p:nvPr/>
        </p:nvSpPr>
        <p:spPr>
          <a:xfrm>
            <a:off x="1203840" y="1773720"/>
            <a:ext cx="1829880" cy="12960"/>
          </a:xfrm>
          <a:custGeom>
            <a:avLst/>
            <a:gdLst/>
            <a:ahLst/>
            <a:rect l="0" t="0" r="r" b="b"/>
            <a:pathLst>
              <a:path w="5083" h="36">
                <a:moveTo>
                  <a:pt x="0" y="0"/>
                </a:moveTo>
                <a:lnTo>
                  <a:pt x="1271" y="0"/>
                </a:lnTo>
                <a:lnTo>
                  <a:pt x="2541" y="0"/>
                </a:lnTo>
                <a:lnTo>
                  <a:pt x="3811" y="0"/>
                </a:lnTo>
                <a:lnTo>
                  <a:pt x="5082" y="0"/>
                </a:lnTo>
                <a:lnTo>
                  <a:pt x="5082" y="35"/>
                </a:lnTo>
                <a:lnTo>
                  <a:pt x="3811" y="35"/>
                </a:lnTo>
                <a:lnTo>
                  <a:pt x="2541" y="35"/>
                </a:lnTo>
                <a:lnTo>
                  <a:pt x="1271" y="35"/>
                </a:lnTo>
                <a:lnTo>
                  <a:pt x="0" y="3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577" name="TextShape 109"/>
          <p:cNvSpPr txBox="1"/>
          <p:nvPr/>
        </p:nvSpPr>
        <p:spPr>
          <a:xfrm>
            <a:off x="975600" y="1539720"/>
            <a:ext cx="20581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000000"/>
                </a:solidFill>
                <a:latin typeface="Meiryo"/>
              </a:rPr>
              <a:t>・非デイリー品揃え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78" name="Freeform 110"/>
          <p:cNvSpPr/>
          <p:nvPr/>
        </p:nvSpPr>
        <p:spPr>
          <a:xfrm>
            <a:off x="1203840" y="2048040"/>
            <a:ext cx="1372680" cy="12960"/>
          </a:xfrm>
          <a:custGeom>
            <a:avLst/>
            <a:gdLst/>
            <a:ahLst/>
            <a:rect l="0" t="0" r="r" b="b"/>
            <a:pathLst>
              <a:path w="3813" h="36">
                <a:moveTo>
                  <a:pt x="0" y="0"/>
                </a:moveTo>
                <a:lnTo>
                  <a:pt x="1271" y="0"/>
                </a:lnTo>
                <a:lnTo>
                  <a:pt x="2542" y="0"/>
                </a:lnTo>
                <a:lnTo>
                  <a:pt x="3812" y="0"/>
                </a:lnTo>
                <a:lnTo>
                  <a:pt x="3812" y="35"/>
                </a:lnTo>
                <a:lnTo>
                  <a:pt x="2542" y="35"/>
                </a:lnTo>
                <a:lnTo>
                  <a:pt x="1271" y="35"/>
                </a:lnTo>
                <a:lnTo>
                  <a:pt x="0" y="3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579" name="TextShape 111"/>
          <p:cNvSpPr txBox="1"/>
          <p:nvPr/>
        </p:nvSpPr>
        <p:spPr>
          <a:xfrm>
            <a:off x="975600" y="1814040"/>
            <a:ext cx="16009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000000"/>
                </a:solidFill>
                <a:latin typeface="Meiryo"/>
              </a:rPr>
              <a:t>・利益構造分析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80" name="Freeform 112"/>
          <p:cNvSpPr/>
          <p:nvPr/>
        </p:nvSpPr>
        <p:spPr>
          <a:xfrm>
            <a:off x="1203840" y="2322360"/>
            <a:ext cx="686880" cy="13320"/>
          </a:xfrm>
          <a:custGeom>
            <a:avLst/>
            <a:gdLst/>
            <a:ahLst/>
            <a:rect l="0" t="0" r="r" b="b"/>
            <a:pathLst>
              <a:path w="1908" h="37">
                <a:moveTo>
                  <a:pt x="0" y="0"/>
                </a:moveTo>
                <a:lnTo>
                  <a:pt x="953" y="0"/>
                </a:lnTo>
                <a:lnTo>
                  <a:pt x="1907" y="0"/>
                </a:lnTo>
                <a:lnTo>
                  <a:pt x="1907" y="36"/>
                </a:lnTo>
                <a:lnTo>
                  <a:pt x="953" y="36"/>
                </a:lnTo>
                <a:lnTo>
                  <a:pt x="0" y="3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581" name="Freeform 113"/>
          <p:cNvSpPr/>
          <p:nvPr/>
        </p:nvSpPr>
        <p:spPr>
          <a:xfrm>
            <a:off x="6921000" y="1279080"/>
            <a:ext cx="2297520" cy="1162080"/>
          </a:xfrm>
          <a:custGeom>
            <a:avLst/>
            <a:gdLst/>
            <a:ahLst/>
            <a:rect l="0" t="0" r="r" b="b"/>
            <a:pathLst>
              <a:path w="6382" h="3228">
                <a:moveTo>
                  <a:pt x="0" y="3227"/>
                </a:moveTo>
                <a:lnTo>
                  <a:pt x="6381" y="3227"/>
                </a:lnTo>
                <a:lnTo>
                  <a:pt x="6381" y="0"/>
                </a:lnTo>
                <a:lnTo>
                  <a:pt x="0" y="0"/>
                </a:lnTo>
                <a:lnTo>
                  <a:pt x="0" y="3227"/>
                </a:lnTo>
                <a:close/>
              </a:path>
            </a:pathLst>
          </a:custGeom>
          <a:solidFill>
            <a:srgbClr val="f2f2f2"/>
          </a:solidFill>
          <a:ln w="25200">
            <a:solidFill>
              <a:srgbClr val="385d8a"/>
            </a:solidFill>
            <a:round/>
          </a:ln>
        </p:spPr>
      </p:sp>
      <p:sp>
        <p:nvSpPr>
          <p:cNvPr id="582" name="TextShape 114"/>
          <p:cNvSpPr txBox="1"/>
          <p:nvPr/>
        </p:nvSpPr>
        <p:spPr>
          <a:xfrm>
            <a:off x="975600" y="2088360"/>
            <a:ext cx="9151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000000"/>
                </a:solidFill>
                <a:latin typeface="Meiryo"/>
              </a:rPr>
              <a:t>・利用度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83" name="Freeform 115"/>
          <p:cNvSpPr/>
          <p:nvPr/>
        </p:nvSpPr>
        <p:spPr>
          <a:xfrm>
            <a:off x="7239600" y="1532520"/>
            <a:ext cx="915120" cy="12960"/>
          </a:xfrm>
          <a:custGeom>
            <a:avLst/>
            <a:gdLst/>
            <a:ahLst/>
            <a:rect l="0" t="0" r="r" b="b"/>
            <a:pathLst>
              <a:path w="2542" h="36">
                <a:moveTo>
                  <a:pt x="0" y="0"/>
                </a:moveTo>
                <a:lnTo>
                  <a:pt x="1270" y="0"/>
                </a:lnTo>
                <a:lnTo>
                  <a:pt x="2541" y="0"/>
                </a:lnTo>
                <a:lnTo>
                  <a:pt x="2541" y="35"/>
                </a:lnTo>
                <a:lnTo>
                  <a:pt x="1270" y="35"/>
                </a:lnTo>
                <a:lnTo>
                  <a:pt x="0" y="3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584" name="TextShape 116"/>
          <p:cNvSpPr txBox="1"/>
          <p:nvPr/>
        </p:nvSpPr>
        <p:spPr>
          <a:xfrm>
            <a:off x="7012080" y="1298160"/>
            <a:ext cx="11437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000000"/>
                </a:solidFill>
                <a:latin typeface="Meiryo"/>
              </a:rPr>
              <a:t>・日別売上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85" name="Freeform 117"/>
          <p:cNvSpPr/>
          <p:nvPr/>
        </p:nvSpPr>
        <p:spPr>
          <a:xfrm>
            <a:off x="7239600" y="1806840"/>
            <a:ext cx="1143720" cy="12960"/>
          </a:xfrm>
          <a:custGeom>
            <a:avLst/>
            <a:gdLst/>
            <a:ahLst/>
            <a:rect l="0" t="0" r="r" b="b"/>
            <a:pathLst>
              <a:path w="3177" h="36">
                <a:moveTo>
                  <a:pt x="0" y="0"/>
                </a:moveTo>
                <a:lnTo>
                  <a:pt x="1060" y="0"/>
                </a:lnTo>
                <a:lnTo>
                  <a:pt x="2118" y="0"/>
                </a:lnTo>
                <a:lnTo>
                  <a:pt x="3176" y="0"/>
                </a:lnTo>
                <a:lnTo>
                  <a:pt x="3176" y="35"/>
                </a:lnTo>
                <a:lnTo>
                  <a:pt x="2118" y="35"/>
                </a:lnTo>
                <a:lnTo>
                  <a:pt x="1060" y="35"/>
                </a:lnTo>
                <a:lnTo>
                  <a:pt x="0" y="3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</p:sp>
      <p:sp>
        <p:nvSpPr>
          <p:cNvPr id="586" name="TextShape 118"/>
          <p:cNvSpPr txBox="1"/>
          <p:nvPr/>
        </p:nvSpPr>
        <p:spPr>
          <a:xfrm>
            <a:off x="7012080" y="1572480"/>
            <a:ext cx="13723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000000"/>
                </a:solidFill>
                <a:latin typeface="Meiryo"/>
              </a:rPr>
              <a:t>・時間帯売上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87" name="TextShape 119"/>
          <p:cNvSpPr txBox="1"/>
          <p:nvPr/>
        </p:nvSpPr>
        <p:spPr>
          <a:xfrm>
            <a:off x="7012080" y="1840680"/>
            <a:ext cx="2293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000000"/>
                </a:solidFill>
                <a:latin typeface="Meiryo"/>
              </a:rPr>
              <a:t>・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88" name="TextShape 120"/>
          <p:cNvSpPr txBox="1"/>
          <p:nvPr/>
        </p:nvSpPr>
        <p:spPr>
          <a:xfrm>
            <a:off x="7240680" y="1887480"/>
            <a:ext cx="1783800" cy="20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200" spc="-1" strike="noStrike">
                <a:solidFill>
                  <a:srgbClr val="000000"/>
                </a:solidFill>
                <a:latin typeface="Meiryo"/>
              </a:rPr>
              <a:t>アプリキャッシュレス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589" name="TextShape 121"/>
          <p:cNvSpPr txBox="1"/>
          <p:nvPr/>
        </p:nvSpPr>
        <p:spPr>
          <a:xfrm>
            <a:off x="7012080" y="2121120"/>
            <a:ext cx="20581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000000"/>
                </a:solidFill>
                <a:latin typeface="Meiryo"/>
              </a:rPr>
              <a:t>・非デイリー品揃え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590" name="TextShape 122"/>
          <p:cNvSpPr txBox="1"/>
          <p:nvPr/>
        </p:nvSpPr>
        <p:spPr>
          <a:xfrm>
            <a:off x="2032920" y="813960"/>
            <a:ext cx="20779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404040"/>
                </a:solidFill>
                <a:latin typeface="MeiryoUI"/>
              </a:rPr>
              <a:t>●</a:t>
            </a:r>
            <a:r>
              <a:rPr b="1" lang="zh-CN" sz="2800" spc="-1" strike="noStrike">
                <a:solidFill>
                  <a:srgbClr val="404040"/>
                </a:solidFill>
                <a:latin typeface="MeiryoUI"/>
              </a:rPr>
              <a:t>月間資料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591" name="TextShape 123"/>
          <p:cNvSpPr txBox="1"/>
          <p:nvPr/>
        </p:nvSpPr>
        <p:spPr>
          <a:xfrm>
            <a:off x="8069400" y="799560"/>
            <a:ext cx="20779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404040"/>
                </a:solidFill>
                <a:latin typeface="MeiryoUI"/>
              </a:rPr>
              <a:t>●</a:t>
            </a:r>
            <a:r>
              <a:rPr b="1" lang="zh-CN" sz="2800" spc="-1" strike="noStrike">
                <a:solidFill>
                  <a:srgbClr val="404040"/>
                </a:solidFill>
                <a:latin typeface="MeiryoUI"/>
              </a:rPr>
              <a:t>週間資料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592" name="Freeform 124"/>
          <p:cNvSpPr/>
          <p:nvPr/>
        </p:nvSpPr>
        <p:spPr>
          <a:xfrm>
            <a:off x="4246560" y="5942520"/>
            <a:ext cx="1220040" cy="15840"/>
          </a:xfrm>
          <a:custGeom>
            <a:avLst/>
            <a:gdLst/>
            <a:ahLst/>
            <a:rect l="0" t="0" r="r" b="b"/>
            <a:pathLst>
              <a:path w="3389" h="44">
                <a:moveTo>
                  <a:pt x="0" y="43"/>
                </a:moveTo>
                <a:lnTo>
                  <a:pt x="3388" y="43"/>
                </a:lnTo>
                <a:lnTo>
                  <a:pt x="3388" y="0"/>
                </a:lnTo>
                <a:lnTo>
                  <a:pt x="0" y="0"/>
                </a:lnTo>
                <a:lnTo>
                  <a:pt x="0" y="43"/>
                </a:lnTo>
                <a:close/>
              </a:path>
            </a:pathLst>
          </a:custGeom>
          <a:solidFill>
            <a:srgbClr val="404040"/>
          </a:solidFill>
          <a:ln w="0">
            <a:noFill/>
          </a:ln>
        </p:spPr>
      </p:sp>
      <p:sp>
        <p:nvSpPr>
          <p:cNvPr id="593" name="Freeform 125"/>
          <p:cNvSpPr/>
          <p:nvPr/>
        </p:nvSpPr>
        <p:spPr>
          <a:xfrm>
            <a:off x="6075360" y="5942520"/>
            <a:ext cx="610200" cy="15840"/>
          </a:xfrm>
          <a:custGeom>
            <a:avLst/>
            <a:gdLst/>
            <a:ahLst/>
            <a:rect l="0" t="0" r="r" b="b"/>
            <a:pathLst>
              <a:path w="1695" h="44">
                <a:moveTo>
                  <a:pt x="0" y="43"/>
                </a:moveTo>
                <a:lnTo>
                  <a:pt x="1694" y="43"/>
                </a:lnTo>
                <a:lnTo>
                  <a:pt x="1694" y="0"/>
                </a:lnTo>
                <a:lnTo>
                  <a:pt x="0" y="0"/>
                </a:lnTo>
                <a:lnTo>
                  <a:pt x="0" y="43"/>
                </a:lnTo>
                <a:close/>
              </a:path>
            </a:pathLst>
          </a:custGeom>
          <a:solidFill>
            <a:srgbClr val="404040"/>
          </a:solidFill>
          <a:ln w="0">
            <a:noFill/>
          </a:ln>
        </p:spPr>
      </p:sp>
      <p:sp>
        <p:nvSpPr>
          <p:cNvPr id="594" name="Freeform 126"/>
          <p:cNvSpPr/>
          <p:nvPr/>
        </p:nvSpPr>
        <p:spPr>
          <a:xfrm>
            <a:off x="7294680" y="5942520"/>
            <a:ext cx="1370520" cy="15840"/>
          </a:xfrm>
          <a:custGeom>
            <a:avLst/>
            <a:gdLst/>
            <a:ahLst/>
            <a:rect l="0" t="0" r="r" b="b"/>
            <a:pathLst>
              <a:path w="3807" h="44">
                <a:moveTo>
                  <a:pt x="0" y="43"/>
                </a:moveTo>
                <a:lnTo>
                  <a:pt x="3806" y="43"/>
                </a:lnTo>
                <a:lnTo>
                  <a:pt x="3806" y="0"/>
                </a:lnTo>
                <a:lnTo>
                  <a:pt x="0" y="0"/>
                </a:lnTo>
                <a:lnTo>
                  <a:pt x="0" y="43"/>
                </a:lnTo>
                <a:close/>
              </a:path>
            </a:pathLst>
          </a:custGeom>
          <a:solidFill>
            <a:srgbClr val="404040"/>
          </a:solidFill>
          <a:ln w="0">
            <a:noFill/>
          </a:ln>
        </p:spPr>
      </p:sp>
      <p:sp>
        <p:nvSpPr>
          <p:cNvPr id="595" name="TextShape 127"/>
          <p:cNvSpPr txBox="1"/>
          <p:nvPr/>
        </p:nvSpPr>
        <p:spPr>
          <a:xfrm>
            <a:off x="2296440" y="5630400"/>
            <a:ext cx="922860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404040"/>
                </a:solidFill>
                <a:latin typeface="MeiryoUI"/>
              </a:rPr>
              <a:t>必要不可欠な「経営数値」＋「売上」＋「</a:t>
            </a:r>
            <a:r>
              <a:rPr b="1" lang="en-US" sz="2000" spc="-1" strike="noStrike">
                <a:solidFill>
                  <a:srgbClr val="404040"/>
                </a:solidFill>
                <a:latin typeface="Meiryo UI"/>
              </a:rPr>
              <a:t>POSPMA</a:t>
            </a:r>
            <a:r>
              <a:rPr b="1" lang="zh-CN" sz="2000" spc="-1" strike="noStrike">
                <a:solidFill>
                  <a:srgbClr val="404040"/>
                </a:solidFill>
                <a:latin typeface="MeiryoUI"/>
              </a:rPr>
              <a:t>」・・・維持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596" name="Freeform 128"/>
          <p:cNvSpPr/>
          <p:nvPr/>
        </p:nvSpPr>
        <p:spPr>
          <a:xfrm>
            <a:off x="2224080" y="6308280"/>
            <a:ext cx="6860520" cy="15840"/>
          </a:xfrm>
          <a:custGeom>
            <a:avLst/>
            <a:gdLst/>
            <a:ahLst/>
            <a:rect l="0" t="0" r="r" b="b"/>
            <a:pathLst>
              <a:path w="19057" h="44">
                <a:moveTo>
                  <a:pt x="0" y="0"/>
                </a:moveTo>
                <a:lnTo>
                  <a:pt x="6353" y="0"/>
                </a:lnTo>
                <a:lnTo>
                  <a:pt x="12704" y="0"/>
                </a:lnTo>
                <a:lnTo>
                  <a:pt x="19056" y="0"/>
                </a:lnTo>
                <a:lnTo>
                  <a:pt x="19056" y="43"/>
                </a:lnTo>
                <a:lnTo>
                  <a:pt x="12704" y="43"/>
                </a:lnTo>
                <a:lnTo>
                  <a:pt x="6353" y="43"/>
                </a:lnTo>
                <a:lnTo>
                  <a:pt x="0" y="43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  <a:ln w="0">
            <a:noFill/>
          </a:ln>
        </p:spPr>
      </p:sp>
      <p:sp>
        <p:nvSpPr>
          <p:cNvPr id="597" name="Line 129"/>
          <p:cNvSpPr/>
          <p:nvPr/>
        </p:nvSpPr>
        <p:spPr>
          <a:xfrm>
            <a:off x="6802200" y="4372920"/>
            <a:ext cx="526320" cy="738000"/>
          </a:xfrm>
          <a:prstGeom prst="line">
            <a:avLst/>
          </a:prstGeom>
          <a:ln w="37800">
            <a:solidFill>
              <a:srgbClr val="fe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8" name="Line 130"/>
          <p:cNvSpPr/>
          <p:nvPr/>
        </p:nvSpPr>
        <p:spPr>
          <a:xfrm flipH="1">
            <a:off x="6806880" y="4372920"/>
            <a:ext cx="494280" cy="758520"/>
          </a:xfrm>
          <a:prstGeom prst="line">
            <a:avLst/>
          </a:prstGeom>
          <a:ln w="37800">
            <a:solidFill>
              <a:srgbClr val="fe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9" name="Line 131"/>
          <p:cNvSpPr/>
          <p:nvPr/>
        </p:nvSpPr>
        <p:spPr>
          <a:xfrm>
            <a:off x="6785280" y="1949760"/>
            <a:ext cx="325080" cy="385920"/>
          </a:xfrm>
          <a:prstGeom prst="line">
            <a:avLst/>
          </a:prstGeom>
          <a:ln w="37800">
            <a:solidFill>
              <a:srgbClr val="fe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0" name="Line 132"/>
          <p:cNvSpPr/>
          <p:nvPr/>
        </p:nvSpPr>
        <p:spPr>
          <a:xfrm flipH="1">
            <a:off x="6788520" y="1949760"/>
            <a:ext cx="305280" cy="396720"/>
          </a:xfrm>
          <a:prstGeom prst="line">
            <a:avLst/>
          </a:prstGeom>
          <a:ln w="37800">
            <a:solidFill>
              <a:srgbClr val="fe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1" name="TextShape 133"/>
          <p:cNvSpPr txBox="1"/>
          <p:nvPr/>
        </p:nvSpPr>
        <p:spPr>
          <a:xfrm>
            <a:off x="2224800" y="5996160"/>
            <a:ext cx="823032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404040"/>
                </a:solidFill>
                <a:latin typeface="MeiryoUI"/>
              </a:rPr>
              <a:t>右上エリア以外の資料は廃止、重複資料は月間に集約の方向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602" name="TextShape 134"/>
          <p:cNvSpPr txBox="1"/>
          <p:nvPr/>
        </p:nvSpPr>
        <p:spPr>
          <a:xfrm>
            <a:off x="183600" y="160560"/>
            <a:ext cx="473616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頻度ー必要度</a:t>
            </a:r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  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プロット図</a:t>
            </a:r>
            <a:endParaRPr b="0" lang="en-US" sz="2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Freeform 1"/>
          <p:cNvSpPr/>
          <p:nvPr/>
        </p:nvSpPr>
        <p:spPr>
          <a:xfrm>
            <a:off x="0" y="-360"/>
            <a:ext cx="12192480" cy="6858720"/>
          </a:xfrm>
          <a:custGeom>
            <a:avLst/>
            <a:gdLst/>
            <a:ahLst/>
            <a:rect l="0" t="0" r="r" b="b"/>
            <a:pathLst>
              <a:path w="33868" h="19052">
                <a:moveTo>
                  <a:pt x="0" y="19051"/>
                </a:moveTo>
                <a:lnTo>
                  <a:pt x="33867" y="19051"/>
                </a:lnTo>
                <a:lnTo>
                  <a:pt x="33867" y="0"/>
                </a:lnTo>
                <a:lnTo>
                  <a:pt x="0" y="0"/>
                </a:lnTo>
                <a:lnTo>
                  <a:pt x="0" y="190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pic>
        <p:nvPicPr>
          <p:cNvPr id="604" name="" descr=""/>
          <p:cNvPicPr/>
          <p:nvPr/>
        </p:nvPicPr>
        <p:blipFill>
          <a:blip r:embed="rId1"/>
          <a:stretch/>
        </p:blipFill>
        <p:spPr>
          <a:xfrm>
            <a:off x="175320" y="586800"/>
            <a:ext cx="11841120" cy="209880"/>
          </a:xfrm>
          <a:prstGeom prst="rect">
            <a:avLst/>
          </a:prstGeom>
          <a:ln w="0">
            <a:noFill/>
          </a:ln>
        </p:spPr>
      </p:pic>
      <p:pic>
        <p:nvPicPr>
          <p:cNvPr id="605" name="" descr=""/>
          <p:cNvPicPr/>
          <p:nvPr/>
        </p:nvPicPr>
        <p:blipFill>
          <a:blip r:embed="rId2"/>
          <a:stretch/>
        </p:blipFill>
        <p:spPr>
          <a:xfrm>
            <a:off x="5122080" y="6681240"/>
            <a:ext cx="1947240" cy="115560"/>
          </a:xfrm>
          <a:prstGeom prst="rect">
            <a:avLst/>
          </a:prstGeom>
          <a:ln w="0">
            <a:noFill/>
          </a:ln>
        </p:spPr>
      </p:pic>
      <p:sp>
        <p:nvSpPr>
          <p:cNvPr id="606" name="Freeform 2"/>
          <p:cNvSpPr/>
          <p:nvPr/>
        </p:nvSpPr>
        <p:spPr>
          <a:xfrm>
            <a:off x="151560" y="6209280"/>
            <a:ext cx="1620720" cy="360360"/>
          </a:xfrm>
          <a:custGeom>
            <a:avLst/>
            <a:gdLst/>
            <a:ahLst/>
            <a:rect l="0" t="0" r="r" b="b"/>
            <a:pathLst>
              <a:path w="4502" h="1001">
                <a:moveTo>
                  <a:pt x="0" y="1000"/>
                </a:moveTo>
                <a:lnTo>
                  <a:pt x="4501" y="1000"/>
                </a:lnTo>
                <a:lnTo>
                  <a:pt x="4501" y="0"/>
                </a:lnTo>
                <a:lnTo>
                  <a:pt x="0" y="0"/>
                </a:lnTo>
                <a:lnTo>
                  <a:pt x="0" y="1000"/>
                </a:lnTo>
                <a:close/>
              </a:path>
            </a:pathLst>
          </a:custGeom>
          <a:solidFill>
            <a:srgbClr val="ffffff"/>
          </a:solidFill>
          <a:ln w="31680">
            <a:solidFill>
              <a:srgbClr val="ff0000"/>
            </a:solidFill>
            <a:round/>
          </a:ln>
        </p:spPr>
      </p:sp>
      <p:sp>
        <p:nvSpPr>
          <p:cNvPr id="607" name="TextShape 3"/>
          <p:cNvSpPr txBox="1"/>
          <p:nvPr/>
        </p:nvSpPr>
        <p:spPr>
          <a:xfrm>
            <a:off x="555840" y="627012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ff0000"/>
                </a:solidFill>
                <a:latin typeface="Meiryo"/>
              </a:rPr>
              <a:t>社内限り</a:t>
            </a:r>
            <a:endParaRPr b="0" lang="en-US" sz="1400" spc="-1" strike="noStrike">
              <a:latin typeface="Times New Roman"/>
            </a:endParaRPr>
          </a:p>
        </p:txBody>
      </p:sp>
      <p:pic>
        <p:nvPicPr>
          <p:cNvPr id="608" name="" descr=""/>
          <p:cNvPicPr/>
          <p:nvPr/>
        </p:nvPicPr>
        <p:blipFill>
          <a:blip r:embed="rId3"/>
          <a:stretch/>
        </p:blipFill>
        <p:spPr>
          <a:xfrm>
            <a:off x="11428560" y="149400"/>
            <a:ext cx="411120" cy="432360"/>
          </a:xfrm>
          <a:prstGeom prst="rect">
            <a:avLst/>
          </a:prstGeom>
          <a:ln w="0">
            <a:noFill/>
          </a:ln>
        </p:spPr>
      </p:pic>
      <p:sp>
        <p:nvSpPr>
          <p:cNvPr id="609" name="Freeform 4"/>
          <p:cNvSpPr/>
          <p:nvPr/>
        </p:nvSpPr>
        <p:spPr>
          <a:xfrm>
            <a:off x="9806040" y="204840"/>
            <a:ext cx="1497240" cy="361800"/>
          </a:xfrm>
          <a:custGeom>
            <a:avLst/>
            <a:gdLst/>
            <a:ahLst/>
            <a:rect l="0" t="0" r="r" b="b"/>
            <a:pathLst>
              <a:path w="4159" h="1005">
                <a:moveTo>
                  <a:pt x="0" y="1004"/>
                </a:moveTo>
                <a:lnTo>
                  <a:pt x="4158" y="1004"/>
                </a:lnTo>
                <a:lnTo>
                  <a:pt x="4158" y="0"/>
                </a:lnTo>
                <a:lnTo>
                  <a:pt x="0" y="0"/>
                </a:lnTo>
                <a:lnTo>
                  <a:pt x="0" y="1004"/>
                </a:lnTo>
                <a:close/>
              </a:path>
            </a:pathLst>
          </a:custGeom>
          <a:solidFill>
            <a:srgbClr val="ffffff"/>
          </a:solidFill>
          <a:ln w="18720">
            <a:solidFill>
              <a:srgbClr val="ff0000"/>
            </a:solidFill>
            <a:round/>
          </a:ln>
        </p:spPr>
      </p:sp>
      <p:sp>
        <p:nvSpPr>
          <p:cNvPr id="610" name="TextShape 5"/>
          <p:cNvSpPr txBox="1"/>
          <p:nvPr/>
        </p:nvSpPr>
        <p:spPr>
          <a:xfrm>
            <a:off x="9143280" y="6356520"/>
            <a:ext cx="23598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明日の笑顔を</a:t>
            </a:r>
            <a:r>
              <a:rPr b="0" lang="en-US" sz="1600" spc="-1" strike="noStrike">
                <a:solidFill>
                  <a:srgbClr val="000000"/>
                </a:solidFill>
                <a:latin typeface="UD Digi Kyokasho NPR"/>
              </a:rPr>
              <a:t> </a:t>
            </a:r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共に創る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11" name="TextShape 6"/>
          <p:cNvSpPr txBox="1"/>
          <p:nvPr/>
        </p:nvSpPr>
        <p:spPr>
          <a:xfrm>
            <a:off x="10151280" y="262800"/>
            <a:ext cx="48240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0000"/>
                </a:solidFill>
                <a:latin typeface="Meiryo"/>
              </a:rPr>
              <a:t>秘</a:t>
            </a:r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（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12" name="TextShape 7"/>
          <p:cNvSpPr txBox="1"/>
          <p:nvPr/>
        </p:nvSpPr>
        <p:spPr>
          <a:xfrm>
            <a:off x="10671120" y="391320"/>
            <a:ext cx="10188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700" spc="-1" strike="noStrike">
                <a:solidFill>
                  <a:srgbClr val="ff0000"/>
                </a:solidFill>
                <a:latin typeface="Meiryo"/>
              </a:rPr>
              <a:t> </a:t>
            </a:r>
            <a:endParaRPr b="0" lang="en-US" sz="700" spc="-1" strike="noStrike">
              <a:latin typeface="Times New Roman"/>
            </a:endParaRPr>
          </a:p>
        </p:txBody>
      </p:sp>
      <p:sp>
        <p:nvSpPr>
          <p:cNvPr id="613" name="TextShape 8"/>
          <p:cNvSpPr txBox="1"/>
          <p:nvPr/>
        </p:nvSpPr>
        <p:spPr>
          <a:xfrm>
            <a:off x="10707480" y="249840"/>
            <a:ext cx="2541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0000"/>
                </a:solidFill>
                <a:latin typeface="Meiryo"/>
              </a:rPr>
              <a:t>B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614" name="TextShape 9"/>
          <p:cNvSpPr txBox="1"/>
          <p:nvPr/>
        </p:nvSpPr>
        <p:spPr>
          <a:xfrm>
            <a:off x="10925640" y="262800"/>
            <a:ext cx="24156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）</a:t>
            </a:r>
            <a:endParaRPr b="0" lang="en-US" sz="1600" spc="-1" strike="noStrike">
              <a:latin typeface="Times New Roman"/>
            </a:endParaRPr>
          </a:p>
        </p:txBody>
      </p:sp>
      <p:pic>
        <p:nvPicPr>
          <p:cNvPr id="615" name="" descr=""/>
          <p:cNvPicPr/>
          <p:nvPr/>
        </p:nvPicPr>
        <p:blipFill>
          <a:blip r:embed="rId4"/>
          <a:stretch/>
        </p:blipFill>
        <p:spPr>
          <a:xfrm>
            <a:off x="4960800" y="6669000"/>
            <a:ext cx="2221560" cy="121680"/>
          </a:xfrm>
          <a:prstGeom prst="rect">
            <a:avLst/>
          </a:prstGeom>
          <a:ln w="0">
            <a:noFill/>
          </a:ln>
        </p:spPr>
      </p:pic>
      <p:sp>
        <p:nvSpPr>
          <p:cNvPr id="616" name="Freeform 10"/>
          <p:cNvSpPr/>
          <p:nvPr/>
        </p:nvSpPr>
        <p:spPr>
          <a:xfrm>
            <a:off x="230040" y="806040"/>
            <a:ext cx="512640" cy="5377320"/>
          </a:xfrm>
          <a:custGeom>
            <a:avLst/>
            <a:gdLst/>
            <a:ahLst/>
            <a:rect l="0" t="0" r="r" b="b"/>
            <a:pathLst>
              <a:path w="1424" h="14937">
                <a:moveTo>
                  <a:pt x="0" y="14936"/>
                </a:moveTo>
                <a:lnTo>
                  <a:pt x="1423" y="14936"/>
                </a:lnTo>
                <a:lnTo>
                  <a:pt x="1423" y="0"/>
                </a:lnTo>
                <a:lnTo>
                  <a:pt x="0" y="0"/>
                </a:lnTo>
                <a:lnTo>
                  <a:pt x="0" y="14936"/>
                </a:lnTo>
                <a:close/>
              </a:path>
            </a:pathLst>
          </a:custGeom>
          <a:solidFill>
            <a:srgbClr val="dce6f2"/>
          </a:solidFill>
          <a:ln w="0">
            <a:noFill/>
          </a:ln>
        </p:spPr>
      </p:sp>
      <p:sp>
        <p:nvSpPr>
          <p:cNvPr id="617" name="TextShape 11"/>
          <p:cNvSpPr txBox="1"/>
          <p:nvPr/>
        </p:nvSpPr>
        <p:spPr>
          <a:xfrm>
            <a:off x="8179200" y="303480"/>
            <a:ext cx="15246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100" spc="-1" strike="noStrike">
                <a:solidFill>
                  <a:srgbClr val="000000"/>
                </a:solidFill>
                <a:latin typeface="Meiryo"/>
              </a:rPr>
              <a:t>フィールドサポート部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618" name="TextShape 12"/>
          <p:cNvSpPr txBox="1"/>
          <p:nvPr/>
        </p:nvSpPr>
        <p:spPr>
          <a:xfrm>
            <a:off x="180360" y="2315160"/>
            <a:ext cx="4075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000000"/>
                </a:solidFill>
                <a:latin typeface="Meiryo"/>
              </a:rPr>
              <a:t>月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619" name="TextShape 13"/>
          <p:cNvSpPr txBox="1"/>
          <p:nvPr/>
        </p:nvSpPr>
        <p:spPr>
          <a:xfrm>
            <a:off x="180360" y="2722320"/>
            <a:ext cx="4075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000000"/>
                </a:solidFill>
                <a:latin typeface="Meiryo"/>
              </a:rPr>
              <a:t>間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620" name="TextShape 14"/>
          <p:cNvSpPr txBox="1"/>
          <p:nvPr/>
        </p:nvSpPr>
        <p:spPr>
          <a:xfrm>
            <a:off x="180360" y="3129120"/>
            <a:ext cx="4075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000000"/>
                </a:solidFill>
                <a:latin typeface="Meiryo"/>
              </a:rPr>
              <a:t>資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621" name="TextShape 15"/>
          <p:cNvSpPr txBox="1"/>
          <p:nvPr/>
        </p:nvSpPr>
        <p:spPr>
          <a:xfrm>
            <a:off x="180360" y="3535920"/>
            <a:ext cx="4075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000000"/>
                </a:solidFill>
                <a:latin typeface="Meiryo"/>
              </a:rPr>
              <a:t>料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622" name="TextShape 16"/>
          <p:cNvSpPr txBox="1"/>
          <p:nvPr/>
        </p:nvSpPr>
        <p:spPr>
          <a:xfrm>
            <a:off x="181080" y="3943080"/>
            <a:ext cx="5677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000000"/>
                </a:solidFill>
                <a:latin typeface="Meiryo"/>
              </a:rPr>
              <a:t>15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623" name="Line 17"/>
          <p:cNvSpPr/>
          <p:nvPr/>
        </p:nvSpPr>
        <p:spPr>
          <a:xfrm>
            <a:off x="1291680" y="802800"/>
            <a:ext cx="0" cy="538272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4" name="Line 18"/>
          <p:cNvSpPr/>
          <p:nvPr/>
        </p:nvSpPr>
        <p:spPr>
          <a:xfrm>
            <a:off x="884880" y="116460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5" name="Line 19"/>
          <p:cNvSpPr/>
          <p:nvPr/>
        </p:nvSpPr>
        <p:spPr>
          <a:xfrm>
            <a:off x="884880" y="152280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6" name="Line 20"/>
          <p:cNvSpPr/>
          <p:nvPr/>
        </p:nvSpPr>
        <p:spPr>
          <a:xfrm>
            <a:off x="884880" y="188136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7" name="Line 21"/>
          <p:cNvSpPr/>
          <p:nvPr/>
        </p:nvSpPr>
        <p:spPr>
          <a:xfrm>
            <a:off x="884880" y="223956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8" name="Line 22"/>
          <p:cNvSpPr/>
          <p:nvPr/>
        </p:nvSpPr>
        <p:spPr>
          <a:xfrm>
            <a:off x="884880" y="259812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9" name="Line 23"/>
          <p:cNvSpPr/>
          <p:nvPr/>
        </p:nvSpPr>
        <p:spPr>
          <a:xfrm>
            <a:off x="884880" y="295668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0" name="Line 24"/>
          <p:cNvSpPr/>
          <p:nvPr/>
        </p:nvSpPr>
        <p:spPr>
          <a:xfrm>
            <a:off x="884880" y="331488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1" name="Line 25"/>
          <p:cNvSpPr/>
          <p:nvPr/>
        </p:nvSpPr>
        <p:spPr>
          <a:xfrm>
            <a:off x="884880" y="367344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2" name="Line 26"/>
          <p:cNvSpPr/>
          <p:nvPr/>
        </p:nvSpPr>
        <p:spPr>
          <a:xfrm>
            <a:off x="884880" y="403164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3" name="Line 27"/>
          <p:cNvSpPr/>
          <p:nvPr/>
        </p:nvSpPr>
        <p:spPr>
          <a:xfrm>
            <a:off x="884880" y="439020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4" name="Line 28"/>
          <p:cNvSpPr/>
          <p:nvPr/>
        </p:nvSpPr>
        <p:spPr>
          <a:xfrm>
            <a:off x="884880" y="474876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5" name="Line 29"/>
          <p:cNvSpPr/>
          <p:nvPr/>
        </p:nvSpPr>
        <p:spPr>
          <a:xfrm>
            <a:off x="884880" y="510696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6" name="Line 30"/>
          <p:cNvSpPr/>
          <p:nvPr/>
        </p:nvSpPr>
        <p:spPr>
          <a:xfrm>
            <a:off x="884880" y="546552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7" name="Line 31"/>
          <p:cNvSpPr/>
          <p:nvPr/>
        </p:nvSpPr>
        <p:spPr>
          <a:xfrm>
            <a:off x="884880" y="582372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8" name="Line 32"/>
          <p:cNvSpPr/>
          <p:nvPr/>
        </p:nvSpPr>
        <p:spPr>
          <a:xfrm>
            <a:off x="888120" y="802800"/>
            <a:ext cx="0" cy="538272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9" name="Line 33"/>
          <p:cNvSpPr/>
          <p:nvPr/>
        </p:nvSpPr>
        <p:spPr>
          <a:xfrm>
            <a:off x="3918240" y="802800"/>
            <a:ext cx="0" cy="538272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0" name="Line 34"/>
          <p:cNvSpPr/>
          <p:nvPr/>
        </p:nvSpPr>
        <p:spPr>
          <a:xfrm>
            <a:off x="884880" y="80604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1" name="Line 35"/>
          <p:cNvSpPr/>
          <p:nvPr/>
        </p:nvSpPr>
        <p:spPr>
          <a:xfrm>
            <a:off x="884880" y="618228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2" name="TextShape 36"/>
          <p:cNvSpPr txBox="1"/>
          <p:nvPr/>
        </p:nvSpPr>
        <p:spPr>
          <a:xfrm>
            <a:off x="257400" y="4463280"/>
            <a:ext cx="30564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000000"/>
                </a:solidFill>
                <a:latin typeface="Meiryo"/>
              </a:rPr>
              <a:t>枚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643" name="TextShape 37"/>
          <p:cNvSpPr txBox="1"/>
          <p:nvPr/>
        </p:nvSpPr>
        <p:spPr>
          <a:xfrm>
            <a:off x="975600" y="856080"/>
            <a:ext cx="17024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①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経営数値分析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44" name="TextShape 38"/>
          <p:cNvSpPr txBox="1"/>
          <p:nvPr/>
        </p:nvSpPr>
        <p:spPr>
          <a:xfrm>
            <a:off x="975600" y="1213920"/>
            <a:ext cx="8452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②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PMA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45" name="TextShape 39"/>
          <p:cNvSpPr txBox="1"/>
          <p:nvPr/>
        </p:nvSpPr>
        <p:spPr>
          <a:xfrm>
            <a:off x="975600" y="1572480"/>
            <a:ext cx="20412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③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PMA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推移（金）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46" name="TextShape 40"/>
          <p:cNvSpPr txBox="1"/>
          <p:nvPr/>
        </p:nvSpPr>
        <p:spPr>
          <a:xfrm>
            <a:off x="975600" y="1931400"/>
            <a:ext cx="20394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➃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PMA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推移（数）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47" name="TextShape 41"/>
          <p:cNvSpPr txBox="1"/>
          <p:nvPr/>
        </p:nvSpPr>
        <p:spPr>
          <a:xfrm>
            <a:off x="975600" y="2289960"/>
            <a:ext cx="1245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⑤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デイリー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48" name="TextShape 42"/>
          <p:cNvSpPr txBox="1"/>
          <p:nvPr/>
        </p:nvSpPr>
        <p:spPr>
          <a:xfrm>
            <a:off x="975600" y="2648520"/>
            <a:ext cx="238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⑥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デイリー推移（金）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49" name="TextShape 43"/>
          <p:cNvSpPr txBox="1"/>
          <p:nvPr/>
        </p:nvSpPr>
        <p:spPr>
          <a:xfrm>
            <a:off x="975600" y="3006720"/>
            <a:ext cx="238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⑦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デイリー推移（数）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50" name="Freeform 44"/>
          <p:cNvSpPr/>
          <p:nvPr/>
        </p:nvSpPr>
        <p:spPr>
          <a:xfrm>
            <a:off x="1300680" y="3340440"/>
            <a:ext cx="915120" cy="296280"/>
          </a:xfrm>
          <a:custGeom>
            <a:avLst/>
            <a:gdLst/>
            <a:ahLst/>
            <a:rect l="0" t="0" r="r" b="b"/>
            <a:pathLst>
              <a:path w="2542" h="823">
                <a:moveTo>
                  <a:pt x="0" y="822"/>
                </a:moveTo>
                <a:lnTo>
                  <a:pt x="2541" y="822"/>
                </a:lnTo>
                <a:lnTo>
                  <a:pt x="2541" y="0"/>
                </a:lnTo>
                <a:lnTo>
                  <a:pt x="0" y="0"/>
                </a:lnTo>
                <a:lnTo>
                  <a:pt x="0" y="822"/>
                </a:lnTo>
                <a:close/>
              </a:path>
            </a:pathLst>
          </a:custGeom>
          <a:solidFill>
            <a:srgbClr val="ffff00"/>
          </a:solidFill>
          <a:ln w="0">
            <a:noFill/>
          </a:ln>
        </p:spPr>
      </p:sp>
      <p:sp>
        <p:nvSpPr>
          <p:cNvPr id="651" name="TextShape 45"/>
          <p:cNvSpPr txBox="1"/>
          <p:nvPr/>
        </p:nvSpPr>
        <p:spPr>
          <a:xfrm>
            <a:off x="975600" y="3365280"/>
            <a:ext cx="1245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⑧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買上点数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52" name="TextShape 46"/>
          <p:cNvSpPr txBox="1"/>
          <p:nvPr/>
        </p:nvSpPr>
        <p:spPr>
          <a:xfrm>
            <a:off x="975600" y="3723480"/>
            <a:ext cx="21596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⑨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買上点数（推移）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53" name="TextShape 47"/>
          <p:cNvSpPr txBox="1"/>
          <p:nvPr/>
        </p:nvSpPr>
        <p:spPr>
          <a:xfrm>
            <a:off x="975600" y="4082040"/>
            <a:ext cx="19310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⑩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利益構造グラフ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54" name="TextShape 48"/>
          <p:cNvSpPr txBox="1"/>
          <p:nvPr/>
        </p:nvSpPr>
        <p:spPr>
          <a:xfrm>
            <a:off x="975600" y="4440960"/>
            <a:ext cx="12697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⑪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利益構造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55" name="TextShape 49"/>
          <p:cNvSpPr txBox="1"/>
          <p:nvPr/>
        </p:nvSpPr>
        <p:spPr>
          <a:xfrm>
            <a:off x="975600" y="4799520"/>
            <a:ext cx="17888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⑫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利益構造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(ZO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56" name="TextShape 50"/>
          <p:cNvSpPr txBox="1"/>
          <p:nvPr/>
        </p:nvSpPr>
        <p:spPr>
          <a:xfrm>
            <a:off x="2857320" y="4799520"/>
            <a:ext cx="8445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立地別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)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57" name="Freeform 51"/>
          <p:cNvSpPr/>
          <p:nvPr/>
        </p:nvSpPr>
        <p:spPr>
          <a:xfrm>
            <a:off x="1300680" y="5132160"/>
            <a:ext cx="1829520" cy="296640"/>
          </a:xfrm>
          <a:custGeom>
            <a:avLst/>
            <a:gdLst/>
            <a:ahLst/>
            <a:rect l="0" t="0" r="r" b="b"/>
            <a:pathLst>
              <a:path w="5082" h="824">
                <a:moveTo>
                  <a:pt x="0" y="823"/>
                </a:moveTo>
                <a:lnTo>
                  <a:pt x="5081" y="823"/>
                </a:lnTo>
                <a:lnTo>
                  <a:pt x="5081" y="0"/>
                </a:lnTo>
                <a:lnTo>
                  <a:pt x="0" y="0"/>
                </a:lnTo>
                <a:lnTo>
                  <a:pt x="0" y="823"/>
                </a:lnTo>
                <a:close/>
              </a:path>
            </a:pathLst>
          </a:custGeom>
          <a:solidFill>
            <a:srgbClr val="ffff00"/>
          </a:solidFill>
          <a:ln w="0">
            <a:noFill/>
          </a:ln>
        </p:spPr>
      </p:sp>
      <p:sp>
        <p:nvSpPr>
          <p:cNvPr id="658" name="TextShape 52"/>
          <p:cNvSpPr txBox="1"/>
          <p:nvPr/>
        </p:nvSpPr>
        <p:spPr>
          <a:xfrm>
            <a:off x="975600" y="5157720"/>
            <a:ext cx="21841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⑬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非デイリー品揃え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59" name="Freeform 53"/>
          <p:cNvSpPr/>
          <p:nvPr/>
        </p:nvSpPr>
        <p:spPr>
          <a:xfrm>
            <a:off x="1300680" y="5490720"/>
            <a:ext cx="1600920" cy="296280"/>
          </a:xfrm>
          <a:custGeom>
            <a:avLst/>
            <a:gdLst/>
            <a:ahLst/>
            <a:rect l="0" t="0" r="r" b="b"/>
            <a:pathLst>
              <a:path w="4447" h="823">
                <a:moveTo>
                  <a:pt x="0" y="822"/>
                </a:moveTo>
                <a:lnTo>
                  <a:pt x="4446" y="822"/>
                </a:lnTo>
                <a:lnTo>
                  <a:pt x="4446" y="0"/>
                </a:lnTo>
                <a:lnTo>
                  <a:pt x="0" y="0"/>
                </a:lnTo>
                <a:lnTo>
                  <a:pt x="0" y="822"/>
                </a:lnTo>
                <a:close/>
              </a:path>
            </a:pathLst>
          </a:custGeom>
          <a:solidFill>
            <a:srgbClr val="ffff00"/>
          </a:solidFill>
          <a:ln w="0">
            <a:noFill/>
          </a:ln>
        </p:spPr>
      </p:sp>
      <p:sp>
        <p:nvSpPr>
          <p:cNvPr id="660" name="TextShape 54"/>
          <p:cNvSpPr txBox="1"/>
          <p:nvPr/>
        </p:nvSpPr>
        <p:spPr>
          <a:xfrm>
            <a:off x="975600" y="5516280"/>
            <a:ext cx="19555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⑭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非デイリー推移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61" name="Line 55"/>
          <p:cNvSpPr/>
          <p:nvPr/>
        </p:nvSpPr>
        <p:spPr>
          <a:xfrm>
            <a:off x="5094000" y="802800"/>
            <a:ext cx="0" cy="538272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2" name="Line 56"/>
          <p:cNvSpPr/>
          <p:nvPr/>
        </p:nvSpPr>
        <p:spPr>
          <a:xfrm>
            <a:off x="4664160" y="114228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3" name="Line 57"/>
          <p:cNvSpPr/>
          <p:nvPr/>
        </p:nvSpPr>
        <p:spPr>
          <a:xfrm>
            <a:off x="4664160" y="147816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4" name="Line 58"/>
          <p:cNvSpPr/>
          <p:nvPr/>
        </p:nvSpPr>
        <p:spPr>
          <a:xfrm>
            <a:off x="4664160" y="181404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5" name="Line 59"/>
          <p:cNvSpPr/>
          <p:nvPr/>
        </p:nvSpPr>
        <p:spPr>
          <a:xfrm>
            <a:off x="4664160" y="215028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6" name="Line 60"/>
          <p:cNvSpPr/>
          <p:nvPr/>
        </p:nvSpPr>
        <p:spPr>
          <a:xfrm>
            <a:off x="4664160" y="248616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7" name="Line 61"/>
          <p:cNvSpPr/>
          <p:nvPr/>
        </p:nvSpPr>
        <p:spPr>
          <a:xfrm>
            <a:off x="4664160" y="282204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8" name="Line 62"/>
          <p:cNvSpPr/>
          <p:nvPr/>
        </p:nvSpPr>
        <p:spPr>
          <a:xfrm>
            <a:off x="4664160" y="315828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9" name="Line 63"/>
          <p:cNvSpPr/>
          <p:nvPr/>
        </p:nvSpPr>
        <p:spPr>
          <a:xfrm>
            <a:off x="4664160" y="349416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0" name="Line 64"/>
          <p:cNvSpPr/>
          <p:nvPr/>
        </p:nvSpPr>
        <p:spPr>
          <a:xfrm>
            <a:off x="4664160" y="383040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1" name="Line 65"/>
          <p:cNvSpPr/>
          <p:nvPr/>
        </p:nvSpPr>
        <p:spPr>
          <a:xfrm>
            <a:off x="4664160" y="416628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2" name="Line 66"/>
          <p:cNvSpPr/>
          <p:nvPr/>
        </p:nvSpPr>
        <p:spPr>
          <a:xfrm>
            <a:off x="4664160" y="450216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3" name="Line 67"/>
          <p:cNvSpPr/>
          <p:nvPr/>
        </p:nvSpPr>
        <p:spPr>
          <a:xfrm>
            <a:off x="4664160" y="483840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4" name="Line 68"/>
          <p:cNvSpPr/>
          <p:nvPr/>
        </p:nvSpPr>
        <p:spPr>
          <a:xfrm>
            <a:off x="4664160" y="517428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5" name="Line 69"/>
          <p:cNvSpPr/>
          <p:nvPr/>
        </p:nvSpPr>
        <p:spPr>
          <a:xfrm>
            <a:off x="4664160" y="551016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6" name="Line 70"/>
          <p:cNvSpPr/>
          <p:nvPr/>
        </p:nvSpPr>
        <p:spPr>
          <a:xfrm>
            <a:off x="4664160" y="584640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7" name="Line 71"/>
          <p:cNvSpPr/>
          <p:nvPr/>
        </p:nvSpPr>
        <p:spPr>
          <a:xfrm>
            <a:off x="4667040" y="802800"/>
            <a:ext cx="0" cy="538272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8" name="Line 72"/>
          <p:cNvSpPr/>
          <p:nvPr/>
        </p:nvSpPr>
        <p:spPr>
          <a:xfrm>
            <a:off x="7684560" y="802800"/>
            <a:ext cx="0" cy="538272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9" name="Line 73"/>
          <p:cNvSpPr/>
          <p:nvPr/>
        </p:nvSpPr>
        <p:spPr>
          <a:xfrm>
            <a:off x="4664160" y="80604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0" name="Line 74"/>
          <p:cNvSpPr/>
          <p:nvPr/>
        </p:nvSpPr>
        <p:spPr>
          <a:xfrm>
            <a:off x="4664160" y="618228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1" name="TextShape 75"/>
          <p:cNvSpPr txBox="1"/>
          <p:nvPr/>
        </p:nvSpPr>
        <p:spPr>
          <a:xfrm>
            <a:off x="975600" y="5874840"/>
            <a:ext cx="10411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⑮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利用度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82" name="Freeform 76"/>
          <p:cNvSpPr/>
          <p:nvPr/>
        </p:nvSpPr>
        <p:spPr>
          <a:xfrm>
            <a:off x="5101920" y="819720"/>
            <a:ext cx="1600920" cy="296280"/>
          </a:xfrm>
          <a:custGeom>
            <a:avLst/>
            <a:gdLst/>
            <a:ahLst/>
            <a:rect l="0" t="0" r="r" b="b"/>
            <a:pathLst>
              <a:path w="4447" h="823">
                <a:moveTo>
                  <a:pt x="0" y="822"/>
                </a:moveTo>
                <a:lnTo>
                  <a:pt x="4446" y="822"/>
                </a:lnTo>
                <a:lnTo>
                  <a:pt x="4446" y="0"/>
                </a:lnTo>
                <a:lnTo>
                  <a:pt x="0" y="0"/>
                </a:lnTo>
                <a:lnTo>
                  <a:pt x="0" y="822"/>
                </a:lnTo>
                <a:close/>
              </a:path>
            </a:pathLst>
          </a:custGeom>
          <a:solidFill>
            <a:srgbClr val="ffff00"/>
          </a:solidFill>
          <a:ln w="0">
            <a:noFill/>
          </a:ln>
        </p:spPr>
      </p:sp>
      <p:sp>
        <p:nvSpPr>
          <p:cNvPr id="683" name="TextShape 77"/>
          <p:cNvSpPr txBox="1"/>
          <p:nvPr/>
        </p:nvSpPr>
        <p:spPr>
          <a:xfrm>
            <a:off x="4766760" y="844200"/>
            <a:ext cx="19310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①</a:t>
            </a:r>
            <a:r>
              <a:rPr b="1" lang="en-US" sz="1600" spc="-1" strike="noStrike">
                <a:solidFill>
                  <a:srgbClr val="c00000"/>
                </a:solidFill>
                <a:latin typeface="YuGothic"/>
              </a:rPr>
              <a:t> </a:t>
            </a:r>
            <a:r>
              <a:rPr b="1" lang="zh-CN" sz="1600" spc="-1" strike="noStrike">
                <a:solidFill>
                  <a:srgbClr val="c00000"/>
                </a:solidFill>
                <a:latin typeface="YuGothic"/>
              </a:rPr>
              <a:t>サマリーシート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84" name="TextShape 78"/>
          <p:cNvSpPr txBox="1"/>
          <p:nvPr/>
        </p:nvSpPr>
        <p:spPr>
          <a:xfrm>
            <a:off x="4766760" y="1180080"/>
            <a:ext cx="1245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②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日別売上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85" name="Freeform 79"/>
          <p:cNvSpPr/>
          <p:nvPr/>
        </p:nvSpPr>
        <p:spPr>
          <a:xfrm>
            <a:off x="5101920" y="1491840"/>
            <a:ext cx="915120" cy="296280"/>
          </a:xfrm>
          <a:custGeom>
            <a:avLst/>
            <a:gdLst/>
            <a:ahLst/>
            <a:rect l="0" t="0" r="r" b="b"/>
            <a:pathLst>
              <a:path w="2542" h="823">
                <a:moveTo>
                  <a:pt x="0" y="822"/>
                </a:moveTo>
                <a:lnTo>
                  <a:pt x="2541" y="822"/>
                </a:lnTo>
                <a:lnTo>
                  <a:pt x="2541" y="0"/>
                </a:lnTo>
                <a:lnTo>
                  <a:pt x="0" y="0"/>
                </a:lnTo>
                <a:lnTo>
                  <a:pt x="0" y="822"/>
                </a:lnTo>
                <a:close/>
              </a:path>
            </a:pathLst>
          </a:custGeom>
          <a:solidFill>
            <a:srgbClr val="ffff00"/>
          </a:solidFill>
          <a:ln w="0">
            <a:noFill/>
          </a:ln>
        </p:spPr>
      </p:sp>
      <p:sp>
        <p:nvSpPr>
          <p:cNvPr id="686" name="Freeform 80"/>
          <p:cNvSpPr/>
          <p:nvPr/>
        </p:nvSpPr>
        <p:spPr>
          <a:xfrm>
            <a:off x="6016320" y="1491840"/>
            <a:ext cx="131760" cy="296280"/>
          </a:xfrm>
          <a:custGeom>
            <a:avLst/>
            <a:gdLst/>
            <a:ahLst/>
            <a:rect l="0" t="0" r="r" b="b"/>
            <a:pathLst>
              <a:path w="366" h="823">
                <a:moveTo>
                  <a:pt x="0" y="822"/>
                </a:moveTo>
                <a:lnTo>
                  <a:pt x="365" y="822"/>
                </a:lnTo>
                <a:lnTo>
                  <a:pt x="365" y="0"/>
                </a:lnTo>
                <a:lnTo>
                  <a:pt x="0" y="0"/>
                </a:lnTo>
                <a:lnTo>
                  <a:pt x="0" y="822"/>
                </a:lnTo>
                <a:close/>
              </a:path>
            </a:pathLst>
          </a:custGeom>
          <a:solidFill>
            <a:srgbClr val="ffff00"/>
          </a:solidFill>
          <a:ln w="0">
            <a:noFill/>
          </a:ln>
        </p:spPr>
      </p:sp>
      <p:sp>
        <p:nvSpPr>
          <p:cNvPr id="687" name="Freeform 81"/>
          <p:cNvSpPr/>
          <p:nvPr/>
        </p:nvSpPr>
        <p:spPr>
          <a:xfrm>
            <a:off x="6147360" y="1491840"/>
            <a:ext cx="229320" cy="296280"/>
          </a:xfrm>
          <a:custGeom>
            <a:avLst/>
            <a:gdLst/>
            <a:ahLst/>
            <a:rect l="0" t="0" r="r" b="b"/>
            <a:pathLst>
              <a:path w="637" h="823">
                <a:moveTo>
                  <a:pt x="0" y="822"/>
                </a:moveTo>
                <a:lnTo>
                  <a:pt x="636" y="822"/>
                </a:lnTo>
                <a:lnTo>
                  <a:pt x="636" y="0"/>
                </a:lnTo>
                <a:lnTo>
                  <a:pt x="0" y="0"/>
                </a:lnTo>
                <a:lnTo>
                  <a:pt x="0" y="822"/>
                </a:lnTo>
                <a:close/>
              </a:path>
            </a:pathLst>
          </a:custGeom>
          <a:solidFill>
            <a:srgbClr val="ffff00"/>
          </a:solidFill>
          <a:ln w="0">
            <a:noFill/>
          </a:ln>
        </p:spPr>
      </p:sp>
      <p:sp>
        <p:nvSpPr>
          <p:cNvPr id="688" name="TextShape 82"/>
          <p:cNvSpPr txBox="1"/>
          <p:nvPr/>
        </p:nvSpPr>
        <p:spPr>
          <a:xfrm>
            <a:off x="4766760" y="1516320"/>
            <a:ext cx="17380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③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日別売上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6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週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89" name="TextShape 83"/>
          <p:cNvSpPr txBox="1"/>
          <p:nvPr/>
        </p:nvSpPr>
        <p:spPr>
          <a:xfrm>
            <a:off x="4766760" y="1851840"/>
            <a:ext cx="17024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④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時間帯別月間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90" name="Freeform 84"/>
          <p:cNvSpPr/>
          <p:nvPr/>
        </p:nvSpPr>
        <p:spPr>
          <a:xfrm>
            <a:off x="5101920" y="2163600"/>
            <a:ext cx="915120" cy="296280"/>
          </a:xfrm>
          <a:custGeom>
            <a:avLst/>
            <a:gdLst/>
            <a:ahLst/>
            <a:rect l="0" t="0" r="r" b="b"/>
            <a:pathLst>
              <a:path w="2542" h="823">
                <a:moveTo>
                  <a:pt x="0" y="822"/>
                </a:moveTo>
                <a:lnTo>
                  <a:pt x="2541" y="822"/>
                </a:lnTo>
                <a:lnTo>
                  <a:pt x="2541" y="0"/>
                </a:lnTo>
                <a:lnTo>
                  <a:pt x="0" y="0"/>
                </a:lnTo>
                <a:lnTo>
                  <a:pt x="0" y="822"/>
                </a:lnTo>
                <a:close/>
              </a:path>
            </a:pathLst>
          </a:custGeom>
          <a:solidFill>
            <a:srgbClr val="ffff00"/>
          </a:solidFill>
          <a:ln w="0">
            <a:noFill/>
          </a:ln>
        </p:spPr>
      </p:sp>
      <p:sp>
        <p:nvSpPr>
          <p:cNvPr id="691" name="Freeform 85"/>
          <p:cNvSpPr/>
          <p:nvPr/>
        </p:nvSpPr>
        <p:spPr>
          <a:xfrm>
            <a:off x="6016320" y="2163600"/>
            <a:ext cx="131760" cy="296280"/>
          </a:xfrm>
          <a:custGeom>
            <a:avLst/>
            <a:gdLst/>
            <a:ahLst/>
            <a:rect l="0" t="0" r="r" b="b"/>
            <a:pathLst>
              <a:path w="366" h="823">
                <a:moveTo>
                  <a:pt x="0" y="822"/>
                </a:moveTo>
                <a:lnTo>
                  <a:pt x="365" y="822"/>
                </a:lnTo>
                <a:lnTo>
                  <a:pt x="365" y="0"/>
                </a:lnTo>
                <a:lnTo>
                  <a:pt x="0" y="0"/>
                </a:lnTo>
                <a:lnTo>
                  <a:pt x="0" y="822"/>
                </a:lnTo>
                <a:close/>
              </a:path>
            </a:pathLst>
          </a:custGeom>
          <a:solidFill>
            <a:srgbClr val="ffff00"/>
          </a:solidFill>
          <a:ln w="0">
            <a:noFill/>
          </a:ln>
        </p:spPr>
      </p:sp>
      <p:sp>
        <p:nvSpPr>
          <p:cNvPr id="692" name="Freeform 86"/>
          <p:cNvSpPr/>
          <p:nvPr/>
        </p:nvSpPr>
        <p:spPr>
          <a:xfrm>
            <a:off x="6147360" y="2163600"/>
            <a:ext cx="686520" cy="296280"/>
          </a:xfrm>
          <a:custGeom>
            <a:avLst/>
            <a:gdLst/>
            <a:ahLst/>
            <a:rect l="0" t="0" r="r" b="b"/>
            <a:pathLst>
              <a:path w="1907" h="823">
                <a:moveTo>
                  <a:pt x="0" y="822"/>
                </a:moveTo>
                <a:lnTo>
                  <a:pt x="1906" y="822"/>
                </a:lnTo>
                <a:lnTo>
                  <a:pt x="1906" y="0"/>
                </a:lnTo>
                <a:lnTo>
                  <a:pt x="0" y="0"/>
                </a:lnTo>
                <a:lnTo>
                  <a:pt x="0" y="822"/>
                </a:lnTo>
                <a:close/>
              </a:path>
            </a:pathLst>
          </a:custGeom>
          <a:solidFill>
            <a:srgbClr val="ffff00"/>
          </a:solidFill>
          <a:ln w="0">
            <a:noFill/>
          </a:ln>
        </p:spPr>
      </p:sp>
      <p:sp>
        <p:nvSpPr>
          <p:cNvPr id="693" name="TextShape 87"/>
          <p:cNvSpPr txBox="1"/>
          <p:nvPr/>
        </p:nvSpPr>
        <p:spPr>
          <a:xfrm>
            <a:off x="4766760" y="2188440"/>
            <a:ext cx="21952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⑤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時間帯別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6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週推移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94" name="TextShape 88"/>
          <p:cNvSpPr txBox="1"/>
          <p:nvPr/>
        </p:nvSpPr>
        <p:spPr>
          <a:xfrm>
            <a:off x="4766760" y="2524680"/>
            <a:ext cx="14670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⑥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POS-PMA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95" name="TextShape 89"/>
          <p:cNvSpPr txBox="1"/>
          <p:nvPr/>
        </p:nvSpPr>
        <p:spPr>
          <a:xfrm>
            <a:off x="4766760" y="2860200"/>
            <a:ext cx="18856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⑦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PMA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分析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金額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96" name="TextShape 90"/>
          <p:cNvSpPr txBox="1"/>
          <p:nvPr/>
        </p:nvSpPr>
        <p:spPr>
          <a:xfrm>
            <a:off x="4766760" y="3196800"/>
            <a:ext cx="18856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⑧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PMA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分析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数量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97" name="TextShape 91"/>
          <p:cNvSpPr txBox="1"/>
          <p:nvPr/>
        </p:nvSpPr>
        <p:spPr>
          <a:xfrm>
            <a:off x="4766760" y="3533040"/>
            <a:ext cx="1245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⑨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情報分類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98" name="TextShape 92"/>
          <p:cNvSpPr txBox="1"/>
          <p:nvPr/>
        </p:nvSpPr>
        <p:spPr>
          <a:xfrm>
            <a:off x="4766760" y="3868920"/>
            <a:ext cx="22327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⑩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情報分類推移 金額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699" name="TextShape 93"/>
          <p:cNvSpPr txBox="1"/>
          <p:nvPr/>
        </p:nvSpPr>
        <p:spPr>
          <a:xfrm>
            <a:off x="4766760" y="4205160"/>
            <a:ext cx="22572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⑪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情報分類推移 数量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700" name="Freeform 94"/>
          <p:cNvSpPr/>
          <p:nvPr/>
        </p:nvSpPr>
        <p:spPr>
          <a:xfrm>
            <a:off x="5101920" y="4515840"/>
            <a:ext cx="915120" cy="296280"/>
          </a:xfrm>
          <a:custGeom>
            <a:avLst/>
            <a:gdLst/>
            <a:ahLst/>
            <a:rect l="0" t="0" r="r" b="b"/>
            <a:pathLst>
              <a:path w="2542" h="823">
                <a:moveTo>
                  <a:pt x="0" y="822"/>
                </a:moveTo>
                <a:lnTo>
                  <a:pt x="2541" y="822"/>
                </a:lnTo>
                <a:lnTo>
                  <a:pt x="2541" y="0"/>
                </a:lnTo>
                <a:lnTo>
                  <a:pt x="0" y="0"/>
                </a:lnTo>
                <a:lnTo>
                  <a:pt x="0" y="822"/>
                </a:lnTo>
                <a:close/>
              </a:path>
            </a:pathLst>
          </a:custGeom>
          <a:solidFill>
            <a:srgbClr val="ffff00"/>
          </a:solidFill>
          <a:ln w="0">
            <a:noFill/>
          </a:ln>
        </p:spPr>
      </p:sp>
      <p:sp>
        <p:nvSpPr>
          <p:cNvPr id="701" name="TextShape 95"/>
          <p:cNvSpPr txBox="1"/>
          <p:nvPr/>
        </p:nvSpPr>
        <p:spPr>
          <a:xfrm>
            <a:off x="4766760" y="4541040"/>
            <a:ext cx="12697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⑫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買上点数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702" name="Freeform 96"/>
          <p:cNvSpPr/>
          <p:nvPr/>
        </p:nvSpPr>
        <p:spPr>
          <a:xfrm>
            <a:off x="5101920" y="4851720"/>
            <a:ext cx="1143720" cy="296280"/>
          </a:xfrm>
          <a:custGeom>
            <a:avLst/>
            <a:gdLst/>
            <a:ahLst/>
            <a:rect l="0" t="0" r="r" b="b"/>
            <a:pathLst>
              <a:path w="3177" h="823">
                <a:moveTo>
                  <a:pt x="0" y="822"/>
                </a:moveTo>
                <a:lnTo>
                  <a:pt x="3176" y="822"/>
                </a:lnTo>
                <a:lnTo>
                  <a:pt x="3176" y="0"/>
                </a:lnTo>
                <a:lnTo>
                  <a:pt x="0" y="0"/>
                </a:lnTo>
                <a:lnTo>
                  <a:pt x="0" y="822"/>
                </a:lnTo>
                <a:close/>
              </a:path>
            </a:pathLst>
          </a:custGeom>
          <a:solidFill>
            <a:srgbClr val="ffff00"/>
          </a:solidFill>
          <a:ln w="0">
            <a:noFill/>
          </a:ln>
        </p:spPr>
      </p:sp>
      <p:sp>
        <p:nvSpPr>
          <p:cNvPr id="703" name="Freeform 97"/>
          <p:cNvSpPr/>
          <p:nvPr/>
        </p:nvSpPr>
        <p:spPr>
          <a:xfrm>
            <a:off x="6244920" y="4851720"/>
            <a:ext cx="290520" cy="296280"/>
          </a:xfrm>
          <a:custGeom>
            <a:avLst/>
            <a:gdLst/>
            <a:ahLst/>
            <a:rect l="0" t="0" r="r" b="b"/>
            <a:pathLst>
              <a:path w="807" h="823">
                <a:moveTo>
                  <a:pt x="0" y="822"/>
                </a:moveTo>
                <a:lnTo>
                  <a:pt x="806" y="822"/>
                </a:lnTo>
                <a:lnTo>
                  <a:pt x="806" y="0"/>
                </a:lnTo>
                <a:lnTo>
                  <a:pt x="0" y="0"/>
                </a:lnTo>
                <a:lnTo>
                  <a:pt x="0" y="822"/>
                </a:lnTo>
                <a:close/>
              </a:path>
            </a:pathLst>
          </a:custGeom>
          <a:solidFill>
            <a:srgbClr val="ffff00"/>
          </a:solidFill>
          <a:ln w="0">
            <a:noFill/>
          </a:ln>
        </p:spPr>
      </p:sp>
      <p:sp>
        <p:nvSpPr>
          <p:cNvPr id="704" name="TextShape 98"/>
          <p:cNvSpPr txBox="1"/>
          <p:nvPr/>
        </p:nvSpPr>
        <p:spPr>
          <a:xfrm>
            <a:off x="4766760" y="4877280"/>
            <a:ext cx="18622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⑬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カウンター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FF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705" name="Freeform 99"/>
          <p:cNvSpPr/>
          <p:nvPr/>
        </p:nvSpPr>
        <p:spPr>
          <a:xfrm>
            <a:off x="5101920" y="5187600"/>
            <a:ext cx="686520" cy="296640"/>
          </a:xfrm>
          <a:custGeom>
            <a:avLst/>
            <a:gdLst/>
            <a:ahLst/>
            <a:rect l="0" t="0" r="r" b="b"/>
            <a:pathLst>
              <a:path w="1907" h="824">
                <a:moveTo>
                  <a:pt x="0" y="823"/>
                </a:moveTo>
                <a:lnTo>
                  <a:pt x="1906" y="823"/>
                </a:lnTo>
                <a:lnTo>
                  <a:pt x="1906" y="0"/>
                </a:lnTo>
                <a:lnTo>
                  <a:pt x="0" y="0"/>
                </a:lnTo>
                <a:lnTo>
                  <a:pt x="0" y="823"/>
                </a:lnTo>
                <a:close/>
              </a:path>
            </a:pathLst>
          </a:custGeom>
          <a:solidFill>
            <a:srgbClr val="ffff00"/>
          </a:solidFill>
          <a:ln w="0">
            <a:noFill/>
          </a:ln>
        </p:spPr>
      </p:sp>
      <p:sp>
        <p:nvSpPr>
          <p:cNvPr id="706" name="TextShape 100"/>
          <p:cNvSpPr txBox="1"/>
          <p:nvPr/>
        </p:nvSpPr>
        <p:spPr>
          <a:xfrm>
            <a:off x="4766760" y="5213160"/>
            <a:ext cx="10411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⑭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アプリ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707" name="Freeform 101"/>
          <p:cNvSpPr/>
          <p:nvPr/>
        </p:nvSpPr>
        <p:spPr>
          <a:xfrm>
            <a:off x="5101920" y="5523840"/>
            <a:ext cx="1143720" cy="296280"/>
          </a:xfrm>
          <a:custGeom>
            <a:avLst/>
            <a:gdLst/>
            <a:ahLst/>
            <a:rect l="0" t="0" r="r" b="b"/>
            <a:pathLst>
              <a:path w="3177" h="823">
                <a:moveTo>
                  <a:pt x="0" y="822"/>
                </a:moveTo>
                <a:lnTo>
                  <a:pt x="3176" y="822"/>
                </a:lnTo>
                <a:lnTo>
                  <a:pt x="3176" y="0"/>
                </a:lnTo>
                <a:lnTo>
                  <a:pt x="0" y="0"/>
                </a:lnTo>
                <a:lnTo>
                  <a:pt x="0" y="822"/>
                </a:lnTo>
                <a:close/>
              </a:path>
            </a:pathLst>
          </a:custGeom>
          <a:solidFill>
            <a:srgbClr val="ffff00"/>
          </a:solidFill>
          <a:ln w="0">
            <a:noFill/>
          </a:ln>
        </p:spPr>
      </p:sp>
      <p:sp>
        <p:nvSpPr>
          <p:cNvPr id="708" name="TextShape 102"/>
          <p:cNvSpPr txBox="1"/>
          <p:nvPr/>
        </p:nvSpPr>
        <p:spPr>
          <a:xfrm>
            <a:off x="4766760" y="5549040"/>
            <a:ext cx="14983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⑮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品揃え分析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709" name="Freeform 103"/>
          <p:cNvSpPr/>
          <p:nvPr/>
        </p:nvSpPr>
        <p:spPr>
          <a:xfrm>
            <a:off x="5101920" y="5859720"/>
            <a:ext cx="1143720" cy="296280"/>
          </a:xfrm>
          <a:custGeom>
            <a:avLst/>
            <a:gdLst/>
            <a:ahLst/>
            <a:rect l="0" t="0" r="r" b="b"/>
            <a:pathLst>
              <a:path w="3177" h="823">
                <a:moveTo>
                  <a:pt x="0" y="822"/>
                </a:moveTo>
                <a:lnTo>
                  <a:pt x="3176" y="822"/>
                </a:lnTo>
                <a:lnTo>
                  <a:pt x="3176" y="0"/>
                </a:lnTo>
                <a:lnTo>
                  <a:pt x="0" y="0"/>
                </a:lnTo>
                <a:lnTo>
                  <a:pt x="0" y="822"/>
                </a:lnTo>
                <a:close/>
              </a:path>
            </a:pathLst>
          </a:custGeom>
          <a:solidFill>
            <a:srgbClr val="ffff00"/>
          </a:solidFill>
          <a:ln w="0">
            <a:noFill/>
          </a:ln>
        </p:spPr>
      </p:sp>
      <p:sp>
        <p:nvSpPr>
          <p:cNvPr id="710" name="TextShape 104"/>
          <p:cNvSpPr txBox="1"/>
          <p:nvPr/>
        </p:nvSpPr>
        <p:spPr>
          <a:xfrm>
            <a:off x="4766760" y="5885280"/>
            <a:ext cx="14983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⑯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品揃え推移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711" name="Freeform 105"/>
          <p:cNvSpPr/>
          <p:nvPr/>
        </p:nvSpPr>
        <p:spPr>
          <a:xfrm>
            <a:off x="4003200" y="806040"/>
            <a:ext cx="578520" cy="5377320"/>
          </a:xfrm>
          <a:custGeom>
            <a:avLst/>
            <a:gdLst/>
            <a:ahLst/>
            <a:rect l="0" t="0" r="r" b="b"/>
            <a:pathLst>
              <a:path w="1607" h="14937">
                <a:moveTo>
                  <a:pt x="0" y="14936"/>
                </a:moveTo>
                <a:lnTo>
                  <a:pt x="1606" y="14936"/>
                </a:lnTo>
                <a:lnTo>
                  <a:pt x="1606" y="0"/>
                </a:lnTo>
                <a:lnTo>
                  <a:pt x="0" y="0"/>
                </a:lnTo>
                <a:lnTo>
                  <a:pt x="0" y="14936"/>
                </a:lnTo>
                <a:close/>
              </a:path>
            </a:pathLst>
          </a:custGeom>
          <a:solidFill>
            <a:srgbClr val="dce6f2"/>
          </a:solidFill>
          <a:ln w="0">
            <a:noFill/>
          </a:ln>
        </p:spPr>
      </p:sp>
      <p:sp>
        <p:nvSpPr>
          <p:cNvPr id="712" name="TextShape 106"/>
          <p:cNvSpPr txBox="1"/>
          <p:nvPr/>
        </p:nvSpPr>
        <p:spPr>
          <a:xfrm>
            <a:off x="183600" y="160560"/>
            <a:ext cx="366300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提供資料の改廃内容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713" name="TextShape 107"/>
          <p:cNvSpPr txBox="1"/>
          <p:nvPr/>
        </p:nvSpPr>
        <p:spPr>
          <a:xfrm>
            <a:off x="3988080" y="2349000"/>
            <a:ext cx="4075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000000"/>
                </a:solidFill>
                <a:latin typeface="Meiryo"/>
              </a:rPr>
              <a:t>週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714" name="TextShape 108"/>
          <p:cNvSpPr txBox="1"/>
          <p:nvPr/>
        </p:nvSpPr>
        <p:spPr>
          <a:xfrm>
            <a:off x="3988080" y="2755800"/>
            <a:ext cx="4075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000000"/>
                </a:solidFill>
                <a:latin typeface="Meiryo"/>
              </a:rPr>
              <a:t>間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715" name="TextShape 109"/>
          <p:cNvSpPr txBox="1"/>
          <p:nvPr/>
        </p:nvSpPr>
        <p:spPr>
          <a:xfrm>
            <a:off x="3988080" y="3162600"/>
            <a:ext cx="4075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000000"/>
                </a:solidFill>
                <a:latin typeface="Meiryo"/>
              </a:rPr>
              <a:t>資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716" name="TextShape 110"/>
          <p:cNvSpPr txBox="1"/>
          <p:nvPr/>
        </p:nvSpPr>
        <p:spPr>
          <a:xfrm>
            <a:off x="3988080" y="3569400"/>
            <a:ext cx="4075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000000"/>
                </a:solidFill>
                <a:latin typeface="Meiryo"/>
              </a:rPr>
              <a:t>料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717" name="TextShape 111"/>
          <p:cNvSpPr txBox="1"/>
          <p:nvPr/>
        </p:nvSpPr>
        <p:spPr>
          <a:xfrm>
            <a:off x="4026600" y="3970080"/>
            <a:ext cx="49464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400" spc="-1" strike="noStrike">
                <a:solidFill>
                  <a:srgbClr val="000000"/>
                </a:solidFill>
                <a:latin typeface="Meiryo"/>
              </a:rPr>
              <a:t>16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718" name="Freeform 112"/>
          <p:cNvSpPr/>
          <p:nvPr/>
        </p:nvSpPr>
        <p:spPr>
          <a:xfrm>
            <a:off x="7912440" y="806040"/>
            <a:ext cx="831240" cy="803880"/>
          </a:xfrm>
          <a:custGeom>
            <a:avLst/>
            <a:gdLst/>
            <a:ahLst/>
            <a:rect l="0" t="0" r="r" b="b"/>
            <a:pathLst>
              <a:path w="2309" h="2233">
                <a:moveTo>
                  <a:pt x="0" y="2232"/>
                </a:moveTo>
                <a:lnTo>
                  <a:pt x="2308" y="2232"/>
                </a:lnTo>
                <a:lnTo>
                  <a:pt x="2308" y="0"/>
                </a:lnTo>
                <a:lnTo>
                  <a:pt x="0" y="0"/>
                </a:lnTo>
                <a:lnTo>
                  <a:pt x="0" y="2232"/>
                </a:lnTo>
                <a:close/>
              </a:path>
            </a:pathLst>
          </a:custGeom>
          <a:solidFill>
            <a:srgbClr val="dce6f2"/>
          </a:solidFill>
          <a:ln w="0">
            <a:noFill/>
          </a:ln>
        </p:spPr>
      </p:sp>
      <p:sp>
        <p:nvSpPr>
          <p:cNvPr id="719" name="TextShape 113"/>
          <p:cNvSpPr txBox="1"/>
          <p:nvPr/>
        </p:nvSpPr>
        <p:spPr>
          <a:xfrm>
            <a:off x="4064760" y="4429440"/>
            <a:ext cx="30564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000000"/>
                </a:solidFill>
                <a:latin typeface="Meiryo"/>
              </a:rPr>
              <a:t>枚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720" name="TextShape 114"/>
          <p:cNvSpPr txBox="1"/>
          <p:nvPr/>
        </p:nvSpPr>
        <p:spPr>
          <a:xfrm>
            <a:off x="8276760" y="899280"/>
            <a:ext cx="3556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000000"/>
                </a:solidFill>
                <a:latin typeface="Meiryo"/>
              </a:rPr>
              <a:t>中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721" name="TextShape 115"/>
          <p:cNvSpPr txBox="1"/>
          <p:nvPr/>
        </p:nvSpPr>
        <p:spPr>
          <a:xfrm>
            <a:off x="8276760" y="1254600"/>
            <a:ext cx="3556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000000"/>
                </a:solidFill>
                <a:latin typeface="Meiryo"/>
              </a:rPr>
              <a:t>間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722" name="TextShape 116"/>
          <p:cNvSpPr txBox="1"/>
          <p:nvPr/>
        </p:nvSpPr>
        <p:spPr>
          <a:xfrm>
            <a:off x="7850160" y="949680"/>
            <a:ext cx="3556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000000"/>
                </a:solidFill>
                <a:latin typeface="Meiryo"/>
              </a:rPr>
              <a:t>２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723" name="Line 117"/>
          <p:cNvSpPr/>
          <p:nvPr/>
        </p:nvSpPr>
        <p:spPr>
          <a:xfrm>
            <a:off x="9254160" y="797040"/>
            <a:ext cx="0" cy="80928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4" name="Line 118"/>
          <p:cNvSpPr/>
          <p:nvPr/>
        </p:nvSpPr>
        <p:spPr>
          <a:xfrm>
            <a:off x="8800200" y="1201680"/>
            <a:ext cx="263988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5" name="Line 119"/>
          <p:cNvSpPr/>
          <p:nvPr/>
        </p:nvSpPr>
        <p:spPr>
          <a:xfrm>
            <a:off x="8803080" y="797040"/>
            <a:ext cx="0" cy="80928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6" name="Line 120"/>
          <p:cNvSpPr/>
          <p:nvPr/>
        </p:nvSpPr>
        <p:spPr>
          <a:xfrm>
            <a:off x="11436840" y="797040"/>
            <a:ext cx="0" cy="80928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7" name="Line 121"/>
          <p:cNvSpPr/>
          <p:nvPr/>
        </p:nvSpPr>
        <p:spPr>
          <a:xfrm>
            <a:off x="8800200" y="800280"/>
            <a:ext cx="263988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8" name="Line 122"/>
          <p:cNvSpPr/>
          <p:nvPr/>
        </p:nvSpPr>
        <p:spPr>
          <a:xfrm>
            <a:off x="8800200" y="1603080"/>
            <a:ext cx="263988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9" name="TextShape 123"/>
          <p:cNvSpPr txBox="1"/>
          <p:nvPr/>
        </p:nvSpPr>
        <p:spPr>
          <a:xfrm>
            <a:off x="7924680" y="1291320"/>
            <a:ext cx="25524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000000"/>
                </a:solidFill>
                <a:latin typeface="Meiryo"/>
              </a:rPr>
              <a:t>枚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730" name="TextShape 124"/>
          <p:cNvSpPr txBox="1"/>
          <p:nvPr/>
        </p:nvSpPr>
        <p:spPr>
          <a:xfrm>
            <a:off x="8902440" y="856800"/>
            <a:ext cx="138708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000000"/>
                </a:solidFill>
                <a:latin typeface="YuGothic"/>
              </a:rPr>
              <a:t>① </a:t>
            </a:r>
            <a:r>
              <a:rPr b="1" lang="zh-CN" sz="1800" spc="-1" strike="noStrike">
                <a:solidFill>
                  <a:srgbClr val="000000"/>
                </a:solidFill>
                <a:latin typeface="YuGothic"/>
              </a:rPr>
              <a:t>中間試算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731" name="Line 125"/>
          <p:cNvSpPr/>
          <p:nvPr/>
        </p:nvSpPr>
        <p:spPr>
          <a:xfrm>
            <a:off x="9254160" y="1877040"/>
            <a:ext cx="0" cy="80892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2" name="Line 126"/>
          <p:cNvSpPr/>
          <p:nvPr/>
        </p:nvSpPr>
        <p:spPr>
          <a:xfrm>
            <a:off x="8800200" y="2281680"/>
            <a:ext cx="263988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3" name="Line 127"/>
          <p:cNvSpPr/>
          <p:nvPr/>
        </p:nvSpPr>
        <p:spPr>
          <a:xfrm>
            <a:off x="8803080" y="1877040"/>
            <a:ext cx="0" cy="80892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4" name="Line 128"/>
          <p:cNvSpPr/>
          <p:nvPr/>
        </p:nvSpPr>
        <p:spPr>
          <a:xfrm>
            <a:off x="11436840" y="1877040"/>
            <a:ext cx="0" cy="80892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5" name="Line 129"/>
          <p:cNvSpPr/>
          <p:nvPr/>
        </p:nvSpPr>
        <p:spPr>
          <a:xfrm>
            <a:off x="8800200" y="1879920"/>
            <a:ext cx="263988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6" name="Line 130"/>
          <p:cNvSpPr/>
          <p:nvPr/>
        </p:nvSpPr>
        <p:spPr>
          <a:xfrm>
            <a:off x="8800200" y="2683080"/>
            <a:ext cx="263988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7" name="TextShape 131"/>
          <p:cNvSpPr txBox="1"/>
          <p:nvPr/>
        </p:nvSpPr>
        <p:spPr>
          <a:xfrm>
            <a:off x="8902440" y="1258200"/>
            <a:ext cx="138708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000000"/>
                </a:solidFill>
                <a:latin typeface="YuGothic"/>
              </a:rPr>
              <a:t>② </a:t>
            </a:r>
            <a:r>
              <a:rPr b="1" lang="zh-CN" sz="1800" spc="-1" strike="noStrike">
                <a:solidFill>
                  <a:srgbClr val="000000"/>
                </a:solidFill>
                <a:latin typeface="YuGothic"/>
              </a:rPr>
              <a:t>予算入力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738" name="Freeform 132"/>
          <p:cNvSpPr/>
          <p:nvPr/>
        </p:nvSpPr>
        <p:spPr>
          <a:xfrm>
            <a:off x="9263880" y="1910160"/>
            <a:ext cx="1272960" cy="328680"/>
          </a:xfrm>
          <a:custGeom>
            <a:avLst/>
            <a:gdLst/>
            <a:ahLst/>
            <a:rect l="0" t="0" r="r" b="b"/>
            <a:pathLst>
              <a:path w="3536" h="913">
                <a:moveTo>
                  <a:pt x="0" y="912"/>
                </a:moveTo>
                <a:lnTo>
                  <a:pt x="3535" y="912"/>
                </a:lnTo>
                <a:lnTo>
                  <a:pt x="3535" y="0"/>
                </a:lnTo>
                <a:lnTo>
                  <a:pt x="0" y="0"/>
                </a:lnTo>
                <a:lnTo>
                  <a:pt x="0" y="912"/>
                </a:lnTo>
                <a:close/>
              </a:path>
            </a:pathLst>
          </a:custGeom>
          <a:solidFill>
            <a:srgbClr val="ffff00"/>
          </a:solidFill>
          <a:ln w="0">
            <a:noFill/>
          </a:ln>
        </p:spPr>
      </p:sp>
      <p:sp>
        <p:nvSpPr>
          <p:cNvPr id="739" name="TextShape 133"/>
          <p:cNvSpPr txBox="1"/>
          <p:nvPr/>
        </p:nvSpPr>
        <p:spPr>
          <a:xfrm>
            <a:off x="8902440" y="1936440"/>
            <a:ext cx="164160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000000"/>
                </a:solidFill>
                <a:latin typeface="YuGothic"/>
              </a:rPr>
              <a:t>①</a:t>
            </a:r>
            <a:r>
              <a:rPr b="1" lang="en-US" sz="1800" spc="-1" strike="noStrike">
                <a:solidFill>
                  <a:srgbClr val="c00000"/>
                </a:solidFill>
                <a:latin typeface="YuGothic"/>
              </a:rPr>
              <a:t> </a:t>
            </a:r>
            <a:r>
              <a:rPr b="1" lang="zh-CN" sz="1800" spc="-1" strike="noStrike">
                <a:solidFill>
                  <a:srgbClr val="c00000"/>
                </a:solidFill>
                <a:latin typeface="YuGothic"/>
              </a:rPr>
              <a:t>販売＋在庫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740" name="Freeform 134"/>
          <p:cNvSpPr/>
          <p:nvPr/>
        </p:nvSpPr>
        <p:spPr>
          <a:xfrm>
            <a:off x="7912440" y="1880280"/>
            <a:ext cx="831240" cy="803880"/>
          </a:xfrm>
          <a:custGeom>
            <a:avLst/>
            <a:gdLst/>
            <a:ahLst/>
            <a:rect l="0" t="0" r="r" b="b"/>
            <a:pathLst>
              <a:path w="2309" h="2233">
                <a:moveTo>
                  <a:pt x="0" y="2232"/>
                </a:moveTo>
                <a:lnTo>
                  <a:pt x="2308" y="2232"/>
                </a:lnTo>
                <a:lnTo>
                  <a:pt x="2308" y="0"/>
                </a:lnTo>
                <a:lnTo>
                  <a:pt x="0" y="0"/>
                </a:lnTo>
                <a:lnTo>
                  <a:pt x="0" y="2232"/>
                </a:lnTo>
                <a:close/>
              </a:path>
            </a:pathLst>
          </a:custGeom>
          <a:solidFill>
            <a:srgbClr val="dce6f2"/>
          </a:solidFill>
          <a:ln w="0">
            <a:noFill/>
          </a:ln>
        </p:spPr>
      </p:sp>
      <p:sp>
        <p:nvSpPr>
          <p:cNvPr id="741" name="TextShape 135"/>
          <p:cNvSpPr txBox="1"/>
          <p:nvPr/>
        </p:nvSpPr>
        <p:spPr>
          <a:xfrm>
            <a:off x="8902440" y="2338560"/>
            <a:ext cx="87804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000000"/>
                </a:solidFill>
                <a:latin typeface="YuGothic"/>
              </a:rPr>
              <a:t>② </a:t>
            </a:r>
            <a:r>
              <a:rPr b="1" lang="zh-CN" sz="1800" spc="-1" strike="noStrike">
                <a:solidFill>
                  <a:srgbClr val="000000"/>
                </a:solidFill>
                <a:latin typeface="YuGothic"/>
              </a:rPr>
              <a:t>在庫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742" name="TextShape 136"/>
          <p:cNvSpPr txBox="1"/>
          <p:nvPr/>
        </p:nvSpPr>
        <p:spPr>
          <a:xfrm>
            <a:off x="8276760" y="1973520"/>
            <a:ext cx="3556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000000"/>
                </a:solidFill>
                <a:latin typeface="Meiryo"/>
              </a:rPr>
              <a:t>Ａ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743" name="TextShape 137"/>
          <p:cNvSpPr txBox="1"/>
          <p:nvPr/>
        </p:nvSpPr>
        <p:spPr>
          <a:xfrm>
            <a:off x="8276760" y="2328480"/>
            <a:ext cx="3556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000000"/>
                </a:solidFill>
                <a:latin typeface="Meiryo"/>
              </a:rPr>
              <a:t>Ｉ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744" name="TextShape 138"/>
          <p:cNvSpPr txBox="1"/>
          <p:nvPr/>
        </p:nvSpPr>
        <p:spPr>
          <a:xfrm>
            <a:off x="7850160" y="2023920"/>
            <a:ext cx="3556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000000"/>
                </a:solidFill>
                <a:latin typeface="Meiryo"/>
              </a:rPr>
              <a:t>２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745" name="Freeform 139"/>
          <p:cNvSpPr/>
          <p:nvPr/>
        </p:nvSpPr>
        <p:spPr>
          <a:xfrm>
            <a:off x="3386880" y="5194080"/>
            <a:ext cx="1651320" cy="554400"/>
          </a:xfrm>
          <a:custGeom>
            <a:avLst/>
            <a:gdLst/>
            <a:ahLst/>
            <a:rect l="0" t="0" r="r" b="b"/>
            <a:pathLst>
              <a:path w="4587" h="1540">
                <a:moveTo>
                  <a:pt x="4542" y="1539"/>
                </a:moveTo>
                <a:lnTo>
                  <a:pt x="337" y="267"/>
                </a:lnTo>
                <a:lnTo>
                  <a:pt x="380" y="122"/>
                </a:lnTo>
                <a:lnTo>
                  <a:pt x="4586" y="1396"/>
                </a:lnTo>
                <a:lnTo>
                  <a:pt x="4542" y="1539"/>
                </a:lnTo>
                <a:moveTo>
                  <a:pt x="366" y="432"/>
                </a:moveTo>
                <a:lnTo>
                  <a:pt x="0" y="85"/>
                </a:lnTo>
                <a:lnTo>
                  <a:pt x="496" y="0"/>
                </a:lnTo>
                <a:lnTo>
                  <a:pt x="366" y="432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746" name="Freeform 140"/>
          <p:cNvSpPr/>
          <p:nvPr/>
        </p:nvSpPr>
        <p:spPr>
          <a:xfrm>
            <a:off x="3382200" y="5560920"/>
            <a:ext cx="1651320" cy="546840"/>
          </a:xfrm>
          <a:custGeom>
            <a:avLst/>
            <a:gdLst/>
            <a:ahLst/>
            <a:rect l="0" t="0" r="r" b="b"/>
            <a:pathLst>
              <a:path w="4587" h="1519">
                <a:moveTo>
                  <a:pt x="4543" y="1518"/>
                </a:moveTo>
                <a:lnTo>
                  <a:pt x="338" y="266"/>
                </a:lnTo>
                <a:lnTo>
                  <a:pt x="381" y="122"/>
                </a:lnTo>
                <a:lnTo>
                  <a:pt x="4586" y="1374"/>
                </a:lnTo>
                <a:lnTo>
                  <a:pt x="4543" y="1518"/>
                </a:lnTo>
                <a:moveTo>
                  <a:pt x="367" y="431"/>
                </a:moveTo>
                <a:lnTo>
                  <a:pt x="0" y="87"/>
                </a:lnTo>
                <a:lnTo>
                  <a:pt x="496" y="0"/>
                </a:lnTo>
                <a:lnTo>
                  <a:pt x="367" y="431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747" name="Freeform 141"/>
          <p:cNvSpPr/>
          <p:nvPr/>
        </p:nvSpPr>
        <p:spPr>
          <a:xfrm>
            <a:off x="6811200" y="875160"/>
            <a:ext cx="635040" cy="162720"/>
          </a:xfrm>
          <a:custGeom>
            <a:avLst/>
            <a:gdLst/>
            <a:ahLst/>
            <a:rect l="0" t="0" r="r" b="b"/>
            <a:pathLst>
              <a:path w="1764" h="452">
                <a:moveTo>
                  <a:pt x="1763" y="151"/>
                </a:moveTo>
                <a:lnTo>
                  <a:pt x="375" y="151"/>
                </a:lnTo>
                <a:lnTo>
                  <a:pt x="375" y="301"/>
                </a:lnTo>
                <a:lnTo>
                  <a:pt x="1763" y="301"/>
                </a:lnTo>
                <a:lnTo>
                  <a:pt x="1763" y="151"/>
                </a:lnTo>
                <a:moveTo>
                  <a:pt x="450" y="0"/>
                </a:moveTo>
                <a:lnTo>
                  <a:pt x="0" y="226"/>
                </a:lnTo>
                <a:lnTo>
                  <a:pt x="450" y="451"/>
                </a:lnTo>
                <a:lnTo>
                  <a:pt x="450" y="0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748" name="Line 142"/>
          <p:cNvSpPr/>
          <p:nvPr/>
        </p:nvSpPr>
        <p:spPr>
          <a:xfrm>
            <a:off x="7433280" y="930240"/>
            <a:ext cx="0" cy="4386960"/>
          </a:xfrm>
          <a:prstGeom prst="line">
            <a:avLst/>
          </a:prstGeom>
          <a:ln w="378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9" name="Line 143"/>
          <p:cNvSpPr/>
          <p:nvPr/>
        </p:nvSpPr>
        <p:spPr>
          <a:xfrm>
            <a:off x="6037200" y="5304240"/>
            <a:ext cx="1409040" cy="0"/>
          </a:xfrm>
          <a:prstGeom prst="line">
            <a:avLst/>
          </a:prstGeom>
          <a:ln w="378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0" name="Freeform 144"/>
          <p:cNvSpPr/>
          <p:nvPr/>
        </p:nvSpPr>
        <p:spPr>
          <a:xfrm>
            <a:off x="10583280" y="2007720"/>
            <a:ext cx="635040" cy="162360"/>
          </a:xfrm>
          <a:custGeom>
            <a:avLst/>
            <a:gdLst/>
            <a:ahLst/>
            <a:rect l="0" t="0" r="r" b="b"/>
            <a:pathLst>
              <a:path w="1764" h="451">
                <a:moveTo>
                  <a:pt x="1763" y="150"/>
                </a:moveTo>
                <a:lnTo>
                  <a:pt x="375" y="150"/>
                </a:lnTo>
                <a:lnTo>
                  <a:pt x="375" y="300"/>
                </a:lnTo>
                <a:lnTo>
                  <a:pt x="1763" y="300"/>
                </a:lnTo>
                <a:lnTo>
                  <a:pt x="1763" y="150"/>
                </a:lnTo>
                <a:moveTo>
                  <a:pt x="450" y="0"/>
                </a:moveTo>
                <a:lnTo>
                  <a:pt x="0" y="225"/>
                </a:lnTo>
                <a:lnTo>
                  <a:pt x="450" y="450"/>
                </a:lnTo>
                <a:lnTo>
                  <a:pt x="450" y="0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751" name="Line 145"/>
          <p:cNvSpPr/>
          <p:nvPr/>
        </p:nvSpPr>
        <p:spPr>
          <a:xfrm>
            <a:off x="11203560" y="2062440"/>
            <a:ext cx="0" cy="442440"/>
          </a:xfrm>
          <a:prstGeom prst="line">
            <a:avLst/>
          </a:prstGeom>
          <a:ln w="378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2" name="Line 146"/>
          <p:cNvSpPr/>
          <p:nvPr/>
        </p:nvSpPr>
        <p:spPr>
          <a:xfrm>
            <a:off x="9941760" y="2499840"/>
            <a:ext cx="1289160" cy="0"/>
          </a:xfrm>
          <a:prstGeom prst="line">
            <a:avLst/>
          </a:prstGeom>
          <a:ln w="378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3" name="Line 147"/>
          <p:cNvSpPr/>
          <p:nvPr/>
        </p:nvSpPr>
        <p:spPr>
          <a:xfrm>
            <a:off x="5090760" y="1519920"/>
            <a:ext cx="1695600" cy="236160"/>
          </a:xfrm>
          <a:prstGeom prst="line">
            <a:avLst/>
          </a:prstGeom>
          <a:ln w="252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4" name="Line 148"/>
          <p:cNvSpPr/>
          <p:nvPr/>
        </p:nvSpPr>
        <p:spPr>
          <a:xfrm flipV="1">
            <a:off x="5125680" y="1519920"/>
            <a:ext cx="1658160" cy="226440"/>
          </a:xfrm>
          <a:prstGeom prst="line">
            <a:avLst/>
          </a:prstGeom>
          <a:ln w="252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5" name="Line 149"/>
          <p:cNvSpPr/>
          <p:nvPr/>
        </p:nvSpPr>
        <p:spPr>
          <a:xfrm>
            <a:off x="5099760" y="2181600"/>
            <a:ext cx="1695960" cy="236160"/>
          </a:xfrm>
          <a:prstGeom prst="line">
            <a:avLst/>
          </a:prstGeom>
          <a:ln w="252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6" name="Line 150"/>
          <p:cNvSpPr/>
          <p:nvPr/>
        </p:nvSpPr>
        <p:spPr>
          <a:xfrm flipV="1">
            <a:off x="5135040" y="2181600"/>
            <a:ext cx="1658160" cy="226080"/>
          </a:xfrm>
          <a:prstGeom prst="line">
            <a:avLst/>
          </a:prstGeom>
          <a:ln w="252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7" name="Freeform 151"/>
          <p:cNvSpPr/>
          <p:nvPr/>
        </p:nvSpPr>
        <p:spPr>
          <a:xfrm>
            <a:off x="5914440" y="1719000"/>
            <a:ext cx="1436400" cy="489960"/>
          </a:xfrm>
          <a:custGeom>
            <a:avLst/>
            <a:gdLst/>
            <a:ahLst/>
            <a:rect l="0" t="0" r="r" b="b"/>
            <a:pathLst>
              <a:path w="3990" h="1361">
                <a:moveTo>
                  <a:pt x="0" y="1360"/>
                </a:moveTo>
                <a:lnTo>
                  <a:pt x="3989" y="1360"/>
                </a:lnTo>
                <a:lnTo>
                  <a:pt x="3989" y="0"/>
                </a:lnTo>
                <a:lnTo>
                  <a:pt x="0" y="0"/>
                </a:lnTo>
                <a:lnTo>
                  <a:pt x="0" y="1360"/>
                </a:lnTo>
                <a:close/>
              </a:path>
            </a:pathLst>
          </a:custGeom>
          <a:solidFill>
            <a:srgbClr val="c00000">
              <a:alpha val="75000"/>
            </a:srgbClr>
          </a:solidFill>
          <a:ln w="0">
            <a:noFill/>
          </a:ln>
        </p:spPr>
      </p:sp>
      <p:sp>
        <p:nvSpPr>
          <p:cNvPr id="758" name="TextShape 152"/>
          <p:cNvSpPr txBox="1"/>
          <p:nvPr/>
        </p:nvSpPr>
        <p:spPr>
          <a:xfrm>
            <a:off x="7924680" y="2365560"/>
            <a:ext cx="25524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000000"/>
                </a:solidFill>
                <a:latin typeface="Meiryo"/>
              </a:rPr>
              <a:t>枚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759" name="Freeform 153"/>
          <p:cNvSpPr/>
          <p:nvPr/>
        </p:nvSpPr>
        <p:spPr>
          <a:xfrm>
            <a:off x="6197760" y="4206240"/>
            <a:ext cx="1438200" cy="489600"/>
          </a:xfrm>
          <a:custGeom>
            <a:avLst/>
            <a:gdLst/>
            <a:ahLst/>
            <a:rect l="0" t="0" r="r" b="b"/>
            <a:pathLst>
              <a:path w="3995" h="1360">
                <a:moveTo>
                  <a:pt x="0" y="1359"/>
                </a:moveTo>
                <a:lnTo>
                  <a:pt x="3994" y="1359"/>
                </a:lnTo>
                <a:lnTo>
                  <a:pt x="3994" y="0"/>
                </a:lnTo>
                <a:lnTo>
                  <a:pt x="0" y="0"/>
                </a:lnTo>
                <a:lnTo>
                  <a:pt x="0" y="1359"/>
                </a:lnTo>
                <a:close/>
              </a:path>
            </a:pathLst>
          </a:custGeom>
          <a:solidFill>
            <a:srgbClr val="c00000">
              <a:alpha val="75000"/>
            </a:srgbClr>
          </a:solidFill>
          <a:ln w="0">
            <a:noFill/>
          </a:ln>
        </p:spPr>
      </p:sp>
      <p:sp>
        <p:nvSpPr>
          <p:cNvPr id="760" name="TextShape 154"/>
          <p:cNvSpPr txBox="1"/>
          <p:nvPr/>
        </p:nvSpPr>
        <p:spPr>
          <a:xfrm>
            <a:off x="6022080" y="1748880"/>
            <a:ext cx="127368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ffffff"/>
                </a:solidFill>
                <a:latin typeface="MeiryoUI"/>
              </a:rPr>
              <a:t>❷</a:t>
            </a:r>
            <a:r>
              <a:rPr b="1" lang="zh-CN" sz="2800" spc="-1" strike="noStrike">
                <a:solidFill>
                  <a:srgbClr val="ffffff"/>
                </a:solidFill>
                <a:latin typeface="MeiryoUI"/>
              </a:rPr>
              <a:t>廃止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761" name="Freeform 155"/>
          <p:cNvSpPr/>
          <p:nvPr/>
        </p:nvSpPr>
        <p:spPr>
          <a:xfrm>
            <a:off x="10416240" y="2255400"/>
            <a:ext cx="1437840" cy="489960"/>
          </a:xfrm>
          <a:custGeom>
            <a:avLst/>
            <a:gdLst/>
            <a:ahLst/>
            <a:rect l="0" t="0" r="r" b="b"/>
            <a:pathLst>
              <a:path w="3994" h="1361">
                <a:moveTo>
                  <a:pt x="0" y="1360"/>
                </a:moveTo>
                <a:lnTo>
                  <a:pt x="3993" y="1360"/>
                </a:lnTo>
                <a:lnTo>
                  <a:pt x="3993" y="0"/>
                </a:lnTo>
                <a:lnTo>
                  <a:pt x="0" y="0"/>
                </a:lnTo>
                <a:lnTo>
                  <a:pt x="0" y="1360"/>
                </a:lnTo>
                <a:close/>
              </a:path>
            </a:pathLst>
          </a:custGeom>
          <a:solidFill>
            <a:srgbClr val="c00000">
              <a:alpha val="75000"/>
            </a:srgbClr>
          </a:solidFill>
          <a:ln w="0">
            <a:noFill/>
          </a:ln>
        </p:spPr>
      </p:sp>
      <p:sp>
        <p:nvSpPr>
          <p:cNvPr id="762" name="TextShape 156"/>
          <p:cNvSpPr txBox="1"/>
          <p:nvPr/>
        </p:nvSpPr>
        <p:spPr>
          <a:xfrm>
            <a:off x="6306840" y="4237560"/>
            <a:ext cx="127368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ffffff"/>
                </a:solidFill>
                <a:latin typeface="MeiryoUI"/>
              </a:rPr>
              <a:t>❸</a:t>
            </a:r>
            <a:r>
              <a:rPr b="1" lang="zh-CN" sz="2800" spc="-1" strike="noStrike">
                <a:solidFill>
                  <a:srgbClr val="ffffff"/>
                </a:solidFill>
                <a:latin typeface="MeiryoUI"/>
              </a:rPr>
              <a:t>統合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763" name="Freeform 157"/>
          <p:cNvSpPr/>
          <p:nvPr/>
        </p:nvSpPr>
        <p:spPr>
          <a:xfrm>
            <a:off x="2816280" y="4276080"/>
            <a:ext cx="1437840" cy="489960"/>
          </a:xfrm>
          <a:custGeom>
            <a:avLst/>
            <a:gdLst/>
            <a:ahLst/>
            <a:rect l="0" t="0" r="r" b="b"/>
            <a:pathLst>
              <a:path w="3994" h="1361">
                <a:moveTo>
                  <a:pt x="0" y="1360"/>
                </a:moveTo>
                <a:lnTo>
                  <a:pt x="3993" y="1360"/>
                </a:lnTo>
                <a:lnTo>
                  <a:pt x="3993" y="0"/>
                </a:lnTo>
                <a:lnTo>
                  <a:pt x="0" y="0"/>
                </a:lnTo>
                <a:lnTo>
                  <a:pt x="0" y="1360"/>
                </a:lnTo>
                <a:close/>
              </a:path>
            </a:pathLst>
          </a:custGeom>
          <a:solidFill>
            <a:srgbClr val="c00000">
              <a:alpha val="75000"/>
            </a:srgbClr>
          </a:solidFill>
          <a:ln w="0">
            <a:noFill/>
          </a:ln>
        </p:spPr>
      </p:sp>
      <p:sp>
        <p:nvSpPr>
          <p:cNvPr id="764" name="TextShape 158"/>
          <p:cNvSpPr txBox="1"/>
          <p:nvPr/>
        </p:nvSpPr>
        <p:spPr>
          <a:xfrm>
            <a:off x="10525320" y="2286000"/>
            <a:ext cx="127368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ffffff"/>
                </a:solidFill>
                <a:latin typeface="MeiryoUI"/>
              </a:rPr>
              <a:t>❹</a:t>
            </a:r>
            <a:r>
              <a:rPr b="1" lang="zh-CN" sz="2800" spc="-1" strike="noStrike">
                <a:solidFill>
                  <a:srgbClr val="ffffff"/>
                </a:solidFill>
                <a:latin typeface="MeiryoUI"/>
              </a:rPr>
              <a:t>統合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765" name="Freeform 159"/>
          <p:cNvSpPr/>
          <p:nvPr/>
        </p:nvSpPr>
        <p:spPr>
          <a:xfrm>
            <a:off x="2273040" y="3483720"/>
            <a:ext cx="2791080" cy="1214640"/>
          </a:xfrm>
          <a:custGeom>
            <a:avLst/>
            <a:gdLst/>
            <a:ahLst/>
            <a:rect l="0" t="0" r="r" b="b"/>
            <a:pathLst>
              <a:path w="7753" h="3374">
                <a:moveTo>
                  <a:pt x="7694" y="3373"/>
                </a:moveTo>
                <a:lnTo>
                  <a:pt x="315" y="247"/>
                </a:lnTo>
                <a:lnTo>
                  <a:pt x="374" y="109"/>
                </a:lnTo>
                <a:lnTo>
                  <a:pt x="7752" y="3235"/>
                </a:lnTo>
                <a:lnTo>
                  <a:pt x="7694" y="3373"/>
                </a:lnTo>
                <a:moveTo>
                  <a:pt x="326" y="414"/>
                </a:moveTo>
                <a:lnTo>
                  <a:pt x="0" y="32"/>
                </a:lnTo>
                <a:lnTo>
                  <a:pt x="502" y="0"/>
                </a:lnTo>
                <a:lnTo>
                  <a:pt x="326" y="414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766" name="Freeform 160"/>
          <p:cNvSpPr/>
          <p:nvPr/>
        </p:nvSpPr>
        <p:spPr>
          <a:xfrm>
            <a:off x="7912440" y="2858760"/>
            <a:ext cx="3870000" cy="3193560"/>
          </a:xfrm>
          <a:custGeom>
            <a:avLst/>
            <a:gdLst/>
            <a:ahLst/>
            <a:rect l="0" t="0" r="r" b="b"/>
            <a:pathLst>
              <a:path w="10750" h="8871">
                <a:moveTo>
                  <a:pt x="0" y="8870"/>
                </a:moveTo>
                <a:lnTo>
                  <a:pt x="10749" y="8870"/>
                </a:lnTo>
                <a:lnTo>
                  <a:pt x="10749" y="0"/>
                </a:lnTo>
                <a:lnTo>
                  <a:pt x="0" y="0"/>
                </a:lnTo>
                <a:lnTo>
                  <a:pt x="0" y="8870"/>
                </a:lnTo>
                <a:close/>
              </a:path>
            </a:pathLst>
          </a:custGeom>
          <a:solidFill>
            <a:srgbClr val="c6d9f1">
              <a:alpha val="70000"/>
            </a:srgbClr>
          </a:solidFill>
          <a:ln w="0">
            <a:noFill/>
          </a:ln>
        </p:spPr>
      </p:sp>
      <p:sp>
        <p:nvSpPr>
          <p:cNvPr id="767" name="TextShape 161"/>
          <p:cNvSpPr txBox="1"/>
          <p:nvPr/>
        </p:nvSpPr>
        <p:spPr>
          <a:xfrm>
            <a:off x="2923920" y="4307040"/>
            <a:ext cx="127368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ffffff"/>
                </a:solidFill>
                <a:latin typeface="MeiryoUI"/>
              </a:rPr>
              <a:t>❶</a:t>
            </a:r>
            <a:r>
              <a:rPr b="1" lang="zh-CN" sz="2800" spc="-1" strike="noStrike">
                <a:solidFill>
                  <a:srgbClr val="ffffff"/>
                </a:solidFill>
                <a:latin typeface="MeiryoUI"/>
              </a:rPr>
              <a:t>集約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768" name="TextShape 162"/>
          <p:cNvSpPr txBox="1"/>
          <p:nvPr/>
        </p:nvSpPr>
        <p:spPr>
          <a:xfrm>
            <a:off x="8005680" y="3118320"/>
            <a:ext cx="182952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000" spc="-1" strike="noStrike">
                <a:solidFill>
                  <a:srgbClr val="262626"/>
                </a:solidFill>
                <a:latin typeface="MeiryoUI"/>
              </a:rPr>
              <a:t>＜週間資料＞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769" name="TextShape 163"/>
          <p:cNvSpPr txBox="1"/>
          <p:nvPr/>
        </p:nvSpPr>
        <p:spPr>
          <a:xfrm>
            <a:off x="8005680" y="3484080"/>
            <a:ext cx="156384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2000" spc="-1" strike="noStrike">
                <a:solidFill>
                  <a:srgbClr val="262626"/>
                </a:solidFill>
                <a:latin typeface="MeiryoUI"/>
              </a:rPr>
              <a:t>①</a:t>
            </a:r>
            <a:r>
              <a:rPr b="0" lang="zh-CN" sz="2000" spc="-1" strike="noStrike">
                <a:solidFill>
                  <a:srgbClr val="262626"/>
                </a:solidFill>
                <a:latin typeface="MeiryoUI"/>
              </a:rPr>
              <a:t>重複資料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770" name="TextShape 164"/>
          <p:cNvSpPr txBox="1"/>
          <p:nvPr/>
        </p:nvSpPr>
        <p:spPr>
          <a:xfrm>
            <a:off x="9529920" y="3555000"/>
            <a:ext cx="2293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262626"/>
                </a:solidFill>
                <a:latin typeface="MeiryoUI"/>
              </a:rPr>
              <a:t>は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771" name="TextShape 165"/>
          <p:cNvSpPr txBox="1"/>
          <p:nvPr/>
        </p:nvSpPr>
        <p:spPr>
          <a:xfrm>
            <a:off x="9725040" y="3484080"/>
            <a:ext cx="61020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000" spc="-1" strike="noStrike">
                <a:solidFill>
                  <a:srgbClr val="262626"/>
                </a:solidFill>
                <a:latin typeface="MeiryoUI"/>
              </a:rPr>
              <a:t>月間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772" name="TextShape 166"/>
          <p:cNvSpPr txBox="1"/>
          <p:nvPr/>
        </p:nvSpPr>
        <p:spPr>
          <a:xfrm>
            <a:off x="10334880" y="3555000"/>
            <a:ext cx="2293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262626"/>
                </a:solidFill>
                <a:latin typeface="MeiryoUI"/>
              </a:rPr>
              <a:t>に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773" name="TextShape 167"/>
          <p:cNvSpPr txBox="1"/>
          <p:nvPr/>
        </p:nvSpPr>
        <p:spPr>
          <a:xfrm>
            <a:off x="10514880" y="3484080"/>
            <a:ext cx="61020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000" spc="-1" strike="noStrike">
                <a:solidFill>
                  <a:srgbClr val="262626"/>
                </a:solidFill>
                <a:latin typeface="MeiryoUI"/>
              </a:rPr>
              <a:t>集約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774" name="TextShape 168"/>
          <p:cNvSpPr txBox="1"/>
          <p:nvPr/>
        </p:nvSpPr>
        <p:spPr>
          <a:xfrm>
            <a:off x="8005680" y="3849840"/>
            <a:ext cx="285948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2000" spc="-1" strike="noStrike">
                <a:solidFill>
                  <a:srgbClr val="262626"/>
                </a:solidFill>
                <a:latin typeface="MeiryoUI"/>
              </a:rPr>
              <a:t>②</a:t>
            </a:r>
            <a:r>
              <a:rPr b="0" lang="en-US" sz="2000" spc="-1" strike="noStrike">
                <a:solidFill>
                  <a:srgbClr val="262626"/>
                </a:solidFill>
                <a:latin typeface="Meiryo UI"/>
              </a:rPr>
              <a:t>6</a:t>
            </a:r>
            <a:r>
              <a:rPr b="0" lang="zh-CN" sz="2000" spc="-1" strike="noStrike">
                <a:solidFill>
                  <a:srgbClr val="262626"/>
                </a:solidFill>
                <a:latin typeface="MeiryoUI"/>
              </a:rPr>
              <a:t>週推移・</a:t>
            </a:r>
            <a:r>
              <a:rPr b="0" lang="en-US" sz="2000" spc="-1" strike="noStrike">
                <a:solidFill>
                  <a:srgbClr val="262626"/>
                </a:solidFill>
                <a:latin typeface="Meiryo UI"/>
              </a:rPr>
              <a:t>FF</a:t>
            </a:r>
            <a:r>
              <a:rPr b="0" lang="zh-CN" sz="2000" spc="-1" strike="noStrike">
                <a:solidFill>
                  <a:srgbClr val="262626"/>
                </a:solidFill>
                <a:latin typeface="MeiryoUI"/>
              </a:rPr>
              <a:t>廃止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775" name="TextShape 169"/>
          <p:cNvSpPr txBox="1"/>
          <p:nvPr/>
        </p:nvSpPr>
        <p:spPr>
          <a:xfrm>
            <a:off x="8005680" y="4215600"/>
            <a:ext cx="339264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2000" spc="-1" strike="noStrike">
                <a:solidFill>
                  <a:srgbClr val="262626"/>
                </a:solidFill>
                <a:latin typeface="MeiryoUI"/>
              </a:rPr>
              <a:t>③</a:t>
            </a:r>
            <a:r>
              <a:rPr b="0" lang="zh-CN" sz="2000" spc="-1" strike="noStrike">
                <a:solidFill>
                  <a:srgbClr val="262626"/>
                </a:solidFill>
                <a:latin typeface="MeiryoUI"/>
              </a:rPr>
              <a:t>アプリクーポンの廃止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776" name="TextShape 170"/>
          <p:cNvSpPr txBox="1"/>
          <p:nvPr/>
        </p:nvSpPr>
        <p:spPr>
          <a:xfrm>
            <a:off x="8208360" y="4581720"/>
            <a:ext cx="274392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000" spc="-1" strike="noStrike">
                <a:solidFill>
                  <a:srgbClr val="262626"/>
                </a:solidFill>
                <a:latin typeface="MeiryoUI"/>
              </a:rPr>
              <a:t>一部サマリーに統合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777" name="TextShape 171"/>
          <p:cNvSpPr txBox="1"/>
          <p:nvPr/>
        </p:nvSpPr>
        <p:spPr>
          <a:xfrm>
            <a:off x="8005680" y="5107680"/>
            <a:ext cx="166068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000" spc="-1" strike="noStrike">
                <a:solidFill>
                  <a:srgbClr val="262626"/>
                </a:solidFill>
                <a:latin typeface="MeiryoUI"/>
              </a:rPr>
              <a:t>＜</a:t>
            </a:r>
            <a:r>
              <a:rPr b="0" lang="en-US" sz="2000" spc="-1" strike="noStrike">
                <a:solidFill>
                  <a:srgbClr val="262626"/>
                </a:solidFill>
                <a:latin typeface="Meiryo UI"/>
              </a:rPr>
              <a:t>AI</a:t>
            </a:r>
            <a:r>
              <a:rPr b="0" lang="zh-CN" sz="2000" spc="-1" strike="noStrike">
                <a:solidFill>
                  <a:srgbClr val="262626"/>
                </a:solidFill>
                <a:latin typeface="MeiryoUI"/>
              </a:rPr>
              <a:t>資料＞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778" name="Line 172"/>
          <p:cNvSpPr/>
          <p:nvPr/>
        </p:nvSpPr>
        <p:spPr>
          <a:xfrm>
            <a:off x="5072400" y="4884840"/>
            <a:ext cx="1695600" cy="236520"/>
          </a:xfrm>
          <a:prstGeom prst="line">
            <a:avLst/>
          </a:prstGeom>
          <a:ln w="252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9" name="Line 173"/>
          <p:cNvSpPr/>
          <p:nvPr/>
        </p:nvSpPr>
        <p:spPr>
          <a:xfrm flipV="1">
            <a:off x="5109120" y="4884840"/>
            <a:ext cx="1658160" cy="226440"/>
          </a:xfrm>
          <a:prstGeom prst="line">
            <a:avLst/>
          </a:prstGeom>
          <a:ln w="252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0" name="TextShape 174"/>
          <p:cNvSpPr txBox="1"/>
          <p:nvPr/>
        </p:nvSpPr>
        <p:spPr>
          <a:xfrm>
            <a:off x="8005680" y="5473080"/>
            <a:ext cx="311832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2000" spc="-1" strike="noStrike">
                <a:solidFill>
                  <a:srgbClr val="262626"/>
                </a:solidFill>
                <a:latin typeface="MeiryoUI"/>
              </a:rPr>
              <a:t>④</a:t>
            </a:r>
            <a:r>
              <a:rPr b="0" lang="zh-CN" sz="2000" spc="-1" strike="noStrike">
                <a:solidFill>
                  <a:srgbClr val="262626"/>
                </a:solidFill>
                <a:latin typeface="MeiryoUI"/>
              </a:rPr>
              <a:t>販売＋在庫の</a:t>
            </a:r>
            <a:r>
              <a:rPr b="0" lang="en-US" sz="2000" spc="-1" strike="noStrike">
                <a:solidFill>
                  <a:srgbClr val="262626"/>
                </a:solidFill>
                <a:latin typeface="Meiryo UI"/>
              </a:rPr>
              <a:t>1</a:t>
            </a:r>
            <a:r>
              <a:rPr b="0" lang="zh-CN" sz="2000" spc="-1" strike="noStrike">
                <a:solidFill>
                  <a:srgbClr val="262626"/>
                </a:solidFill>
                <a:latin typeface="MeiryoUI"/>
              </a:rPr>
              <a:t>枚へ</a:t>
            </a:r>
            <a:endParaRPr b="0" lang="en-US" sz="2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Freeform 1"/>
          <p:cNvSpPr/>
          <p:nvPr/>
        </p:nvSpPr>
        <p:spPr>
          <a:xfrm>
            <a:off x="0" y="-360"/>
            <a:ext cx="12192480" cy="6858720"/>
          </a:xfrm>
          <a:custGeom>
            <a:avLst/>
            <a:gdLst/>
            <a:ahLst/>
            <a:rect l="0" t="0" r="r" b="b"/>
            <a:pathLst>
              <a:path w="33868" h="19052">
                <a:moveTo>
                  <a:pt x="0" y="19051"/>
                </a:moveTo>
                <a:lnTo>
                  <a:pt x="33867" y="19051"/>
                </a:lnTo>
                <a:lnTo>
                  <a:pt x="33867" y="0"/>
                </a:lnTo>
                <a:lnTo>
                  <a:pt x="0" y="0"/>
                </a:lnTo>
                <a:lnTo>
                  <a:pt x="0" y="190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pic>
        <p:nvPicPr>
          <p:cNvPr id="782" name="" descr=""/>
          <p:cNvPicPr/>
          <p:nvPr/>
        </p:nvPicPr>
        <p:blipFill>
          <a:blip r:embed="rId1"/>
          <a:stretch/>
        </p:blipFill>
        <p:spPr>
          <a:xfrm>
            <a:off x="175320" y="586800"/>
            <a:ext cx="11841120" cy="209880"/>
          </a:xfrm>
          <a:prstGeom prst="rect">
            <a:avLst/>
          </a:prstGeom>
          <a:ln w="0">
            <a:noFill/>
          </a:ln>
        </p:spPr>
      </p:pic>
      <p:pic>
        <p:nvPicPr>
          <p:cNvPr id="783" name="" descr=""/>
          <p:cNvPicPr/>
          <p:nvPr/>
        </p:nvPicPr>
        <p:blipFill>
          <a:blip r:embed="rId2"/>
          <a:stretch/>
        </p:blipFill>
        <p:spPr>
          <a:xfrm>
            <a:off x="5122080" y="6681240"/>
            <a:ext cx="1947240" cy="115560"/>
          </a:xfrm>
          <a:prstGeom prst="rect">
            <a:avLst/>
          </a:prstGeom>
          <a:ln w="0">
            <a:noFill/>
          </a:ln>
        </p:spPr>
      </p:pic>
      <p:sp>
        <p:nvSpPr>
          <p:cNvPr id="784" name="Freeform 2"/>
          <p:cNvSpPr/>
          <p:nvPr/>
        </p:nvSpPr>
        <p:spPr>
          <a:xfrm>
            <a:off x="151560" y="6209280"/>
            <a:ext cx="1620720" cy="360360"/>
          </a:xfrm>
          <a:custGeom>
            <a:avLst/>
            <a:gdLst/>
            <a:ahLst/>
            <a:rect l="0" t="0" r="r" b="b"/>
            <a:pathLst>
              <a:path w="4502" h="1001">
                <a:moveTo>
                  <a:pt x="0" y="1000"/>
                </a:moveTo>
                <a:lnTo>
                  <a:pt x="4501" y="1000"/>
                </a:lnTo>
                <a:lnTo>
                  <a:pt x="4501" y="0"/>
                </a:lnTo>
                <a:lnTo>
                  <a:pt x="0" y="0"/>
                </a:lnTo>
                <a:lnTo>
                  <a:pt x="0" y="1000"/>
                </a:lnTo>
                <a:close/>
              </a:path>
            </a:pathLst>
          </a:custGeom>
          <a:solidFill>
            <a:srgbClr val="ffffff"/>
          </a:solidFill>
          <a:ln w="31680">
            <a:solidFill>
              <a:srgbClr val="ff0000"/>
            </a:solidFill>
            <a:round/>
          </a:ln>
        </p:spPr>
      </p:sp>
      <p:sp>
        <p:nvSpPr>
          <p:cNvPr id="785" name="TextShape 3"/>
          <p:cNvSpPr txBox="1"/>
          <p:nvPr/>
        </p:nvSpPr>
        <p:spPr>
          <a:xfrm>
            <a:off x="555840" y="627012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ff0000"/>
                </a:solidFill>
                <a:latin typeface="Meiryo"/>
              </a:rPr>
              <a:t>社内限り</a:t>
            </a:r>
            <a:endParaRPr b="0" lang="en-US" sz="1400" spc="-1" strike="noStrike">
              <a:latin typeface="Times New Roman"/>
            </a:endParaRPr>
          </a:p>
        </p:txBody>
      </p:sp>
      <p:pic>
        <p:nvPicPr>
          <p:cNvPr id="786" name="" descr=""/>
          <p:cNvPicPr/>
          <p:nvPr/>
        </p:nvPicPr>
        <p:blipFill>
          <a:blip r:embed="rId3"/>
          <a:stretch/>
        </p:blipFill>
        <p:spPr>
          <a:xfrm>
            <a:off x="11428560" y="149400"/>
            <a:ext cx="411120" cy="432360"/>
          </a:xfrm>
          <a:prstGeom prst="rect">
            <a:avLst/>
          </a:prstGeom>
          <a:ln w="0">
            <a:noFill/>
          </a:ln>
        </p:spPr>
      </p:pic>
      <p:sp>
        <p:nvSpPr>
          <p:cNvPr id="787" name="Freeform 4"/>
          <p:cNvSpPr/>
          <p:nvPr/>
        </p:nvSpPr>
        <p:spPr>
          <a:xfrm>
            <a:off x="9806040" y="204840"/>
            <a:ext cx="1497240" cy="361800"/>
          </a:xfrm>
          <a:custGeom>
            <a:avLst/>
            <a:gdLst/>
            <a:ahLst/>
            <a:rect l="0" t="0" r="r" b="b"/>
            <a:pathLst>
              <a:path w="4159" h="1005">
                <a:moveTo>
                  <a:pt x="0" y="1004"/>
                </a:moveTo>
                <a:lnTo>
                  <a:pt x="4158" y="1004"/>
                </a:lnTo>
                <a:lnTo>
                  <a:pt x="4158" y="0"/>
                </a:lnTo>
                <a:lnTo>
                  <a:pt x="0" y="0"/>
                </a:lnTo>
                <a:lnTo>
                  <a:pt x="0" y="1004"/>
                </a:lnTo>
                <a:close/>
              </a:path>
            </a:pathLst>
          </a:custGeom>
          <a:solidFill>
            <a:srgbClr val="ffffff"/>
          </a:solidFill>
          <a:ln w="18720">
            <a:solidFill>
              <a:srgbClr val="ff0000"/>
            </a:solidFill>
            <a:round/>
          </a:ln>
        </p:spPr>
      </p:sp>
      <p:sp>
        <p:nvSpPr>
          <p:cNvPr id="788" name="TextShape 5"/>
          <p:cNvSpPr txBox="1"/>
          <p:nvPr/>
        </p:nvSpPr>
        <p:spPr>
          <a:xfrm>
            <a:off x="9143280" y="6356520"/>
            <a:ext cx="23598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明日の笑顔を</a:t>
            </a:r>
            <a:r>
              <a:rPr b="0" lang="en-US" sz="1600" spc="-1" strike="noStrike">
                <a:solidFill>
                  <a:srgbClr val="000000"/>
                </a:solidFill>
                <a:latin typeface="UD Digi Kyokasho NPR"/>
              </a:rPr>
              <a:t> </a:t>
            </a:r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共に創る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789" name="TextShape 6"/>
          <p:cNvSpPr txBox="1"/>
          <p:nvPr/>
        </p:nvSpPr>
        <p:spPr>
          <a:xfrm>
            <a:off x="10151280" y="262800"/>
            <a:ext cx="48240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0000"/>
                </a:solidFill>
                <a:latin typeface="Meiryo"/>
              </a:rPr>
              <a:t>秘</a:t>
            </a:r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（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790" name="TextShape 7"/>
          <p:cNvSpPr txBox="1"/>
          <p:nvPr/>
        </p:nvSpPr>
        <p:spPr>
          <a:xfrm>
            <a:off x="10671120" y="391320"/>
            <a:ext cx="10188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700" spc="-1" strike="noStrike">
                <a:solidFill>
                  <a:srgbClr val="ff0000"/>
                </a:solidFill>
                <a:latin typeface="Meiryo"/>
              </a:rPr>
              <a:t> </a:t>
            </a:r>
            <a:endParaRPr b="0" lang="en-US" sz="700" spc="-1" strike="noStrike">
              <a:latin typeface="Times New Roman"/>
            </a:endParaRPr>
          </a:p>
        </p:txBody>
      </p:sp>
      <p:sp>
        <p:nvSpPr>
          <p:cNvPr id="791" name="TextShape 8"/>
          <p:cNvSpPr txBox="1"/>
          <p:nvPr/>
        </p:nvSpPr>
        <p:spPr>
          <a:xfrm>
            <a:off x="10707480" y="249840"/>
            <a:ext cx="2541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0000"/>
                </a:solidFill>
                <a:latin typeface="Meiryo"/>
              </a:rPr>
              <a:t>B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792" name="TextShape 9"/>
          <p:cNvSpPr txBox="1"/>
          <p:nvPr/>
        </p:nvSpPr>
        <p:spPr>
          <a:xfrm>
            <a:off x="10925640" y="262800"/>
            <a:ext cx="24156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）</a:t>
            </a:r>
            <a:endParaRPr b="0" lang="en-US" sz="1600" spc="-1" strike="noStrike">
              <a:latin typeface="Times New Roman"/>
            </a:endParaRPr>
          </a:p>
        </p:txBody>
      </p:sp>
      <p:pic>
        <p:nvPicPr>
          <p:cNvPr id="793" name="" descr=""/>
          <p:cNvPicPr/>
          <p:nvPr/>
        </p:nvPicPr>
        <p:blipFill>
          <a:blip r:embed="rId4"/>
          <a:stretch/>
        </p:blipFill>
        <p:spPr>
          <a:xfrm>
            <a:off x="4960800" y="6669000"/>
            <a:ext cx="2221560" cy="121680"/>
          </a:xfrm>
          <a:prstGeom prst="rect">
            <a:avLst/>
          </a:prstGeom>
          <a:ln w="0">
            <a:noFill/>
          </a:ln>
        </p:spPr>
      </p:pic>
      <p:sp>
        <p:nvSpPr>
          <p:cNvPr id="794" name="Freeform 10"/>
          <p:cNvSpPr/>
          <p:nvPr/>
        </p:nvSpPr>
        <p:spPr>
          <a:xfrm>
            <a:off x="230040" y="806040"/>
            <a:ext cx="512640" cy="5377320"/>
          </a:xfrm>
          <a:custGeom>
            <a:avLst/>
            <a:gdLst/>
            <a:ahLst/>
            <a:rect l="0" t="0" r="r" b="b"/>
            <a:pathLst>
              <a:path w="1424" h="14937">
                <a:moveTo>
                  <a:pt x="0" y="14936"/>
                </a:moveTo>
                <a:lnTo>
                  <a:pt x="1423" y="14936"/>
                </a:lnTo>
                <a:lnTo>
                  <a:pt x="1423" y="0"/>
                </a:lnTo>
                <a:lnTo>
                  <a:pt x="0" y="0"/>
                </a:lnTo>
                <a:lnTo>
                  <a:pt x="0" y="14936"/>
                </a:lnTo>
                <a:close/>
              </a:path>
            </a:pathLst>
          </a:custGeom>
          <a:solidFill>
            <a:srgbClr val="dce6f2"/>
          </a:solidFill>
          <a:ln w="0">
            <a:noFill/>
          </a:ln>
        </p:spPr>
      </p:sp>
      <p:sp>
        <p:nvSpPr>
          <p:cNvPr id="795" name="TextShape 11"/>
          <p:cNvSpPr txBox="1"/>
          <p:nvPr/>
        </p:nvSpPr>
        <p:spPr>
          <a:xfrm>
            <a:off x="8179200" y="303480"/>
            <a:ext cx="15246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100" spc="-1" strike="noStrike">
                <a:solidFill>
                  <a:srgbClr val="000000"/>
                </a:solidFill>
                <a:latin typeface="Meiryo"/>
              </a:rPr>
              <a:t>フィールドサポート部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796" name="TextShape 12"/>
          <p:cNvSpPr txBox="1"/>
          <p:nvPr/>
        </p:nvSpPr>
        <p:spPr>
          <a:xfrm>
            <a:off x="180360" y="2315160"/>
            <a:ext cx="4075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000000"/>
                </a:solidFill>
                <a:latin typeface="Meiryo"/>
              </a:rPr>
              <a:t>月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797" name="TextShape 13"/>
          <p:cNvSpPr txBox="1"/>
          <p:nvPr/>
        </p:nvSpPr>
        <p:spPr>
          <a:xfrm>
            <a:off x="180360" y="2722320"/>
            <a:ext cx="4075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000000"/>
                </a:solidFill>
                <a:latin typeface="Meiryo"/>
              </a:rPr>
              <a:t>間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798" name="TextShape 14"/>
          <p:cNvSpPr txBox="1"/>
          <p:nvPr/>
        </p:nvSpPr>
        <p:spPr>
          <a:xfrm>
            <a:off x="180360" y="3129120"/>
            <a:ext cx="4075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000000"/>
                </a:solidFill>
                <a:latin typeface="Meiryo"/>
              </a:rPr>
              <a:t>資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799" name="TextShape 15"/>
          <p:cNvSpPr txBox="1"/>
          <p:nvPr/>
        </p:nvSpPr>
        <p:spPr>
          <a:xfrm>
            <a:off x="180360" y="3535920"/>
            <a:ext cx="4075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000000"/>
                </a:solidFill>
                <a:latin typeface="Meiryo"/>
              </a:rPr>
              <a:t>料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800" name="TextShape 16"/>
          <p:cNvSpPr txBox="1"/>
          <p:nvPr/>
        </p:nvSpPr>
        <p:spPr>
          <a:xfrm>
            <a:off x="181080" y="3943080"/>
            <a:ext cx="5677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000000"/>
                </a:solidFill>
                <a:latin typeface="Meiryo"/>
              </a:rPr>
              <a:t>15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801" name="Line 17"/>
          <p:cNvSpPr/>
          <p:nvPr/>
        </p:nvSpPr>
        <p:spPr>
          <a:xfrm>
            <a:off x="1291680" y="802800"/>
            <a:ext cx="0" cy="538272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2" name="Line 18"/>
          <p:cNvSpPr/>
          <p:nvPr/>
        </p:nvSpPr>
        <p:spPr>
          <a:xfrm>
            <a:off x="884880" y="116460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3" name="Line 19"/>
          <p:cNvSpPr/>
          <p:nvPr/>
        </p:nvSpPr>
        <p:spPr>
          <a:xfrm>
            <a:off x="884880" y="152280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4" name="Line 20"/>
          <p:cNvSpPr/>
          <p:nvPr/>
        </p:nvSpPr>
        <p:spPr>
          <a:xfrm>
            <a:off x="884880" y="188136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5" name="Line 21"/>
          <p:cNvSpPr/>
          <p:nvPr/>
        </p:nvSpPr>
        <p:spPr>
          <a:xfrm>
            <a:off x="884880" y="223956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6" name="Line 22"/>
          <p:cNvSpPr/>
          <p:nvPr/>
        </p:nvSpPr>
        <p:spPr>
          <a:xfrm>
            <a:off x="884880" y="259812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7" name="Line 23"/>
          <p:cNvSpPr/>
          <p:nvPr/>
        </p:nvSpPr>
        <p:spPr>
          <a:xfrm>
            <a:off x="884880" y="295668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8" name="Line 24"/>
          <p:cNvSpPr/>
          <p:nvPr/>
        </p:nvSpPr>
        <p:spPr>
          <a:xfrm>
            <a:off x="884880" y="331488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9" name="Line 25"/>
          <p:cNvSpPr/>
          <p:nvPr/>
        </p:nvSpPr>
        <p:spPr>
          <a:xfrm>
            <a:off x="884880" y="367344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0" name="Line 26"/>
          <p:cNvSpPr/>
          <p:nvPr/>
        </p:nvSpPr>
        <p:spPr>
          <a:xfrm>
            <a:off x="884880" y="403164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1" name="Line 27"/>
          <p:cNvSpPr/>
          <p:nvPr/>
        </p:nvSpPr>
        <p:spPr>
          <a:xfrm>
            <a:off x="884880" y="439020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2" name="Line 28"/>
          <p:cNvSpPr/>
          <p:nvPr/>
        </p:nvSpPr>
        <p:spPr>
          <a:xfrm>
            <a:off x="884880" y="474876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3" name="Line 29"/>
          <p:cNvSpPr/>
          <p:nvPr/>
        </p:nvSpPr>
        <p:spPr>
          <a:xfrm>
            <a:off x="884880" y="510696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4" name="Line 30"/>
          <p:cNvSpPr/>
          <p:nvPr/>
        </p:nvSpPr>
        <p:spPr>
          <a:xfrm>
            <a:off x="884880" y="546552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5" name="Line 31"/>
          <p:cNvSpPr/>
          <p:nvPr/>
        </p:nvSpPr>
        <p:spPr>
          <a:xfrm>
            <a:off x="884880" y="582372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6" name="Line 32"/>
          <p:cNvSpPr/>
          <p:nvPr/>
        </p:nvSpPr>
        <p:spPr>
          <a:xfrm>
            <a:off x="888120" y="802800"/>
            <a:ext cx="0" cy="538272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7" name="Line 33"/>
          <p:cNvSpPr/>
          <p:nvPr/>
        </p:nvSpPr>
        <p:spPr>
          <a:xfrm>
            <a:off x="3918240" y="802800"/>
            <a:ext cx="0" cy="538272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8" name="Line 34"/>
          <p:cNvSpPr/>
          <p:nvPr/>
        </p:nvSpPr>
        <p:spPr>
          <a:xfrm>
            <a:off x="884880" y="80604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9" name="Line 35"/>
          <p:cNvSpPr/>
          <p:nvPr/>
        </p:nvSpPr>
        <p:spPr>
          <a:xfrm>
            <a:off x="884880" y="6182280"/>
            <a:ext cx="303660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0" name="TextShape 36"/>
          <p:cNvSpPr txBox="1"/>
          <p:nvPr/>
        </p:nvSpPr>
        <p:spPr>
          <a:xfrm>
            <a:off x="257400" y="4463280"/>
            <a:ext cx="30564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000000"/>
                </a:solidFill>
                <a:latin typeface="Meiryo"/>
              </a:rPr>
              <a:t>枚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821" name="TextShape 37"/>
          <p:cNvSpPr txBox="1"/>
          <p:nvPr/>
        </p:nvSpPr>
        <p:spPr>
          <a:xfrm>
            <a:off x="975600" y="856080"/>
            <a:ext cx="17024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①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経営数値分析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22" name="TextShape 38"/>
          <p:cNvSpPr txBox="1"/>
          <p:nvPr/>
        </p:nvSpPr>
        <p:spPr>
          <a:xfrm>
            <a:off x="975600" y="1213920"/>
            <a:ext cx="8452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②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PMA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23" name="TextShape 39"/>
          <p:cNvSpPr txBox="1"/>
          <p:nvPr/>
        </p:nvSpPr>
        <p:spPr>
          <a:xfrm>
            <a:off x="975600" y="1572480"/>
            <a:ext cx="20412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③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PMA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推移（金）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24" name="TextShape 40"/>
          <p:cNvSpPr txBox="1"/>
          <p:nvPr/>
        </p:nvSpPr>
        <p:spPr>
          <a:xfrm>
            <a:off x="975600" y="1931400"/>
            <a:ext cx="20394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➃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PMA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推移（数）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25" name="TextShape 41"/>
          <p:cNvSpPr txBox="1"/>
          <p:nvPr/>
        </p:nvSpPr>
        <p:spPr>
          <a:xfrm>
            <a:off x="975600" y="2289960"/>
            <a:ext cx="1245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⑤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デイリー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26" name="TextShape 42"/>
          <p:cNvSpPr txBox="1"/>
          <p:nvPr/>
        </p:nvSpPr>
        <p:spPr>
          <a:xfrm>
            <a:off x="975600" y="2648520"/>
            <a:ext cx="238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⑥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デイリー推移（金）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27" name="TextShape 43"/>
          <p:cNvSpPr txBox="1"/>
          <p:nvPr/>
        </p:nvSpPr>
        <p:spPr>
          <a:xfrm>
            <a:off x="975600" y="3006720"/>
            <a:ext cx="238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⑦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デイリー推移（数）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28" name="TextShape 44"/>
          <p:cNvSpPr txBox="1"/>
          <p:nvPr/>
        </p:nvSpPr>
        <p:spPr>
          <a:xfrm>
            <a:off x="975600" y="3365280"/>
            <a:ext cx="1245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⑧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買上点数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29" name="TextShape 45"/>
          <p:cNvSpPr txBox="1"/>
          <p:nvPr/>
        </p:nvSpPr>
        <p:spPr>
          <a:xfrm>
            <a:off x="975600" y="3723480"/>
            <a:ext cx="21596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⑨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買上点数（推移）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30" name="TextShape 46"/>
          <p:cNvSpPr txBox="1"/>
          <p:nvPr/>
        </p:nvSpPr>
        <p:spPr>
          <a:xfrm>
            <a:off x="975600" y="4082040"/>
            <a:ext cx="19310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⑩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利益構造グラフ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31" name="TextShape 47"/>
          <p:cNvSpPr txBox="1"/>
          <p:nvPr/>
        </p:nvSpPr>
        <p:spPr>
          <a:xfrm>
            <a:off x="975600" y="4440960"/>
            <a:ext cx="12697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⑪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利益構造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32" name="TextShape 48"/>
          <p:cNvSpPr txBox="1"/>
          <p:nvPr/>
        </p:nvSpPr>
        <p:spPr>
          <a:xfrm>
            <a:off x="975600" y="4799520"/>
            <a:ext cx="17888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⑫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利益構造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(ZO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33" name="TextShape 49"/>
          <p:cNvSpPr txBox="1"/>
          <p:nvPr/>
        </p:nvSpPr>
        <p:spPr>
          <a:xfrm>
            <a:off x="2857320" y="4799520"/>
            <a:ext cx="8445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立地別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)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34" name="TextShape 50"/>
          <p:cNvSpPr txBox="1"/>
          <p:nvPr/>
        </p:nvSpPr>
        <p:spPr>
          <a:xfrm>
            <a:off x="975600" y="5157720"/>
            <a:ext cx="21841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⑬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非デイリー品揃え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35" name="TextShape 51"/>
          <p:cNvSpPr txBox="1"/>
          <p:nvPr/>
        </p:nvSpPr>
        <p:spPr>
          <a:xfrm>
            <a:off x="975600" y="5516280"/>
            <a:ext cx="19555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⑭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非デイリー推移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36" name="Line 52"/>
          <p:cNvSpPr/>
          <p:nvPr/>
        </p:nvSpPr>
        <p:spPr>
          <a:xfrm>
            <a:off x="5094000" y="802800"/>
            <a:ext cx="0" cy="366768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7" name="Line 53"/>
          <p:cNvSpPr/>
          <p:nvPr/>
        </p:nvSpPr>
        <p:spPr>
          <a:xfrm>
            <a:off x="4664160" y="121284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8" name="Line 54"/>
          <p:cNvSpPr/>
          <p:nvPr/>
        </p:nvSpPr>
        <p:spPr>
          <a:xfrm>
            <a:off x="4664160" y="161964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9" name="Line 55"/>
          <p:cNvSpPr/>
          <p:nvPr/>
        </p:nvSpPr>
        <p:spPr>
          <a:xfrm>
            <a:off x="4664160" y="202644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0" name="Line 56"/>
          <p:cNvSpPr/>
          <p:nvPr/>
        </p:nvSpPr>
        <p:spPr>
          <a:xfrm>
            <a:off x="4664160" y="243324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1" name="Line 57"/>
          <p:cNvSpPr/>
          <p:nvPr/>
        </p:nvSpPr>
        <p:spPr>
          <a:xfrm>
            <a:off x="4664160" y="284004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2" name="Line 58"/>
          <p:cNvSpPr/>
          <p:nvPr/>
        </p:nvSpPr>
        <p:spPr>
          <a:xfrm>
            <a:off x="4664160" y="324684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3" name="Line 59"/>
          <p:cNvSpPr/>
          <p:nvPr/>
        </p:nvSpPr>
        <p:spPr>
          <a:xfrm>
            <a:off x="4664160" y="365364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4" name="Line 60"/>
          <p:cNvSpPr/>
          <p:nvPr/>
        </p:nvSpPr>
        <p:spPr>
          <a:xfrm>
            <a:off x="4664160" y="406044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5" name="Line 61"/>
          <p:cNvSpPr/>
          <p:nvPr/>
        </p:nvSpPr>
        <p:spPr>
          <a:xfrm>
            <a:off x="4667040" y="802800"/>
            <a:ext cx="0" cy="366768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6" name="Line 62"/>
          <p:cNvSpPr/>
          <p:nvPr/>
        </p:nvSpPr>
        <p:spPr>
          <a:xfrm>
            <a:off x="7684560" y="802800"/>
            <a:ext cx="0" cy="366768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7" name="Line 63"/>
          <p:cNvSpPr/>
          <p:nvPr/>
        </p:nvSpPr>
        <p:spPr>
          <a:xfrm>
            <a:off x="4664160" y="80604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8" name="Line 64"/>
          <p:cNvSpPr/>
          <p:nvPr/>
        </p:nvSpPr>
        <p:spPr>
          <a:xfrm>
            <a:off x="4664160" y="4467240"/>
            <a:ext cx="302364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9" name="TextShape 65"/>
          <p:cNvSpPr txBox="1"/>
          <p:nvPr/>
        </p:nvSpPr>
        <p:spPr>
          <a:xfrm>
            <a:off x="975600" y="5874840"/>
            <a:ext cx="10411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⑮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利用度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50" name="TextShape 66"/>
          <p:cNvSpPr txBox="1"/>
          <p:nvPr/>
        </p:nvSpPr>
        <p:spPr>
          <a:xfrm>
            <a:off x="4766760" y="879840"/>
            <a:ext cx="28454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①</a:t>
            </a:r>
            <a:r>
              <a:rPr b="1" lang="en-US" sz="1600" spc="-1" strike="noStrike">
                <a:solidFill>
                  <a:srgbClr val="c00000"/>
                </a:solidFill>
                <a:latin typeface="YuGothic"/>
              </a:rPr>
              <a:t> </a:t>
            </a:r>
            <a:r>
              <a:rPr b="1" lang="zh-CN" sz="1600" spc="-1" strike="noStrike">
                <a:solidFill>
                  <a:srgbClr val="c00000"/>
                </a:solidFill>
                <a:latin typeface="YuGothic"/>
              </a:rPr>
              <a:t>サマリーシート（ｱﾌﾟﾘ）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51" name="TextShape 67"/>
          <p:cNvSpPr txBox="1"/>
          <p:nvPr/>
        </p:nvSpPr>
        <p:spPr>
          <a:xfrm>
            <a:off x="4766760" y="1286640"/>
            <a:ext cx="1245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②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日別売上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52" name="TextShape 68"/>
          <p:cNvSpPr txBox="1"/>
          <p:nvPr/>
        </p:nvSpPr>
        <p:spPr>
          <a:xfrm>
            <a:off x="4766760" y="1693440"/>
            <a:ext cx="17024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③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時間帯別月間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53" name="TextShape 69"/>
          <p:cNvSpPr txBox="1"/>
          <p:nvPr/>
        </p:nvSpPr>
        <p:spPr>
          <a:xfrm>
            <a:off x="4766760" y="2100240"/>
            <a:ext cx="14670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④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POS-PMA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54" name="TextShape 70"/>
          <p:cNvSpPr txBox="1"/>
          <p:nvPr/>
        </p:nvSpPr>
        <p:spPr>
          <a:xfrm>
            <a:off x="4766760" y="2506680"/>
            <a:ext cx="18856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⑤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PMA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分析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金額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55" name="TextShape 71"/>
          <p:cNvSpPr txBox="1"/>
          <p:nvPr/>
        </p:nvSpPr>
        <p:spPr>
          <a:xfrm>
            <a:off x="4766760" y="2913480"/>
            <a:ext cx="18856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⑥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PMA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分析</a:t>
            </a:r>
            <a:r>
              <a:rPr b="1" lang="en-US" sz="1600" spc="-1" strike="noStrike">
                <a:solidFill>
                  <a:srgbClr val="000000"/>
                </a:solidFill>
                <a:latin typeface="Yu Gothic"/>
              </a:rPr>
              <a:t>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数量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56" name="TextShape 72"/>
          <p:cNvSpPr txBox="1"/>
          <p:nvPr/>
        </p:nvSpPr>
        <p:spPr>
          <a:xfrm>
            <a:off x="4766760" y="3320640"/>
            <a:ext cx="1245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⑦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情報分類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57" name="TextShape 73"/>
          <p:cNvSpPr txBox="1"/>
          <p:nvPr/>
        </p:nvSpPr>
        <p:spPr>
          <a:xfrm>
            <a:off x="4766760" y="3727800"/>
            <a:ext cx="22327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⑧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情報分類推移 金額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58" name="TextShape 74"/>
          <p:cNvSpPr txBox="1"/>
          <p:nvPr/>
        </p:nvSpPr>
        <p:spPr>
          <a:xfrm>
            <a:off x="4766760" y="4134600"/>
            <a:ext cx="22327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000000"/>
                </a:solidFill>
                <a:latin typeface="YuGothic"/>
              </a:rPr>
              <a:t>⑨ </a:t>
            </a:r>
            <a:r>
              <a:rPr b="1" lang="zh-CN" sz="1600" spc="-1" strike="noStrike">
                <a:solidFill>
                  <a:srgbClr val="000000"/>
                </a:solidFill>
                <a:latin typeface="YuGothic"/>
              </a:rPr>
              <a:t>情報分類推移 数量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859" name="Freeform 75"/>
          <p:cNvSpPr/>
          <p:nvPr/>
        </p:nvSpPr>
        <p:spPr>
          <a:xfrm>
            <a:off x="4003200" y="806040"/>
            <a:ext cx="578520" cy="3661200"/>
          </a:xfrm>
          <a:custGeom>
            <a:avLst/>
            <a:gdLst/>
            <a:ahLst/>
            <a:rect l="0" t="0" r="r" b="b"/>
            <a:pathLst>
              <a:path w="1607" h="10170">
                <a:moveTo>
                  <a:pt x="0" y="10169"/>
                </a:moveTo>
                <a:lnTo>
                  <a:pt x="1606" y="10169"/>
                </a:lnTo>
                <a:lnTo>
                  <a:pt x="1606" y="0"/>
                </a:lnTo>
                <a:lnTo>
                  <a:pt x="0" y="0"/>
                </a:lnTo>
                <a:lnTo>
                  <a:pt x="0" y="10169"/>
                </a:lnTo>
                <a:close/>
              </a:path>
            </a:pathLst>
          </a:custGeom>
          <a:solidFill>
            <a:srgbClr val="dce6f2"/>
          </a:solidFill>
          <a:ln w="0">
            <a:noFill/>
          </a:ln>
        </p:spPr>
      </p:sp>
      <p:sp>
        <p:nvSpPr>
          <p:cNvPr id="860" name="TextShape 76"/>
          <p:cNvSpPr txBox="1"/>
          <p:nvPr/>
        </p:nvSpPr>
        <p:spPr>
          <a:xfrm>
            <a:off x="183600" y="160560"/>
            <a:ext cx="479700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25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年</a:t>
            </a:r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3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月～提供資料一覧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861" name="TextShape 77"/>
          <p:cNvSpPr txBox="1"/>
          <p:nvPr/>
        </p:nvSpPr>
        <p:spPr>
          <a:xfrm>
            <a:off x="3988080" y="982800"/>
            <a:ext cx="4075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000000"/>
                </a:solidFill>
                <a:latin typeface="Meiryo"/>
              </a:rPr>
              <a:t>週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862" name="TextShape 78"/>
          <p:cNvSpPr txBox="1"/>
          <p:nvPr/>
        </p:nvSpPr>
        <p:spPr>
          <a:xfrm>
            <a:off x="3988080" y="1389600"/>
            <a:ext cx="4075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000000"/>
                </a:solidFill>
                <a:latin typeface="Meiryo"/>
              </a:rPr>
              <a:t>間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863" name="TextShape 79"/>
          <p:cNvSpPr txBox="1"/>
          <p:nvPr/>
        </p:nvSpPr>
        <p:spPr>
          <a:xfrm>
            <a:off x="3988080" y="1796400"/>
            <a:ext cx="4075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000000"/>
                </a:solidFill>
                <a:latin typeface="Meiryo"/>
              </a:rPr>
              <a:t>資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864" name="TextShape 80"/>
          <p:cNvSpPr txBox="1"/>
          <p:nvPr/>
        </p:nvSpPr>
        <p:spPr>
          <a:xfrm>
            <a:off x="3988080" y="2203560"/>
            <a:ext cx="4075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000000"/>
                </a:solidFill>
                <a:latin typeface="Meiryo"/>
              </a:rPr>
              <a:t>料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865" name="TextShape 81"/>
          <p:cNvSpPr txBox="1"/>
          <p:nvPr/>
        </p:nvSpPr>
        <p:spPr>
          <a:xfrm>
            <a:off x="4026600" y="2603520"/>
            <a:ext cx="49464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400" spc="-1" strike="noStrike">
                <a:solidFill>
                  <a:srgbClr val="000000"/>
                </a:solidFill>
                <a:latin typeface="Meiryo"/>
              </a:rPr>
              <a:t>16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866" name="TextShape 82"/>
          <p:cNvSpPr txBox="1"/>
          <p:nvPr/>
        </p:nvSpPr>
        <p:spPr>
          <a:xfrm>
            <a:off x="4064760" y="3063600"/>
            <a:ext cx="30564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000000"/>
                </a:solidFill>
                <a:latin typeface="Meiryo"/>
              </a:rPr>
              <a:t>枚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867" name="TextShape 83"/>
          <p:cNvSpPr txBox="1"/>
          <p:nvPr/>
        </p:nvSpPr>
        <p:spPr>
          <a:xfrm>
            <a:off x="4064760" y="3368880"/>
            <a:ext cx="30456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000" spc="-1" strike="noStrike">
                <a:solidFill>
                  <a:srgbClr val="000000"/>
                </a:solidFill>
                <a:latin typeface="Meiryo"/>
              </a:rPr>
              <a:t>▼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868" name="TextShape 84"/>
          <p:cNvSpPr txBox="1"/>
          <p:nvPr/>
        </p:nvSpPr>
        <p:spPr>
          <a:xfrm>
            <a:off x="3988080" y="3686760"/>
            <a:ext cx="4075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c00000"/>
                </a:solidFill>
                <a:latin typeface="Meiryo"/>
              </a:rPr>
              <a:t>９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869" name="Freeform 85"/>
          <p:cNvSpPr/>
          <p:nvPr/>
        </p:nvSpPr>
        <p:spPr>
          <a:xfrm>
            <a:off x="7912440" y="806040"/>
            <a:ext cx="831240" cy="803880"/>
          </a:xfrm>
          <a:custGeom>
            <a:avLst/>
            <a:gdLst/>
            <a:ahLst/>
            <a:rect l="0" t="0" r="r" b="b"/>
            <a:pathLst>
              <a:path w="2309" h="2233">
                <a:moveTo>
                  <a:pt x="0" y="2232"/>
                </a:moveTo>
                <a:lnTo>
                  <a:pt x="2308" y="2232"/>
                </a:lnTo>
                <a:lnTo>
                  <a:pt x="2308" y="0"/>
                </a:lnTo>
                <a:lnTo>
                  <a:pt x="0" y="0"/>
                </a:lnTo>
                <a:lnTo>
                  <a:pt x="0" y="2232"/>
                </a:lnTo>
                <a:close/>
              </a:path>
            </a:pathLst>
          </a:custGeom>
          <a:solidFill>
            <a:srgbClr val="dce6f2"/>
          </a:solidFill>
          <a:ln w="0">
            <a:noFill/>
          </a:ln>
        </p:spPr>
      </p:sp>
      <p:sp>
        <p:nvSpPr>
          <p:cNvPr id="870" name="TextShape 86"/>
          <p:cNvSpPr txBox="1"/>
          <p:nvPr/>
        </p:nvSpPr>
        <p:spPr>
          <a:xfrm>
            <a:off x="4064760" y="4080240"/>
            <a:ext cx="30564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c00000"/>
                </a:solidFill>
                <a:latin typeface="Meiryo"/>
              </a:rPr>
              <a:t>枚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871" name="TextShape 87"/>
          <p:cNvSpPr txBox="1"/>
          <p:nvPr/>
        </p:nvSpPr>
        <p:spPr>
          <a:xfrm>
            <a:off x="8276760" y="899280"/>
            <a:ext cx="3556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000000"/>
                </a:solidFill>
                <a:latin typeface="Meiryo"/>
              </a:rPr>
              <a:t>中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872" name="TextShape 88"/>
          <p:cNvSpPr txBox="1"/>
          <p:nvPr/>
        </p:nvSpPr>
        <p:spPr>
          <a:xfrm>
            <a:off x="8276760" y="1254600"/>
            <a:ext cx="3556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000000"/>
                </a:solidFill>
                <a:latin typeface="Meiryo"/>
              </a:rPr>
              <a:t>間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873" name="TextShape 89"/>
          <p:cNvSpPr txBox="1"/>
          <p:nvPr/>
        </p:nvSpPr>
        <p:spPr>
          <a:xfrm>
            <a:off x="7850160" y="949680"/>
            <a:ext cx="3556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000000"/>
                </a:solidFill>
                <a:latin typeface="Meiryo"/>
              </a:rPr>
              <a:t>２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874" name="Line 90"/>
          <p:cNvSpPr/>
          <p:nvPr/>
        </p:nvSpPr>
        <p:spPr>
          <a:xfrm>
            <a:off x="9254160" y="797040"/>
            <a:ext cx="0" cy="80928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5" name="Line 91"/>
          <p:cNvSpPr/>
          <p:nvPr/>
        </p:nvSpPr>
        <p:spPr>
          <a:xfrm>
            <a:off x="8800200" y="1201680"/>
            <a:ext cx="263988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6" name="Line 92"/>
          <p:cNvSpPr/>
          <p:nvPr/>
        </p:nvSpPr>
        <p:spPr>
          <a:xfrm>
            <a:off x="8803080" y="797040"/>
            <a:ext cx="0" cy="80928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7" name="Line 93"/>
          <p:cNvSpPr/>
          <p:nvPr/>
        </p:nvSpPr>
        <p:spPr>
          <a:xfrm>
            <a:off x="11436840" y="797040"/>
            <a:ext cx="0" cy="80928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8" name="Line 94"/>
          <p:cNvSpPr/>
          <p:nvPr/>
        </p:nvSpPr>
        <p:spPr>
          <a:xfrm>
            <a:off x="8800200" y="800280"/>
            <a:ext cx="263988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9" name="Line 95"/>
          <p:cNvSpPr/>
          <p:nvPr/>
        </p:nvSpPr>
        <p:spPr>
          <a:xfrm>
            <a:off x="8800200" y="1603080"/>
            <a:ext cx="263988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0" name="TextShape 96"/>
          <p:cNvSpPr txBox="1"/>
          <p:nvPr/>
        </p:nvSpPr>
        <p:spPr>
          <a:xfrm>
            <a:off x="7924680" y="1291320"/>
            <a:ext cx="25524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000000"/>
                </a:solidFill>
                <a:latin typeface="Meiryo"/>
              </a:rPr>
              <a:t>枚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881" name="TextShape 97"/>
          <p:cNvSpPr txBox="1"/>
          <p:nvPr/>
        </p:nvSpPr>
        <p:spPr>
          <a:xfrm>
            <a:off x="8902440" y="856800"/>
            <a:ext cx="138708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000000"/>
                </a:solidFill>
                <a:latin typeface="YuGothic"/>
              </a:rPr>
              <a:t>① </a:t>
            </a:r>
            <a:r>
              <a:rPr b="1" lang="zh-CN" sz="1800" spc="-1" strike="noStrike">
                <a:solidFill>
                  <a:srgbClr val="000000"/>
                </a:solidFill>
                <a:latin typeface="YuGothic"/>
              </a:rPr>
              <a:t>中間試算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882" name="Line 98"/>
          <p:cNvSpPr/>
          <p:nvPr/>
        </p:nvSpPr>
        <p:spPr>
          <a:xfrm>
            <a:off x="9254160" y="1877040"/>
            <a:ext cx="0" cy="80892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3" name="Line 99"/>
          <p:cNvSpPr/>
          <p:nvPr/>
        </p:nvSpPr>
        <p:spPr>
          <a:xfrm>
            <a:off x="8803080" y="1877040"/>
            <a:ext cx="0" cy="80892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4" name="Line 100"/>
          <p:cNvSpPr/>
          <p:nvPr/>
        </p:nvSpPr>
        <p:spPr>
          <a:xfrm>
            <a:off x="11436840" y="1877040"/>
            <a:ext cx="0" cy="80892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5" name="Line 101"/>
          <p:cNvSpPr/>
          <p:nvPr/>
        </p:nvSpPr>
        <p:spPr>
          <a:xfrm>
            <a:off x="8800200" y="1879920"/>
            <a:ext cx="263988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6" name="Line 102"/>
          <p:cNvSpPr/>
          <p:nvPr/>
        </p:nvSpPr>
        <p:spPr>
          <a:xfrm>
            <a:off x="8800200" y="2683080"/>
            <a:ext cx="2639880" cy="0"/>
          </a:xfrm>
          <a:prstGeom prst="line">
            <a:avLst/>
          </a:prstGeom>
          <a:ln w="612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7" name="TextShape 103"/>
          <p:cNvSpPr txBox="1"/>
          <p:nvPr/>
        </p:nvSpPr>
        <p:spPr>
          <a:xfrm>
            <a:off x="8902440" y="1258200"/>
            <a:ext cx="138708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000000"/>
                </a:solidFill>
                <a:latin typeface="YuGothic"/>
              </a:rPr>
              <a:t>②</a:t>
            </a:r>
            <a:r>
              <a:rPr b="1" lang="en-US" sz="1800" spc="-1" strike="noStrike">
                <a:solidFill>
                  <a:srgbClr val="c00000"/>
                </a:solidFill>
                <a:latin typeface="YuGothic"/>
              </a:rPr>
              <a:t> </a:t>
            </a:r>
            <a:r>
              <a:rPr b="1" lang="zh-CN" sz="1800" spc="-1" strike="noStrike">
                <a:solidFill>
                  <a:srgbClr val="c00000"/>
                </a:solidFill>
                <a:latin typeface="YuGothic"/>
              </a:rPr>
              <a:t>予算入力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888" name="Freeform 104"/>
          <p:cNvSpPr/>
          <p:nvPr/>
        </p:nvSpPr>
        <p:spPr>
          <a:xfrm>
            <a:off x="7912440" y="1880280"/>
            <a:ext cx="831240" cy="803880"/>
          </a:xfrm>
          <a:custGeom>
            <a:avLst/>
            <a:gdLst/>
            <a:ahLst/>
            <a:rect l="0" t="0" r="r" b="b"/>
            <a:pathLst>
              <a:path w="2309" h="2233">
                <a:moveTo>
                  <a:pt x="0" y="2232"/>
                </a:moveTo>
                <a:lnTo>
                  <a:pt x="2308" y="2232"/>
                </a:lnTo>
                <a:lnTo>
                  <a:pt x="2308" y="0"/>
                </a:lnTo>
                <a:lnTo>
                  <a:pt x="0" y="0"/>
                </a:lnTo>
                <a:lnTo>
                  <a:pt x="0" y="2232"/>
                </a:lnTo>
                <a:close/>
              </a:path>
            </a:pathLst>
          </a:custGeom>
          <a:solidFill>
            <a:srgbClr val="dce6f2"/>
          </a:solidFill>
          <a:ln w="0">
            <a:noFill/>
          </a:ln>
        </p:spPr>
      </p:sp>
      <p:sp>
        <p:nvSpPr>
          <p:cNvPr id="889" name="TextShape 105"/>
          <p:cNvSpPr txBox="1"/>
          <p:nvPr/>
        </p:nvSpPr>
        <p:spPr>
          <a:xfrm>
            <a:off x="8902440" y="2137680"/>
            <a:ext cx="164160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000000"/>
                </a:solidFill>
                <a:latin typeface="YuGothic"/>
              </a:rPr>
              <a:t>①</a:t>
            </a:r>
            <a:r>
              <a:rPr b="1" lang="en-US" sz="1800" spc="-1" strike="noStrike">
                <a:solidFill>
                  <a:srgbClr val="c00000"/>
                </a:solidFill>
                <a:latin typeface="YuGothic"/>
              </a:rPr>
              <a:t> </a:t>
            </a:r>
            <a:r>
              <a:rPr b="1" lang="zh-CN" sz="1800" spc="-1" strike="noStrike">
                <a:solidFill>
                  <a:srgbClr val="c00000"/>
                </a:solidFill>
                <a:latin typeface="YuGothic"/>
              </a:rPr>
              <a:t>販売＋在庫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890" name="TextShape 106"/>
          <p:cNvSpPr txBox="1"/>
          <p:nvPr/>
        </p:nvSpPr>
        <p:spPr>
          <a:xfrm>
            <a:off x="8276760" y="1973520"/>
            <a:ext cx="3556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000000"/>
                </a:solidFill>
                <a:latin typeface="Meiryo"/>
              </a:rPr>
              <a:t>Ａ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891" name="TextShape 107"/>
          <p:cNvSpPr txBox="1"/>
          <p:nvPr/>
        </p:nvSpPr>
        <p:spPr>
          <a:xfrm>
            <a:off x="8276760" y="2328480"/>
            <a:ext cx="3556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000000"/>
                </a:solidFill>
                <a:latin typeface="Meiryo"/>
              </a:rPr>
              <a:t>Ｉ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892" name="TextShape 108"/>
          <p:cNvSpPr txBox="1"/>
          <p:nvPr/>
        </p:nvSpPr>
        <p:spPr>
          <a:xfrm>
            <a:off x="7850160" y="2023920"/>
            <a:ext cx="3556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c00000"/>
                </a:solidFill>
                <a:latin typeface="Meiryo"/>
              </a:rPr>
              <a:t>１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893" name="TextShape 109"/>
          <p:cNvSpPr txBox="1"/>
          <p:nvPr/>
        </p:nvSpPr>
        <p:spPr>
          <a:xfrm>
            <a:off x="7924680" y="2365560"/>
            <a:ext cx="25524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c00000"/>
                </a:solidFill>
                <a:latin typeface="Meiryo"/>
              </a:rPr>
              <a:t>枚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894" name="TextShape 110"/>
          <p:cNvSpPr txBox="1"/>
          <p:nvPr/>
        </p:nvSpPr>
        <p:spPr>
          <a:xfrm>
            <a:off x="4170240" y="4824720"/>
            <a:ext cx="425160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262626"/>
                </a:solidFill>
                <a:latin typeface="MeiryoUI"/>
              </a:rPr>
              <a:t>❶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週間</a:t>
            </a:r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 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サマリーシート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895" name="TextShape 111"/>
          <p:cNvSpPr txBox="1"/>
          <p:nvPr/>
        </p:nvSpPr>
        <p:spPr>
          <a:xfrm>
            <a:off x="4170240" y="5822280"/>
            <a:ext cx="43657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262626"/>
                </a:solidFill>
                <a:latin typeface="MeiryoUI"/>
              </a:rPr>
              <a:t>❸</a:t>
            </a:r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AI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資料（販売･在庫）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896" name="TextShape 112"/>
          <p:cNvSpPr txBox="1"/>
          <p:nvPr/>
        </p:nvSpPr>
        <p:spPr>
          <a:xfrm>
            <a:off x="8391240" y="5329800"/>
            <a:ext cx="406980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についてご説明します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897" name="TextShape 113"/>
          <p:cNvSpPr txBox="1"/>
          <p:nvPr/>
        </p:nvSpPr>
        <p:spPr>
          <a:xfrm>
            <a:off x="4170240" y="5319360"/>
            <a:ext cx="371484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262626"/>
                </a:solidFill>
                <a:latin typeface="MeiryoUI"/>
              </a:rPr>
              <a:t>❷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中間資料（予算）</a:t>
            </a:r>
            <a:endParaRPr b="0" lang="en-US" sz="2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Freeform 1"/>
          <p:cNvSpPr/>
          <p:nvPr/>
        </p:nvSpPr>
        <p:spPr>
          <a:xfrm>
            <a:off x="0" y="-360"/>
            <a:ext cx="12192480" cy="6858720"/>
          </a:xfrm>
          <a:custGeom>
            <a:avLst/>
            <a:gdLst/>
            <a:ahLst/>
            <a:rect l="0" t="0" r="r" b="b"/>
            <a:pathLst>
              <a:path w="33868" h="19052">
                <a:moveTo>
                  <a:pt x="0" y="19051"/>
                </a:moveTo>
                <a:lnTo>
                  <a:pt x="33867" y="19051"/>
                </a:lnTo>
                <a:lnTo>
                  <a:pt x="33867" y="0"/>
                </a:lnTo>
                <a:lnTo>
                  <a:pt x="0" y="0"/>
                </a:lnTo>
                <a:lnTo>
                  <a:pt x="0" y="190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pic>
        <p:nvPicPr>
          <p:cNvPr id="899" name="" descr=""/>
          <p:cNvPicPr/>
          <p:nvPr/>
        </p:nvPicPr>
        <p:blipFill>
          <a:blip r:embed="rId1"/>
          <a:stretch/>
        </p:blipFill>
        <p:spPr>
          <a:xfrm>
            <a:off x="175320" y="586800"/>
            <a:ext cx="11841120" cy="209880"/>
          </a:xfrm>
          <a:prstGeom prst="rect">
            <a:avLst/>
          </a:prstGeom>
          <a:ln w="0">
            <a:noFill/>
          </a:ln>
        </p:spPr>
      </p:pic>
      <p:pic>
        <p:nvPicPr>
          <p:cNvPr id="900" name="" descr=""/>
          <p:cNvPicPr/>
          <p:nvPr/>
        </p:nvPicPr>
        <p:blipFill>
          <a:blip r:embed="rId2"/>
          <a:stretch/>
        </p:blipFill>
        <p:spPr>
          <a:xfrm>
            <a:off x="5122080" y="6681240"/>
            <a:ext cx="1947240" cy="115560"/>
          </a:xfrm>
          <a:prstGeom prst="rect">
            <a:avLst/>
          </a:prstGeom>
          <a:ln w="0">
            <a:noFill/>
          </a:ln>
        </p:spPr>
      </p:pic>
      <p:sp>
        <p:nvSpPr>
          <p:cNvPr id="901" name="Freeform 2"/>
          <p:cNvSpPr/>
          <p:nvPr/>
        </p:nvSpPr>
        <p:spPr>
          <a:xfrm>
            <a:off x="151560" y="6209280"/>
            <a:ext cx="1620720" cy="360360"/>
          </a:xfrm>
          <a:custGeom>
            <a:avLst/>
            <a:gdLst/>
            <a:ahLst/>
            <a:rect l="0" t="0" r="r" b="b"/>
            <a:pathLst>
              <a:path w="4502" h="1001">
                <a:moveTo>
                  <a:pt x="0" y="1000"/>
                </a:moveTo>
                <a:lnTo>
                  <a:pt x="4501" y="1000"/>
                </a:lnTo>
                <a:lnTo>
                  <a:pt x="4501" y="0"/>
                </a:lnTo>
                <a:lnTo>
                  <a:pt x="0" y="0"/>
                </a:lnTo>
                <a:lnTo>
                  <a:pt x="0" y="1000"/>
                </a:lnTo>
                <a:close/>
              </a:path>
            </a:pathLst>
          </a:custGeom>
          <a:solidFill>
            <a:srgbClr val="ffffff"/>
          </a:solidFill>
          <a:ln w="31680">
            <a:solidFill>
              <a:srgbClr val="ff0000"/>
            </a:solidFill>
            <a:round/>
          </a:ln>
        </p:spPr>
      </p:sp>
      <p:sp>
        <p:nvSpPr>
          <p:cNvPr id="902" name="TextShape 3"/>
          <p:cNvSpPr txBox="1"/>
          <p:nvPr/>
        </p:nvSpPr>
        <p:spPr>
          <a:xfrm>
            <a:off x="555840" y="627012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ff0000"/>
                </a:solidFill>
                <a:latin typeface="Meiryo"/>
              </a:rPr>
              <a:t>社内限り</a:t>
            </a:r>
            <a:endParaRPr b="0" lang="en-US" sz="1400" spc="-1" strike="noStrike">
              <a:latin typeface="Times New Roman"/>
            </a:endParaRPr>
          </a:p>
        </p:txBody>
      </p:sp>
      <p:pic>
        <p:nvPicPr>
          <p:cNvPr id="903" name="" descr=""/>
          <p:cNvPicPr/>
          <p:nvPr/>
        </p:nvPicPr>
        <p:blipFill>
          <a:blip r:embed="rId3"/>
          <a:stretch/>
        </p:blipFill>
        <p:spPr>
          <a:xfrm>
            <a:off x="11428560" y="149400"/>
            <a:ext cx="411120" cy="432360"/>
          </a:xfrm>
          <a:prstGeom prst="rect">
            <a:avLst/>
          </a:prstGeom>
          <a:ln w="0">
            <a:noFill/>
          </a:ln>
        </p:spPr>
      </p:pic>
      <p:sp>
        <p:nvSpPr>
          <p:cNvPr id="904" name="Freeform 4"/>
          <p:cNvSpPr/>
          <p:nvPr/>
        </p:nvSpPr>
        <p:spPr>
          <a:xfrm>
            <a:off x="9806040" y="204840"/>
            <a:ext cx="1497240" cy="361800"/>
          </a:xfrm>
          <a:custGeom>
            <a:avLst/>
            <a:gdLst/>
            <a:ahLst/>
            <a:rect l="0" t="0" r="r" b="b"/>
            <a:pathLst>
              <a:path w="4159" h="1005">
                <a:moveTo>
                  <a:pt x="0" y="1004"/>
                </a:moveTo>
                <a:lnTo>
                  <a:pt x="4158" y="1004"/>
                </a:lnTo>
                <a:lnTo>
                  <a:pt x="4158" y="0"/>
                </a:lnTo>
                <a:lnTo>
                  <a:pt x="0" y="0"/>
                </a:lnTo>
                <a:lnTo>
                  <a:pt x="0" y="1004"/>
                </a:lnTo>
                <a:close/>
              </a:path>
            </a:pathLst>
          </a:custGeom>
          <a:solidFill>
            <a:srgbClr val="ffffff"/>
          </a:solidFill>
          <a:ln w="18720">
            <a:solidFill>
              <a:srgbClr val="ff0000"/>
            </a:solidFill>
            <a:round/>
          </a:ln>
        </p:spPr>
      </p:sp>
      <p:sp>
        <p:nvSpPr>
          <p:cNvPr id="905" name="TextShape 5"/>
          <p:cNvSpPr txBox="1"/>
          <p:nvPr/>
        </p:nvSpPr>
        <p:spPr>
          <a:xfrm>
            <a:off x="9143280" y="6356520"/>
            <a:ext cx="23598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明日の笑顔を</a:t>
            </a:r>
            <a:r>
              <a:rPr b="0" lang="en-US" sz="1600" spc="-1" strike="noStrike">
                <a:solidFill>
                  <a:srgbClr val="000000"/>
                </a:solidFill>
                <a:latin typeface="UD Digi Kyokasho NPR"/>
              </a:rPr>
              <a:t> </a:t>
            </a:r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共に創る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906" name="TextShape 6"/>
          <p:cNvSpPr txBox="1"/>
          <p:nvPr/>
        </p:nvSpPr>
        <p:spPr>
          <a:xfrm>
            <a:off x="10151280" y="262800"/>
            <a:ext cx="48240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0000"/>
                </a:solidFill>
                <a:latin typeface="Meiryo"/>
              </a:rPr>
              <a:t>秘</a:t>
            </a:r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（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907" name="TextShape 7"/>
          <p:cNvSpPr txBox="1"/>
          <p:nvPr/>
        </p:nvSpPr>
        <p:spPr>
          <a:xfrm>
            <a:off x="10671120" y="391320"/>
            <a:ext cx="10188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700" spc="-1" strike="noStrike">
                <a:solidFill>
                  <a:srgbClr val="ff0000"/>
                </a:solidFill>
                <a:latin typeface="Meiryo"/>
              </a:rPr>
              <a:t> </a:t>
            </a:r>
            <a:endParaRPr b="0" lang="en-US" sz="700" spc="-1" strike="noStrike">
              <a:latin typeface="Times New Roman"/>
            </a:endParaRPr>
          </a:p>
        </p:txBody>
      </p:sp>
      <p:sp>
        <p:nvSpPr>
          <p:cNvPr id="908" name="TextShape 8"/>
          <p:cNvSpPr txBox="1"/>
          <p:nvPr/>
        </p:nvSpPr>
        <p:spPr>
          <a:xfrm>
            <a:off x="10707480" y="249840"/>
            <a:ext cx="2541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0000"/>
                </a:solidFill>
                <a:latin typeface="Meiryo"/>
              </a:rPr>
              <a:t>B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909" name="TextShape 9"/>
          <p:cNvSpPr txBox="1"/>
          <p:nvPr/>
        </p:nvSpPr>
        <p:spPr>
          <a:xfrm>
            <a:off x="10925640" y="262800"/>
            <a:ext cx="24156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）</a:t>
            </a:r>
            <a:endParaRPr b="0" lang="en-US" sz="1600" spc="-1" strike="noStrike">
              <a:latin typeface="Times New Roman"/>
            </a:endParaRPr>
          </a:p>
        </p:txBody>
      </p:sp>
      <p:pic>
        <p:nvPicPr>
          <p:cNvPr id="910" name="" descr=""/>
          <p:cNvPicPr/>
          <p:nvPr/>
        </p:nvPicPr>
        <p:blipFill>
          <a:blip r:embed="rId4"/>
          <a:stretch/>
        </p:blipFill>
        <p:spPr>
          <a:xfrm>
            <a:off x="4960800" y="6669000"/>
            <a:ext cx="2221560" cy="121680"/>
          </a:xfrm>
          <a:prstGeom prst="rect">
            <a:avLst/>
          </a:prstGeom>
          <a:ln w="0">
            <a:noFill/>
          </a:ln>
        </p:spPr>
      </p:pic>
      <p:sp>
        <p:nvSpPr>
          <p:cNvPr id="911" name="TextShape 10"/>
          <p:cNvSpPr txBox="1"/>
          <p:nvPr/>
        </p:nvSpPr>
        <p:spPr>
          <a:xfrm>
            <a:off x="8179200" y="303480"/>
            <a:ext cx="15246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100" spc="-1" strike="noStrike">
                <a:solidFill>
                  <a:srgbClr val="000000"/>
                </a:solidFill>
                <a:latin typeface="Meiryo"/>
              </a:rPr>
              <a:t>フィールドサポート部</a:t>
            </a:r>
            <a:endParaRPr b="0" lang="en-US" sz="1100" spc="-1" strike="noStrike">
              <a:latin typeface="Times New Roman"/>
            </a:endParaRPr>
          </a:p>
        </p:txBody>
      </p:sp>
      <p:pic>
        <p:nvPicPr>
          <p:cNvPr id="912" name="" descr=""/>
          <p:cNvPicPr/>
          <p:nvPr/>
        </p:nvPicPr>
        <p:blipFill>
          <a:blip r:embed="rId5"/>
          <a:stretch/>
        </p:blipFill>
        <p:spPr>
          <a:xfrm>
            <a:off x="262080" y="797040"/>
            <a:ext cx="5746680" cy="5336640"/>
          </a:xfrm>
          <a:prstGeom prst="rect">
            <a:avLst/>
          </a:prstGeom>
          <a:ln w="0">
            <a:noFill/>
          </a:ln>
        </p:spPr>
      </p:pic>
      <p:sp>
        <p:nvSpPr>
          <p:cNvPr id="913" name="Freeform 11"/>
          <p:cNvSpPr/>
          <p:nvPr/>
        </p:nvSpPr>
        <p:spPr>
          <a:xfrm>
            <a:off x="6255720" y="793800"/>
            <a:ext cx="4600440" cy="432000"/>
          </a:xfrm>
          <a:custGeom>
            <a:avLst/>
            <a:gdLst/>
            <a:ahLst/>
            <a:rect l="0" t="0" r="r" b="b"/>
            <a:pathLst>
              <a:path w="12779" h="1200">
                <a:moveTo>
                  <a:pt x="0" y="1199"/>
                </a:moveTo>
                <a:lnTo>
                  <a:pt x="12778" y="1199"/>
                </a:lnTo>
                <a:lnTo>
                  <a:pt x="12778" y="0"/>
                </a:lnTo>
                <a:lnTo>
                  <a:pt x="0" y="0"/>
                </a:lnTo>
                <a:lnTo>
                  <a:pt x="0" y="1199"/>
                </a:lnTo>
                <a:close/>
              </a:path>
            </a:pathLst>
          </a:custGeom>
          <a:solidFill>
            <a:srgbClr val="c6d9f1">
              <a:alpha val="80000"/>
            </a:srgbClr>
          </a:solidFill>
          <a:ln w="0">
            <a:noFill/>
          </a:ln>
        </p:spPr>
      </p:sp>
      <p:sp>
        <p:nvSpPr>
          <p:cNvPr id="914" name="TextShape 12"/>
          <p:cNvSpPr txBox="1"/>
          <p:nvPr/>
        </p:nvSpPr>
        <p:spPr>
          <a:xfrm>
            <a:off x="183600" y="160560"/>
            <a:ext cx="493560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262626"/>
                </a:solidFill>
                <a:latin typeface="MeiryoUI"/>
              </a:rPr>
              <a:t>❶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【週間】サマリーシート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915" name="Freeform 13"/>
          <p:cNvSpPr/>
          <p:nvPr/>
        </p:nvSpPr>
        <p:spPr>
          <a:xfrm>
            <a:off x="1803600" y="1068480"/>
            <a:ext cx="4495680" cy="344880"/>
          </a:xfrm>
          <a:custGeom>
            <a:avLst/>
            <a:gdLst/>
            <a:ahLst/>
            <a:rect l="0" t="0" r="r" b="b"/>
            <a:pathLst>
              <a:path w="12488" h="958">
                <a:moveTo>
                  <a:pt x="12479" y="957"/>
                </a:moveTo>
                <a:lnTo>
                  <a:pt x="370" y="295"/>
                </a:lnTo>
                <a:lnTo>
                  <a:pt x="378" y="146"/>
                </a:lnTo>
                <a:lnTo>
                  <a:pt x="12487" y="807"/>
                </a:lnTo>
                <a:lnTo>
                  <a:pt x="12479" y="957"/>
                </a:lnTo>
                <a:moveTo>
                  <a:pt x="436" y="450"/>
                </a:moveTo>
                <a:lnTo>
                  <a:pt x="0" y="200"/>
                </a:lnTo>
                <a:lnTo>
                  <a:pt x="461" y="0"/>
                </a:lnTo>
                <a:lnTo>
                  <a:pt x="436" y="450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pic>
        <p:nvPicPr>
          <p:cNvPr id="916" name="" descr=""/>
          <p:cNvPicPr/>
          <p:nvPr/>
        </p:nvPicPr>
        <p:blipFill>
          <a:blip r:embed="rId6"/>
          <a:stretch/>
        </p:blipFill>
        <p:spPr>
          <a:xfrm>
            <a:off x="6256080" y="1242000"/>
            <a:ext cx="3649680" cy="1660680"/>
          </a:xfrm>
          <a:prstGeom prst="rect">
            <a:avLst/>
          </a:prstGeom>
          <a:ln w="0">
            <a:noFill/>
          </a:ln>
        </p:spPr>
      </p:pic>
      <p:pic>
        <p:nvPicPr>
          <p:cNvPr id="917" name="" descr=""/>
          <p:cNvPicPr/>
          <p:nvPr/>
        </p:nvPicPr>
        <p:blipFill>
          <a:blip r:embed="rId7"/>
          <a:stretch/>
        </p:blipFill>
        <p:spPr>
          <a:xfrm>
            <a:off x="713160" y="1010520"/>
            <a:ext cx="1191240" cy="333360"/>
          </a:xfrm>
          <a:prstGeom prst="rect">
            <a:avLst/>
          </a:prstGeom>
          <a:ln w="0">
            <a:noFill/>
          </a:ln>
        </p:spPr>
      </p:pic>
      <p:sp>
        <p:nvSpPr>
          <p:cNvPr id="918" name="Freeform 14"/>
          <p:cNvSpPr/>
          <p:nvPr/>
        </p:nvSpPr>
        <p:spPr>
          <a:xfrm>
            <a:off x="752040" y="1049040"/>
            <a:ext cx="1064520" cy="206640"/>
          </a:xfrm>
          <a:custGeom>
            <a:avLst/>
            <a:gdLst/>
            <a:ahLst/>
            <a:rect l="0" t="0" r="r" b="b"/>
            <a:pathLst>
              <a:path w="2957" h="574">
                <a:moveTo>
                  <a:pt x="0" y="573"/>
                </a:moveTo>
                <a:lnTo>
                  <a:pt x="2956" y="573"/>
                </a:lnTo>
                <a:lnTo>
                  <a:pt x="2956" y="0"/>
                </a:lnTo>
                <a:lnTo>
                  <a:pt x="0" y="0"/>
                </a:lnTo>
                <a:lnTo>
                  <a:pt x="0" y="573"/>
                </a:lnTo>
                <a:close/>
              </a:path>
            </a:pathLst>
          </a:custGeom>
          <a:noFill/>
          <a:ln w="25200">
            <a:solidFill>
              <a:srgbClr val="ff0000"/>
            </a:solidFill>
            <a:custDash>
              <a:ds d="301429" sp="100000"/>
            </a:custDash>
            <a:round/>
          </a:ln>
        </p:spPr>
      </p:sp>
      <p:sp>
        <p:nvSpPr>
          <p:cNvPr id="919" name="Line 15"/>
          <p:cNvSpPr/>
          <p:nvPr/>
        </p:nvSpPr>
        <p:spPr>
          <a:xfrm>
            <a:off x="6256440" y="2160000"/>
            <a:ext cx="1019880" cy="271080"/>
          </a:xfrm>
          <a:prstGeom prst="line">
            <a:avLst/>
          </a:prstGeom>
          <a:ln w="252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0" name="Line 16"/>
          <p:cNvSpPr/>
          <p:nvPr/>
        </p:nvSpPr>
        <p:spPr>
          <a:xfrm flipV="1">
            <a:off x="6256440" y="2169360"/>
            <a:ext cx="1046160" cy="287640"/>
          </a:xfrm>
          <a:prstGeom prst="line">
            <a:avLst/>
          </a:prstGeom>
          <a:ln w="252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1" name="Line 17"/>
          <p:cNvSpPr/>
          <p:nvPr/>
        </p:nvSpPr>
        <p:spPr>
          <a:xfrm>
            <a:off x="6294600" y="2531880"/>
            <a:ext cx="1019880" cy="271080"/>
          </a:xfrm>
          <a:prstGeom prst="line">
            <a:avLst/>
          </a:prstGeom>
          <a:ln w="252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2" name="Line 18"/>
          <p:cNvSpPr/>
          <p:nvPr/>
        </p:nvSpPr>
        <p:spPr>
          <a:xfrm flipV="1">
            <a:off x="6294600" y="2541240"/>
            <a:ext cx="1046160" cy="287640"/>
          </a:xfrm>
          <a:prstGeom prst="line">
            <a:avLst/>
          </a:prstGeom>
          <a:ln w="252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923" name="" descr=""/>
          <p:cNvPicPr/>
          <p:nvPr/>
        </p:nvPicPr>
        <p:blipFill>
          <a:blip r:embed="rId8"/>
          <a:stretch/>
        </p:blipFill>
        <p:spPr>
          <a:xfrm>
            <a:off x="6256080" y="3383280"/>
            <a:ext cx="5318280" cy="2939400"/>
          </a:xfrm>
          <a:prstGeom prst="rect">
            <a:avLst/>
          </a:prstGeom>
          <a:ln w="0">
            <a:noFill/>
          </a:ln>
        </p:spPr>
      </p:pic>
      <p:sp>
        <p:nvSpPr>
          <p:cNvPr id="924" name="Freeform 19"/>
          <p:cNvSpPr/>
          <p:nvPr/>
        </p:nvSpPr>
        <p:spPr>
          <a:xfrm>
            <a:off x="6286320" y="2988360"/>
            <a:ext cx="4598640" cy="432000"/>
          </a:xfrm>
          <a:custGeom>
            <a:avLst/>
            <a:gdLst/>
            <a:ahLst/>
            <a:rect l="0" t="0" r="r" b="b"/>
            <a:pathLst>
              <a:path w="12774" h="1200">
                <a:moveTo>
                  <a:pt x="0" y="1199"/>
                </a:moveTo>
                <a:lnTo>
                  <a:pt x="12773" y="1199"/>
                </a:lnTo>
                <a:lnTo>
                  <a:pt x="12773" y="0"/>
                </a:lnTo>
                <a:lnTo>
                  <a:pt x="0" y="0"/>
                </a:lnTo>
                <a:lnTo>
                  <a:pt x="0" y="1199"/>
                </a:lnTo>
                <a:close/>
              </a:path>
            </a:pathLst>
          </a:custGeom>
          <a:solidFill>
            <a:srgbClr val="c6d9f1">
              <a:alpha val="80000"/>
            </a:srgbClr>
          </a:solidFill>
          <a:ln w="0">
            <a:noFill/>
          </a:ln>
        </p:spPr>
      </p:sp>
      <p:sp>
        <p:nvSpPr>
          <p:cNvPr id="925" name="TextShape 20"/>
          <p:cNvSpPr txBox="1"/>
          <p:nvPr/>
        </p:nvSpPr>
        <p:spPr>
          <a:xfrm>
            <a:off x="6348960" y="823680"/>
            <a:ext cx="376236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400" spc="-1" strike="noStrike">
                <a:solidFill>
                  <a:srgbClr val="262626"/>
                </a:solidFill>
                <a:latin typeface="MeiryoUI"/>
              </a:rPr>
              <a:t>❶</a:t>
            </a:r>
            <a:r>
              <a:rPr b="1" lang="en-US" sz="2400" spc="-1" strike="noStrike">
                <a:solidFill>
                  <a:srgbClr val="262626"/>
                </a:solidFill>
                <a:latin typeface="Meiryo UI"/>
              </a:rPr>
              <a:t>6</a:t>
            </a:r>
            <a:r>
              <a:rPr b="1" lang="zh-CN" sz="2400" spc="-1" strike="noStrike">
                <a:solidFill>
                  <a:srgbClr val="262626"/>
                </a:solidFill>
                <a:latin typeface="MeiryoUI"/>
              </a:rPr>
              <a:t>週･直近週平均</a:t>
            </a:r>
            <a:r>
              <a:rPr b="1" lang="en-US" sz="2400" spc="-1" strike="noStrike">
                <a:solidFill>
                  <a:srgbClr val="262626"/>
                </a:solidFill>
                <a:latin typeface="Meiryo UI"/>
              </a:rPr>
              <a:t> </a:t>
            </a:r>
            <a:r>
              <a:rPr b="1" lang="zh-CN" sz="2400" spc="-1" strike="noStrike">
                <a:solidFill>
                  <a:srgbClr val="262626"/>
                </a:solidFill>
                <a:latin typeface="MeiryoUI"/>
              </a:rPr>
              <a:t>廃止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926" name="Line 21"/>
          <p:cNvSpPr/>
          <p:nvPr/>
        </p:nvSpPr>
        <p:spPr>
          <a:xfrm>
            <a:off x="6291720" y="3513240"/>
            <a:ext cx="5318640" cy="2810520"/>
          </a:xfrm>
          <a:prstGeom prst="line">
            <a:avLst/>
          </a:prstGeom>
          <a:ln w="252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7" name="Line 22"/>
          <p:cNvSpPr/>
          <p:nvPr/>
        </p:nvSpPr>
        <p:spPr>
          <a:xfrm flipV="1">
            <a:off x="6294600" y="3513240"/>
            <a:ext cx="5162040" cy="2810520"/>
          </a:xfrm>
          <a:prstGeom prst="line">
            <a:avLst/>
          </a:prstGeom>
          <a:ln w="252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8" name="TextShape 23"/>
          <p:cNvSpPr txBox="1"/>
          <p:nvPr/>
        </p:nvSpPr>
        <p:spPr>
          <a:xfrm>
            <a:off x="6378120" y="3018600"/>
            <a:ext cx="489312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400" spc="-1" strike="noStrike">
                <a:solidFill>
                  <a:srgbClr val="262626"/>
                </a:solidFill>
                <a:latin typeface="MeiryoUI"/>
              </a:rPr>
              <a:t>❷</a:t>
            </a:r>
            <a:r>
              <a:rPr b="1" lang="zh-CN" sz="2400" spc="-1" strike="noStrike">
                <a:solidFill>
                  <a:srgbClr val="262626"/>
                </a:solidFill>
                <a:latin typeface="MeiryoUI"/>
              </a:rPr>
              <a:t>カウンター</a:t>
            </a:r>
            <a:r>
              <a:rPr b="1" lang="en-US" sz="2400" spc="-1" strike="noStrike">
                <a:solidFill>
                  <a:srgbClr val="262626"/>
                </a:solidFill>
                <a:latin typeface="Meiryo UI"/>
              </a:rPr>
              <a:t>FF</a:t>
            </a:r>
            <a:r>
              <a:rPr b="1" lang="zh-CN" sz="2400" spc="-1" strike="noStrike">
                <a:solidFill>
                  <a:srgbClr val="262626"/>
                </a:solidFill>
                <a:latin typeface="MeiryoUI"/>
              </a:rPr>
              <a:t>･品揃え</a:t>
            </a:r>
            <a:r>
              <a:rPr b="1" lang="en-US" sz="2400" spc="-1" strike="noStrike">
                <a:solidFill>
                  <a:srgbClr val="262626"/>
                </a:solidFill>
                <a:latin typeface="Meiryo UI"/>
              </a:rPr>
              <a:t> </a:t>
            </a:r>
            <a:r>
              <a:rPr b="1" lang="zh-CN" sz="2400" spc="-1" strike="noStrike">
                <a:solidFill>
                  <a:srgbClr val="262626"/>
                </a:solidFill>
                <a:latin typeface="MeiryoUI"/>
              </a:rPr>
              <a:t>廃止</a:t>
            </a:r>
            <a:endParaRPr b="0" lang="en-US" sz="24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Freeform 1"/>
          <p:cNvSpPr/>
          <p:nvPr/>
        </p:nvSpPr>
        <p:spPr>
          <a:xfrm>
            <a:off x="0" y="-360"/>
            <a:ext cx="12192480" cy="6858720"/>
          </a:xfrm>
          <a:custGeom>
            <a:avLst/>
            <a:gdLst/>
            <a:ahLst/>
            <a:rect l="0" t="0" r="r" b="b"/>
            <a:pathLst>
              <a:path w="33868" h="19052">
                <a:moveTo>
                  <a:pt x="0" y="19051"/>
                </a:moveTo>
                <a:lnTo>
                  <a:pt x="33867" y="19051"/>
                </a:lnTo>
                <a:lnTo>
                  <a:pt x="33867" y="0"/>
                </a:lnTo>
                <a:lnTo>
                  <a:pt x="0" y="0"/>
                </a:lnTo>
                <a:lnTo>
                  <a:pt x="0" y="190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pic>
        <p:nvPicPr>
          <p:cNvPr id="930" name="" descr=""/>
          <p:cNvPicPr/>
          <p:nvPr/>
        </p:nvPicPr>
        <p:blipFill>
          <a:blip r:embed="rId1"/>
          <a:stretch/>
        </p:blipFill>
        <p:spPr>
          <a:xfrm>
            <a:off x="175320" y="586800"/>
            <a:ext cx="11841120" cy="209880"/>
          </a:xfrm>
          <a:prstGeom prst="rect">
            <a:avLst/>
          </a:prstGeom>
          <a:ln w="0">
            <a:noFill/>
          </a:ln>
        </p:spPr>
      </p:pic>
      <p:pic>
        <p:nvPicPr>
          <p:cNvPr id="931" name="" descr=""/>
          <p:cNvPicPr/>
          <p:nvPr/>
        </p:nvPicPr>
        <p:blipFill>
          <a:blip r:embed="rId2"/>
          <a:stretch/>
        </p:blipFill>
        <p:spPr>
          <a:xfrm>
            <a:off x="5122080" y="6681240"/>
            <a:ext cx="1947240" cy="115560"/>
          </a:xfrm>
          <a:prstGeom prst="rect">
            <a:avLst/>
          </a:prstGeom>
          <a:ln w="0">
            <a:noFill/>
          </a:ln>
        </p:spPr>
      </p:pic>
      <p:sp>
        <p:nvSpPr>
          <p:cNvPr id="932" name="Freeform 2"/>
          <p:cNvSpPr/>
          <p:nvPr/>
        </p:nvSpPr>
        <p:spPr>
          <a:xfrm>
            <a:off x="151560" y="6209280"/>
            <a:ext cx="1620720" cy="360360"/>
          </a:xfrm>
          <a:custGeom>
            <a:avLst/>
            <a:gdLst/>
            <a:ahLst/>
            <a:rect l="0" t="0" r="r" b="b"/>
            <a:pathLst>
              <a:path w="4502" h="1001">
                <a:moveTo>
                  <a:pt x="0" y="1000"/>
                </a:moveTo>
                <a:lnTo>
                  <a:pt x="4501" y="1000"/>
                </a:lnTo>
                <a:lnTo>
                  <a:pt x="4501" y="0"/>
                </a:lnTo>
                <a:lnTo>
                  <a:pt x="0" y="0"/>
                </a:lnTo>
                <a:lnTo>
                  <a:pt x="0" y="1000"/>
                </a:lnTo>
                <a:close/>
              </a:path>
            </a:pathLst>
          </a:custGeom>
          <a:solidFill>
            <a:srgbClr val="ffffff"/>
          </a:solidFill>
          <a:ln w="31680">
            <a:solidFill>
              <a:srgbClr val="ff0000"/>
            </a:solidFill>
            <a:round/>
          </a:ln>
        </p:spPr>
      </p:sp>
      <p:sp>
        <p:nvSpPr>
          <p:cNvPr id="933" name="TextShape 3"/>
          <p:cNvSpPr txBox="1"/>
          <p:nvPr/>
        </p:nvSpPr>
        <p:spPr>
          <a:xfrm>
            <a:off x="555840" y="627012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ff0000"/>
                </a:solidFill>
                <a:latin typeface="Meiryo"/>
              </a:rPr>
              <a:t>社内限り</a:t>
            </a:r>
            <a:endParaRPr b="0" lang="en-US" sz="1400" spc="-1" strike="noStrike">
              <a:latin typeface="Times New Roman"/>
            </a:endParaRPr>
          </a:p>
        </p:txBody>
      </p:sp>
      <p:pic>
        <p:nvPicPr>
          <p:cNvPr id="934" name="" descr=""/>
          <p:cNvPicPr/>
          <p:nvPr/>
        </p:nvPicPr>
        <p:blipFill>
          <a:blip r:embed="rId3"/>
          <a:stretch/>
        </p:blipFill>
        <p:spPr>
          <a:xfrm>
            <a:off x="11428560" y="149400"/>
            <a:ext cx="411120" cy="432360"/>
          </a:xfrm>
          <a:prstGeom prst="rect">
            <a:avLst/>
          </a:prstGeom>
          <a:ln w="0">
            <a:noFill/>
          </a:ln>
        </p:spPr>
      </p:pic>
      <p:sp>
        <p:nvSpPr>
          <p:cNvPr id="935" name="Freeform 4"/>
          <p:cNvSpPr/>
          <p:nvPr/>
        </p:nvSpPr>
        <p:spPr>
          <a:xfrm>
            <a:off x="9806040" y="204840"/>
            <a:ext cx="1497240" cy="361800"/>
          </a:xfrm>
          <a:custGeom>
            <a:avLst/>
            <a:gdLst/>
            <a:ahLst/>
            <a:rect l="0" t="0" r="r" b="b"/>
            <a:pathLst>
              <a:path w="4159" h="1005">
                <a:moveTo>
                  <a:pt x="0" y="1004"/>
                </a:moveTo>
                <a:lnTo>
                  <a:pt x="4158" y="1004"/>
                </a:lnTo>
                <a:lnTo>
                  <a:pt x="4158" y="0"/>
                </a:lnTo>
                <a:lnTo>
                  <a:pt x="0" y="0"/>
                </a:lnTo>
                <a:lnTo>
                  <a:pt x="0" y="1004"/>
                </a:lnTo>
                <a:close/>
              </a:path>
            </a:pathLst>
          </a:custGeom>
          <a:solidFill>
            <a:srgbClr val="ffffff"/>
          </a:solidFill>
          <a:ln w="18720">
            <a:solidFill>
              <a:srgbClr val="ff0000"/>
            </a:solidFill>
            <a:round/>
          </a:ln>
        </p:spPr>
      </p:sp>
      <p:sp>
        <p:nvSpPr>
          <p:cNvPr id="936" name="TextShape 5"/>
          <p:cNvSpPr txBox="1"/>
          <p:nvPr/>
        </p:nvSpPr>
        <p:spPr>
          <a:xfrm>
            <a:off x="9143280" y="6356520"/>
            <a:ext cx="23598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明日の笑顔を</a:t>
            </a:r>
            <a:r>
              <a:rPr b="0" lang="en-US" sz="1600" spc="-1" strike="noStrike">
                <a:solidFill>
                  <a:srgbClr val="000000"/>
                </a:solidFill>
                <a:latin typeface="UD Digi Kyokasho NPR"/>
              </a:rPr>
              <a:t> </a:t>
            </a:r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共に創る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937" name="TextShape 6"/>
          <p:cNvSpPr txBox="1"/>
          <p:nvPr/>
        </p:nvSpPr>
        <p:spPr>
          <a:xfrm>
            <a:off x="10151280" y="262800"/>
            <a:ext cx="48240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0000"/>
                </a:solidFill>
                <a:latin typeface="Meiryo"/>
              </a:rPr>
              <a:t>秘</a:t>
            </a:r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（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938" name="TextShape 7"/>
          <p:cNvSpPr txBox="1"/>
          <p:nvPr/>
        </p:nvSpPr>
        <p:spPr>
          <a:xfrm>
            <a:off x="10671120" y="391320"/>
            <a:ext cx="10188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700" spc="-1" strike="noStrike">
                <a:solidFill>
                  <a:srgbClr val="ff0000"/>
                </a:solidFill>
                <a:latin typeface="Meiryo"/>
              </a:rPr>
              <a:t> </a:t>
            </a:r>
            <a:endParaRPr b="0" lang="en-US" sz="700" spc="-1" strike="noStrike">
              <a:latin typeface="Times New Roman"/>
            </a:endParaRPr>
          </a:p>
        </p:txBody>
      </p:sp>
      <p:sp>
        <p:nvSpPr>
          <p:cNvPr id="939" name="TextShape 8"/>
          <p:cNvSpPr txBox="1"/>
          <p:nvPr/>
        </p:nvSpPr>
        <p:spPr>
          <a:xfrm>
            <a:off x="10707480" y="249840"/>
            <a:ext cx="2541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0000"/>
                </a:solidFill>
                <a:latin typeface="Meiryo"/>
              </a:rPr>
              <a:t>B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940" name="TextShape 9"/>
          <p:cNvSpPr txBox="1"/>
          <p:nvPr/>
        </p:nvSpPr>
        <p:spPr>
          <a:xfrm>
            <a:off x="10925640" y="262800"/>
            <a:ext cx="24156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）</a:t>
            </a:r>
            <a:endParaRPr b="0" lang="en-US" sz="1600" spc="-1" strike="noStrike">
              <a:latin typeface="Times New Roman"/>
            </a:endParaRPr>
          </a:p>
        </p:txBody>
      </p:sp>
      <p:pic>
        <p:nvPicPr>
          <p:cNvPr id="941" name="" descr=""/>
          <p:cNvPicPr/>
          <p:nvPr/>
        </p:nvPicPr>
        <p:blipFill>
          <a:blip r:embed="rId4"/>
          <a:stretch/>
        </p:blipFill>
        <p:spPr>
          <a:xfrm>
            <a:off x="4960800" y="6669000"/>
            <a:ext cx="2221560" cy="121680"/>
          </a:xfrm>
          <a:prstGeom prst="rect">
            <a:avLst/>
          </a:prstGeom>
          <a:ln w="0">
            <a:noFill/>
          </a:ln>
        </p:spPr>
      </p:pic>
      <p:sp>
        <p:nvSpPr>
          <p:cNvPr id="942" name="TextShape 10"/>
          <p:cNvSpPr txBox="1"/>
          <p:nvPr/>
        </p:nvSpPr>
        <p:spPr>
          <a:xfrm>
            <a:off x="8179200" y="303480"/>
            <a:ext cx="15246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100" spc="-1" strike="noStrike">
                <a:solidFill>
                  <a:srgbClr val="000000"/>
                </a:solidFill>
                <a:latin typeface="Meiryo"/>
              </a:rPr>
              <a:t>フィールドサポート部</a:t>
            </a:r>
            <a:endParaRPr b="0" lang="en-US" sz="1100" spc="-1" strike="noStrike">
              <a:latin typeface="Times New Roman"/>
            </a:endParaRPr>
          </a:p>
        </p:txBody>
      </p:sp>
      <p:pic>
        <p:nvPicPr>
          <p:cNvPr id="943" name="" descr=""/>
          <p:cNvPicPr/>
          <p:nvPr/>
        </p:nvPicPr>
        <p:blipFill>
          <a:blip r:embed="rId5"/>
          <a:stretch/>
        </p:blipFill>
        <p:spPr>
          <a:xfrm>
            <a:off x="255960" y="794160"/>
            <a:ext cx="5752800" cy="3180240"/>
          </a:xfrm>
          <a:prstGeom prst="rect">
            <a:avLst/>
          </a:prstGeom>
          <a:ln w="0">
            <a:noFill/>
          </a:ln>
        </p:spPr>
      </p:pic>
      <p:sp>
        <p:nvSpPr>
          <p:cNvPr id="944" name="Freeform 11"/>
          <p:cNvSpPr/>
          <p:nvPr/>
        </p:nvSpPr>
        <p:spPr>
          <a:xfrm>
            <a:off x="6255720" y="793800"/>
            <a:ext cx="4600440" cy="432000"/>
          </a:xfrm>
          <a:custGeom>
            <a:avLst/>
            <a:gdLst/>
            <a:ahLst/>
            <a:rect l="0" t="0" r="r" b="b"/>
            <a:pathLst>
              <a:path w="12779" h="1200">
                <a:moveTo>
                  <a:pt x="0" y="1199"/>
                </a:moveTo>
                <a:lnTo>
                  <a:pt x="12778" y="1199"/>
                </a:lnTo>
                <a:lnTo>
                  <a:pt x="12778" y="0"/>
                </a:lnTo>
                <a:lnTo>
                  <a:pt x="0" y="0"/>
                </a:lnTo>
                <a:lnTo>
                  <a:pt x="0" y="1199"/>
                </a:lnTo>
                <a:close/>
              </a:path>
            </a:pathLst>
          </a:custGeom>
          <a:solidFill>
            <a:srgbClr val="c6d9f1">
              <a:alpha val="80000"/>
            </a:srgbClr>
          </a:solidFill>
          <a:ln w="0">
            <a:noFill/>
          </a:ln>
        </p:spPr>
      </p:sp>
      <p:sp>
        <p:nvSpPr>
          <p:cNvPr id="945" name="TextShape 12"/>
          <p:cNvSpPr txBox="1"/>
          <p:nvPr/>
        </p:nvSpPr>
        <p:spPr>
          <a:xfrm>
            <a:off x="183600" y="160560"/>
            <a:ext cx="493560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262626"/>
                </a:solidFill>
                <a:latin typeface="MeiryoUI"/>
              </a:rPr>
              <a:t>❶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【週間】サマリーシート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946" name="Freeform 13"/>
          <p:cNvSpPr/>
          <p:nvPr/>
        </p:nvSpPr>
        <p:spPr>
          <a:xfrm>
            <a:off x="6255720" y="3579840"/>
            <a:ext cx="4600440" cy="430200"/>
          </a:xfrm>
          <a:custGeom>
            <a:avLst/>
            <a:gdLst/>
            <a:ahLst/>
            <a:rect l="0" t="0" r="r" b="b"/>
            <a:pathLst>
              <a:path w="12779" h="1195">
                <a:moveTo>
                  <a:pt x="0" y="1194"/>
                </a:moveTo>
                <a:lnTo>
                  <a:pt x="12778" y="1194"/>
                </a:lnTo>
                <a:lnTo>
                  <a:pt x="12778" y="0"/>
                </a:lnTo>
                <a:lnTo>
                  <a:pt x="0" y="0"/>
                </a:lnTo>
                <a:lnTo>
                  <a:pt x="0" y="1194"/>
                </a:lnTo>
                <a:close/>
              </a:path>
            </a:pathLst>
          </a:custGeom>
          <a:solidFill>
            <a:srgbClr val="c6d9f1">
              <a:alpha val="80000"/>
            </a:srgbClr>
          </a:solidFill>
          <a:ln w="0">
            <a:noFill/>
          </a:ln>
        </p:spPr>
      </p:sp>
      <p:sp>
        <p:nvSpPr>
          <p:cNvPr id="947" name="TextShape 14"/>
          <p:cNvSpPr txBox="1"/>
          <p:nvPr/>
        </p:nvSpPr>
        <p:spPr>
          <a:xfrm>
            <a:off x="6348960" y="823680"/>
            <a:ext cx="466272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400" spc="-1" strike="noStrike">
                <a:solidFill>
                  <a:srgbClr val="262626"/>
                </a:solidFill>
                <a:latin typeface="MeiryoUI"/>
              </a:rPr>
              <a:t>❸</a:t>
            </a:r>
            <a:r>
              <a:rPr b="1" lang="zh-CN" sz="2400" spc="-1" strike="noStrike">
                <a:solidFill>
                  <a:srgbClr val="262626"/>
                </a:solidFill>
                <a:latin typeface="MeiryoUI"/>
              </a:rPr>
              <a:t>新たに「エコだ値」を追加</a:t>
            </a:r>
            <a:endParaRPr b="0" lang="en-US" sz="2400" spc="-1" strike="noStrike">
              <a:latin typeface="Times New Roman"/>
            </a:endParaRPr>
          </a:p>
        </p:txBody>
      </p:sp>
      <p:pic>
        <p:nvPicPr>
          <p:cNvPr id="948" name="" descr=""/>
          <p:cNvPicPr/>
          <p:nvPr/>
        </p:nvPicPr>
        <p:blipFill>
          <a:blip r:embed="rId6"/>
          <a:stretch/>
        </p:blipFill>
        <p:spPr>
          <a:xfrm>
            <a:off x="6183000" y="1374480"/>
            <a:ext cx="5771160" cy="1068120"/>
          </a:xfrm>
          <a:prstGeom prst="rect">
            <a:avLst/>
          </a:prstGeom>
          <a:ln w="0">
            <a:noFill/>
          </a:ln>
        </p:spPr>
      </p:pic>
      <p:sp>
        <p:nvSpPr>
          <p:cNvPr id="949" name="Freeform 15"/>
          <p:cNvSpPr/>
          <p:nvPr/>
        </p:nvSpPr>
        <p:spPr>
          <a:xfrm>
            <a:off x="6711480" y="2633400"/>
            <a:ext cx="1300680" cy="847800"/>
          </a:xfrm>
          <a:custGeom>
            <a:avLst/>
            <a:gdLst/>
            <a:ahLst/>
            <a:rect l="0" t="0" r="r" b="b"/>
            <a:pathLst>
              <a:path w="3613" h="2355">
                <a:moveTo>
                  <a:pt x="0" y="2354"/>
                </a:moveTo>
                <a:lnTo>
                  <a:pt x="3612" y="2354"/>
                </a:lnTo>
                <a:lnTo>
                  <a:pt x="3612" y="0"/>
                </a:lnTo>
                <a:lnTo>
                  <a:pt x="0" y="0"/>
                </a:lnTo>
                <a:lnTo>
                  <a:pt x="0" y="2354"/>
                </a:lnTo>
                <a:close/>
              </a:path>
            </a:pathLst>
          </a:custGeom>
          <a:solidFill>
            <a:srgbClr val="002060">
              <a:alpha val="98000"/>
            </a:srgbClr>
          </a:solidFill>
          <a:ln w="0">
            <a:noFill/>
          </a:ln>
        </p:spPr>
      </p:sp>
      <p:sp>
        <p:nvSpPr>
          <p:cNvPr id="950" name="TextShape 16"/>
          <p:cNvSpPr txBox="1"/>
          <p:nvPr/>
        </p:nvSpPr>
        <p:spPr>
          <a:xfrm>
            <a:off x="6348960" y="3609000"/>
            <a:ext cx="519624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400" spc="-1" strike="noStrike">
                <a:solidFill>
                  <a:srgbClr val="262626"/>
                </a:solidFill>
                <a:latin typeface="MeiryoUI"/>
              </a:rPr>
              <a:t>❹</a:t>
            </a:r>
            <a:r>
              <a:rPr b="1" lang="zh-CN" sz="2400" spc="-1" strike="noStrike">
                <a:solidFill>
                  <a:srgbClr val="262626"/>
                </a:solidFill>
                <a:latin typeface="MeiryoUI"/>
              </a:rPr>
              <a:t>キャッシュレス･アプリを集約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951" name="TextShape 17"/>
          <p:cNvSpPr txBox="1"/>
          <p:nvPr/>
        </p:nvSpPr>
        <p:spPr>
          <a:xfrm>
            <a:off x="7048440" y="2771280"/>
            <a:ext cx="70884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ffff"/>
                </a:solidFill>
                <a:latin typeface="Meiryo UI"/>
              </a:rPr>
              <a:t>GP</a:t>
            </a:r>
            <a:r>
              <a:rPr b="1" lang="zh-CN" sz="1800" spc="-1" strike="noStrike">
                <a:solidFill>
                  <a:srgbClr val="ffffff"/>
                </a:solidFill>
                <a:latin typeface="MeiryoUI"/>
              </a:rPr>
              <a:t>％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952" name="Freeform 18"/>
          <p:cNvSpPr/>
          <p:nvPr/>
        </p:nvSpPr>
        <p:spPr>
          <a:xfrm>
            <a:off x="7350480" y="2404080"/>
            <a:ext cx="663120" cy="369720"/>
          </a:xfrm>
          <a:custGeom>
            <a:avLst/>
            <a:gdLst/>
            <a:ahLst/>
            <a:rect l="0" t="0" r="r" b="b"/>
            <a:pathLst>
              <a:path w="1842" h="1027">
                <a:moveTo>
                  <a:pt x="70" y="1026"/>
                </a:moveTo>
                <a:lnTo>
                  <a:pt x="1545" y="242"/>
                </a:lnTo>
                <a:lnTo>
                  <a:pt x="1475" y="109"/>
                </a:lnTo>
                <a:lnTo>
                  <a:pt x="0" y="893"/>
                </a:lnTo>
                <a:lnTo>
                  <a:pt x="70" y="1026"/>
                </a:lnTo>
                <a:moveTo>
                  <a:pt x="1550" y="409"/>
                </a:moveTo>
                <a:lnTo>
                  <a:pt x="1841" y="0"/>
                </a:lnTo>
                <a:lnTo>
                  <a:pt x="1339" y="12"/>
                </a:lnTo>
                <a:lnTo>
                  <a:pt x="1550" y="409"/>
                </a:lnTo>
                <a:close/>
              </a:path>
            </a:pathLst>
          </a:custGeom>
          <a:solidFill>
            <a:srgbClr val="002060"/>
          </a:solidFill>
          <a:ln w="0">
            <a:noFill/>
          </a:ln>
        </p:spPr>
      </p:sp>
      <p:sp>
        <p:nvSpPr>
          <p:cNvPr id="953" name="Freeform 19"/>
          <p:cNvSpPr/>
          <p:nvPr/>
        </p:nvSpPr>
        <p:spPr>
          <a:xfrm>
            <a:off x="10791360" y="2633400"/>
            <a:ext cx="1300680" cy="847800"/>
          </a:xfrm>
          <a:custGeom>
            <a:avLst/>
            <a:gdLst/>
            <a:ahLst/>
            <a:rect l="0" t="0" r="r" b="b"/>
            <a:pathLst>
              <a:path w="3613" h="2355">
                <a:moveTo>
                  <a:pt x="0" y="2354"/>
                </a:moveTo>
                <a:lnTo>
                  <a:pt x="3612" y="2354"/>
                </a:lnTo>
                <a:lnTo>
                  <a:pt x="3612" y="0"/>
                </a:lnTo>
                <a:lnTo>
                  <a:pt x="0" y="0"/>
                </a:lnTo>
                <a:lnTo>
                  <a:pt x="0" y="2354"/>
                </a:lnTo>
                <a:close/>
              </a:path>
            </a:pathLst>
          </a:custGeom>
          <a:solidFill>
            <a:srgbClr val="002060">
              <a:alpha val="98000"/>
            </a:srgbClr>
          </a:solidFill>
          <a:ln w="0">
            <a:noFill/>
          </a:ln>
        </p:spPr>
      </p:sp>
      <p:sp>
        <p:nvSpPr>
          <p:cNvPr id="954" name="TextShape 20"/>
          <p:cNvSpPr txBox="1"/>
          <p:nvPr/>
        </p:nvSpPr>
        <p:spPr>
          <a:xfrm>
            <a:off x="6853320" y="3075840"/>
            <a:ext cx="101880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ffffff"/>
                </a:solidFill>
                <a:latin typeface="MeiryoUI"/>
              </a:rPr>
              <a:t>前年比較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955" name="TextShape 21"/>
          <p:cNvSpPr txBox="1"/>
          <p:nvPr/>
        </p:nvSpPr>
        <p:spPr>
          <a:xfrm>
            <a:off x="11060640" y="2771280"/>
            <a:ext cx="76428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ffffff"/>
                </a:solidFill>
                <a:latin typeface="MeiryoUI"/>
              </a:rPr>
              <a:t>廃棄額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956" name="Freeform 22"/>
          <p:cNvSpPr/>
          <p:nvPr/>
        </p:nvSpPr>
        <p:spPr>
          <a:xfrm>
            <a:off x="11419200" y="2404080"/>
            <a:ext cx="212760" cy="358920"/>
          </a:xfrm>
          <a:custGeom>
            <a:avLst/>
            <a:gdLst/>
            <a:ahLst/>
            <a:rect l="0" t="0" r="r" b="b"/>
            <a:pathLst>
              <a:path w="591" h="997">
                <a:moveTo>
                  <a:pt x="131" y="996"/>
                </a:moveTo>
                <a:lnTo>
                  <a:pt x="476" y="365"/>
                </a:lnTo>
                <a:lnTo>
                  <a:pt x="343" y="293"/>
                </a:lnTo>
                <a:lnTo>
                  <a:pt x="0" y="924"/>
                </a:lnTo>
                <a:lnTo>
                  <a:pt x="131" y="996"/>
                </a:lnTo>
                <a:moveTo>
                  <a:pt x="572" y="502"/>
                </a:moveTo>
                <a:lnTo>
                  <a:pt x="590" y="0"/>
                </a:lnTo>
                <a:lnTo>
                  <a:pt x="176" y="287"/>
                </a:lnTo>
                <a:lnTo>
                  <a:pt x="572" y="502"/>
                </a:lnTo>
                <a:close/>
              </a:path>
            </a:pathLst>
          </a:custGeom>
          <a:solidFill>
            <a:srgbClr val="002060"/>
          </a:solidFill>
          <a:ln w="0">
            <a:noFill/>
          </a:ln>
        </p:spPr>
      </p:sp>
      <p:sp>
        <p:nvSpPr>
          <p:cNvPr id="957" name="Freeform 23"/>
          <p:cNvSpPr/>
          <p:nvPr/>
        </p:nvSpPr>
        <p:spPr>
          <a:xfrm>
            <a:off x="9806760" y="2625840"/>
            <a:ext cx="927360" cy="846360"/>
          </a:xfrm>
          <a:custGeom>
            <a:avLst/>
            <a:gdLst/>
            <a:ahLst/>
            <a:rect l="0" t="0" r="r" b="b"/>
            <a:pathLst>
              <a:path w="2576" h="2351">
                <a:moveTo>
                  <a:pt x="0" y="2350"/>
                </a:moveTo>
                <a:lnTo>
                  <a:pt x="2575" y="2350"/>
                </a:lnTo>
                <a:lnTo>
                  <a:pt x="2575" y="0"/>
                </a:lnTo>
                <a:lnTo>
                  <a:pt x="0" y="0"/>
                </a:lnTo>
                <a:lnTo>
                  <a:pt x="0" y="2350"/>
                </a:lnTo>
                <a:close/>
              </a:path>
            </a:pathLst>
          </a:custGeom>
          <a:solidFill>
            <a:srgbClr val="002060">
              <a:alpha val="98000"/>
            </a:srgbClr>
          </a:solidFill>
          <a:ln w="0">
            <a:noFill/>
          </a:ln>
        </p:spPr>
      </p:sp>
      <p:sp>
        <p:nvSpPr>
          <p:cNvPr id="958" name="TextShape 24"/>
          <p:cNvSpPr txBox="1"/>
          <p:nvPr/>
        </p:nvSpPr>
        <p:spPr>
          <a:xfrm>
            <a:off x="10933920" y="3075840"/>
            <a:ext cx="101880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ffffff"/>
                </a:solidFill>
                <a:latin typeface="MeiryoUI"/>
              </a:rPr>
              <a:t>前年比較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959" name="TextShape 25"/>
          <p:cNvSpPr txBox="1"/>
          <p:nvPr/>
        </p:nvSpPr>
        <p:spPr>
          <a:xfrm>
            <a:off x="9919800" y="2763360"/>
            <a:ext cx="76428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ffffff"/>
                </a:solidFill>
                <a:latin typeface="MeiryoUI"/>
              </a:rPr>
              <a:t>値引き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960" name="Freeform 26"/>
          <p:cNvSpPr/>
          <p:nvPr/>
        </p:nvSpPr>
        <p:spPr>
          <a:xfrm>
            <a:off x="10072440" y="2404080"/>
            <a:ext cx="663120" cy="362160"/>
          </a:xfrm>
          <a:custGeom>
            <a:avLst/>
            <a:gdLst/>
            <a:ahLst/>
            <a:rect l="0" t="0" r="r" b="b"/>
            <a:pathLst>
              <a:path w="1842" h="1006">
                <a:moveTo>
                  <a:pt x="69" y="1005"/>
                </a:moveTo>
                <a:lnTo>
                  <a:pt x="1543" y="239"/>
                </a:lnTo>
                <a:lnTo>
                  <a:pt x="1474" y="106"/>
                </a:lnTo>
                <a:lnTo>
                  <a:pt x="0" y="872"/>
                </a:lnTo>
                <a:lnTo>
                  <a:pt x="69" y="1005"/>
                </a:lnTo>
                <a:moveTo>
                  <a:pt x="1545" y="406"/>
                </a:moveTo>
                <a:lnTo>
                  <a:pt x="1841" y="0"/>
                </a:lnTo>
                <a:lnTo>
                  <a:pt x="1338" y="7"/>
                </a:lnTo>
                <a:lnTo>
                  <a:pt x="1545" y="406"/>
                </a:lnTo>
                <a:close/>
              </a:path>
            </a:pathLst>
          </a:custGeom>
          <a:solidFill>
            <a:srgbClr val="002060"/>
          </a:solidFill>
          <a:ln w="0">
            <a:noFill/>
          </a:ln>
        </p:spPr>
      </p:sp>
      <p:sp>
        <p:nvSpPr>
          <p:cNvPr id="961" name="Freeform 27"/>
          <p:cNvSpPr/>
          <p:nvPr/>
        </p:nvSpPr>
        <p:spPr>
          <a:xfrm>
            <a:off x="8072280" y="2628720"/>
            <a:ext cx="1677240" cy="846720"/>
          </a:xfrm>
          <a:custGeom>
            <a:avLst/>
            <a:gdLst/>
            <a:ahLst/>
            <a:rect l="0" t="0" r="r" b="b"/>
            <a:pathLst>
              <a:path w="4659" h="2352">
                <a:moveTo>
                  <a:pt x="0" y="2351"/>
                </a:moveTo>
                <a:lnTo>
                  <a:pt x="4658" y="2351"/>
                </a:lnTo>
                <a:lnTo>
                  <a:pt x="4658" y="0"/>
                </a:lnTo>
                <a:lnTo>
                  <a:pt x="0" y="0"/>
                </a:lnTo>
                <a:lnTo>
                  <a:pt x="0" y="2351"/>
                </a:lnTo>
                <a:close/>
              </a:path>
            </a:pathLst>
          </a:custGeom>
          <a:solidFill>
            <a:srgbClr val="002060">
              <a:alpha val="98000"/>
            </a:srgbClr>
          </a:solidFill>
          <a:ln w="0">
            <a:noFill/>
          </a:ln>
        </p:spPr>
      </p:sp>
      <p:sp>
        <p:nvSpPr>
          <p:cNvPr id="962" name="TextShape 28"/>
          <p:cNvSpPr txBox="1"/>
          <p:nvPr/>
        </p:nvSpPr>
        <p:spPr>
          <a:xfrm>
            <a:off x="10017360" y="3067920"/>
            <a:ext cx="5097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ffffff"/>
                </a:solidFill>
                <a:latin typeface="MeiryoUI"/>
              </a:rPr>
              <a:t>確認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963" name="TextShape 29"/>
          <p:cNvSpPr txBox="1"/>
          <p:nvPr/>
        </p:nvSpPr>
        <p:spPr>
          <a:xfrm>
            <a:off x="8208720" y="2766600"/>
            <a:ext cx="152784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ffffff"/>
                </a:solidFill>
                <a:latin typeface="MeiryoUI"/>
              </a:rPr>
              <a:t>販売・前年比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964" name="Freeform 30"/>
          <p:cNvSpPr/>
          <p:nvPr/>
        </p:nvSpPr>
        <p:spPr>
          <a:xfrm>
            <a:off x="8642880" y="2406960"/>
            <a:ext cx="162720" cy="338040"/>
          </a:xfrm>
          <a:custGeom>
            <a:avLst/>
            <a:gdLst/>
            <a:ahLst/>
            <a:rect l="0" t="0" r="r" b="b"/>
            <a:pathLst>
              <a:path w="452" h="939">
                <a:moveTo>
                  <a:pt x="301" y="938"/>
                </a:moveTo>
                <a:lnTo>
                  <a:pt x="301" y="376"/>
                </a:lnTo>
                <a:lnTo>
                  <a:pt x="151" y="376"/>
                </a:lnTo>
                <a:lnTo>
                  <a:pt x="151" y="938"/>
                </a:lnTo>
                <a:lnTo>
                  <a:pt x="301" y="938"/>
                </a:lnTo>
                <a:moveTo>
                  <a:pt x="451" y="451"/>
                </a:moveTo>
                <a:lnTo>
                  <a:pt x="226" y="0"/>
                </a:lnTo>
                <a:lnTo>
                  <a:pt x="0" y="451"/>
                </a:lnTo>
                <a:lnTo>
                  <a:pt x="451" y="451"/>
                </a:lnTo>
                <a:close/>
              </a:path>
            </a:pathLst>
          </a:custGeom>
          <a:solidFill>
            <a:srgbClr val="002060"/>
          </a:solidFill>
          <a:ln w="0">
            <a:noFill/>
          </a:ln>
        </p:spPr>
      </p:sp>
      <p:sp>
        <p:nvSpPr>
          <p:cNvPr id="965" name="Freeform 31"/>
          <p:cNvSpPr/>
          <p:nvPr/>
        </p:nvSpPr>
        <p:spPr>
          <a:xfrm>
            <a:off x="9395640" y="2404080"/>
            <a:ext cx="162720" cy="338040"/>
          </a:xfrm>
          <a:custGeom>
            <a:avLst/>
            <a:gdLst/>
            <a:ahLst/>
            <a:rect l="0" t="0" r="r" b="b"/>
            <a:pathLst>
              <a:path w="452" h="939">
                <a:moveTo>
                  <a:pt x="301" y="938"/>
                </a:moveTo>
                <a:lnTo>
                  <a:pt x="301" y="375"/>
                </a:lnTo>
                <a:lnTo>
                  <a:pt x="150" y="375"/>
                </a:lnTo>
                <a:lnTo>
                  <a:pt x="150" y="938"/>
                </a:lnTo>
                <a:lnTo>
                  <a:pt x="301" y="938"/>
                </a:lnTo>
                <a:moveTo>
                  <a:pt x="451" y="450"/>
                </a:moveTo>
                <a:lnTo>
                  <a:pt x="226" y="0"/>
                </a:lnTo>
                <a:lnTo>
                  <a:pt x="0" y="450"/>
                </a:lnTo>
                <a:lnTo>
                  <a:pt x="451" y="450"/>
                </a:lnTo>
                <a:close/>
              </a:path>
            </a:pathLst>
          </a:custGeom>
          <a:solidFill>
            <a:srgbClr val="002060"/>
          </a:solidFill>
          <a:ln w="0">
            <a:noFill/>
          </a:ln>
        </p:spPr>
      </p:sp>
      <p:pic>
        <p:nvPicPr>
          <p:cNvPr id="966" name="" descr=""/>
          <p:cNvPicPr/>
          <p:nvPr/>
        </p:nvPicPr>
        <p:blipFill>
          <a:blip r:embed="rId7"/>
          <a:stretch/>
        </p:blipFill>
        <p:spPr>
          <a:xfrm>
            <a:off x="6256080" y="4146840"/>
            <a:ext cx="3827880" cy="1627200"/>
          </a:xfrm>
          <a:prstGeom prst="rect">
            <a:avLst/>
          </a:prstGeom>
          <a:ln w="0">
            <a:noFill/>
          </a:ln>
        </p:spPr>
      </p:pic>
      <p:pic>
        <p:nvPicPr>
          <p:cNvPr id="967" name="" descr=""/>
          <p:cNvPicPr/>
          <p:nvPr/>
        </p:nvPicPr>
        <p:blipFill>
          <a:blip r:embed="rId8"/>
          <a:stretch/>
        </p:blipFill>
        <p:spPr>
          <a:xfrm>
            <a:off x="165960" y="4146840"/>
            <a:ext cx="5868720" cy="1202040"/>
          </a:xfrm>
          <a:prstGeom prst="rect">
            <a:avLst/>
          </a:prstGeom>
          <a:ln w="0">
            <a:noFill/>
          </a:ln>
        </p:spPr>
      </p:pic>
      <p:sp>
        <p:nvSpPr>
          <p:cNvPr id="968" name="Freeform 32"/>
          <p:cNvSpPr/>
          <p:nvPr/>
        </p:nvSpPr>
        <p:spPr>
          <a:xfrm>
            <a:off x="3272760" y="1135440"/>
            <a:ext cx="2911320" cy="605880"/>
          </a:xfrm>
          <a:custGeom>
            <a:avLst/>
            <a:gdLst/>
            <a:ahLst/>
            <a:rect l="0" t="0" r="r" b="b"/>
            <a:pathLst>
              <a:path w="8087" h="1683">
                <a:moveTo>
                  <a:pt x="8059" y="1682"/>
                </a:moveTo>
                <a:lnTo>
                  <a:pt x="355" y="282"/>
                </a:lnTo>
                <a:lnTo>
                  <a:pt x="382" y="134"/>
                </a:lnTo>
                <a:lnTo>
                  <a:pt x="8086" y="1535"/>
                </a:lnTo>
                <a:lnTo>
                  <a:pt x="8059" y="1682"/>
                </a:lnTo>
                <a:moveTo>
                  <a:pt x="402" y="443"/>
                </a:moveTo>
                <a:lnTo>
                  <a:pt x="0" y="141"/>
                </a:lnTo>
                <a:lnTo>
                  <a:pt x="482" y="0"/>
                </a:lnTo>
                <a:lnTo>
                  <a:pt x="402" y="443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pic>
        <p:nvPicPr>
          <p:cNvPr id="969" name="" descr=""/>
          <p:cNvPicPr/>
          <p:nvPr/>
        </p:nvPicPr>
        <p:blipFill>
          <a:blip r:embed="rId9"/>
          <a:stretch/>
        </p:blipFill>
        <p:spPr>
          <a:xfrm>
            <a:off x="387000" y="868680"/>
            <a:ext cx="2916720" cy="680760"/>
          </a:xfrm>
          <a:prstGeom prst="rect">
            <a:avLst/>
          </a:prstGeom>
          <a:ln w="0">
            <a:noFill/>
          </a:ln>
        </p:spPr>
      </p:pic>
      <p:sp>
        <p:nvSpPr>
          <p:cNvPr id="970" name="Freeform 33"/>
          <p:cNvSpPr/>
          <p:nvPr/>
        </p:nvSpPr>
        <p:spPr>
          <a:xfrm>
            <a:off x="425880" y="907200"/>
            <a:ext cx="2789640" cy="554040"/>
          </a:xfrm>
          <a:custGeom>
            <a:avLst/>
            <a:gdLst/>
            <a:ahLst/>
            <a:rect l="0" t="0" r="r" b="b"/>
            <a:pathLst>
              <a:path w="7749" h="1539">
                <a:moveTo>
                  <a:pt x="0" y="1538"/>
                </a:moveTo>
                <a:lnTo>
                  <a:pt x="7748" y="1538"/>
                </a:lnTo>
                <a:lnTo>
                  <a:pt x="7748" y="0"/>
                </a:lnTo>
                <a:lnTo>
                  <a:pt x="0" y="0"/>
                </a:lnTo>
                <a:lnTo>
                  <a:pt x="0" y="1538"/>
                </a:lnTo>
                <a:close/>
              </a:path>
            </a:pathLst>
          </a:custGeom>
          <a:noFill/>
          <a:ln w="25200">
            <a:solidFill>
              <a:srgbClr val="ff0000"/>
            </a:solidFill>
            <a:custDash>
              <a:ds d="301429" sp="100000"/>
            </a:custDash>
            <a:round/>
          </a:ln>
        </p:spPr>
      </p:sp>
      <p:sp>
        <p:nvSpPr>
          <p:cNvPr id="971" name="Line 34"/>
          <p:cNvSpPr/>
          <p:nvPr/>
        </p:nvSpPr>
        <p:spPr>
          <a:xfrm>
            <a:off x="6418080" y="4147560"/>
            <a:ext cx="3666600" cy="1627920"/>
          </a:xfrm>
          <a:prstGeom prst="line">
            <a:avLst/>
          </a:prstGeom>
          <a:ln w="252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2" name="Line 35"/>
          <p:cNvSpPr/>
          <p:nvPr/>
        </p:nvSpPr>
        <p:spPr>
          <a:xfrm flipV="1">
            <a:off x="6418080" y="4147560"/>
            <a:ext cx="3666600" cy="1627920"/>
          </a:xfrm>
          <a:prstGeom prst="line">
            <a:avLst/>
          </a:prstGeom>
          <a:ln w="252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3" name="Freeform 36"/>
          <p:cNvSpPr/>
          <p:nvPr/>
        </p:nvSpPr>
        <p:spPr>
          <a:xfrm>
            <a:off x="10083960" y="4901040"/>
            <a:ext cx="1942560" cy="1009440"/>
          </a:xfrm>
          <a:custGeom>
            <a:avLst/>
            <a:gdLst/>
            <a:ahLst/>
            <a:rect l="0" t="0" r="r" b="b"/>
            <a:pathLst>
              <a:path w="5396" h="2804">
                <a:moveTo>
                  <a:pt x="0" y="2803"/>
                </a:moveTo>
                <a:lnTo>
                  <a:pt x="5395" y="2803"/>
                </a:lnTo>
                <a:lnTo>
                  <a:pt x="5395" y="0"/>
                </a:lnTo>
                <a:lnTo>
                  <a:pt x="0" y="0"/>
                </a:lnTo>
                <a:lnTo>
                  <a:pt x="0" y="2803"/>
                </a:lnTo>
                <a:close/>
              </a:path>
            </a:pathLst>
          </a:custGeom>
          <a:solidFill>
            <a:srgbClr val="c00000">
              <a:alpha val="75000"/>
            </a:srgbClr>
          </a:solidFill>
          <a:ln w="0">
            <a:noFill/>
          </a:ln>
        </p:spPr>
      </p:sp>
      <p:sp>
        <p:nvSpPr>
          <p:cNvPr id="974" name="TextShape 37"/>
          <p:cNvSpPr txBox="1"/>
          <p:nvPr/>
        </p:nvSpPr>
        <p:spPr>
          <a:xfrm>
            <a:off x="8541000" y="3071520"/>
            <a:ext cx="76428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ffffff"/>
                </a:solidFill>
                <a:latin typeface="MeiryoUI"/>
              </a:rPr>
              <a:t>の検証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975" name="TextShape 38"/>
          <p:cNvSpPr txBox="1"/>
          <p:nvPr/>
        </p:nvSpPr>
        <p:spPr>
          <a:xfrm>
            <a:off x="10384920" y="4948920"/>
            <a:ext cx="162828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ffffff"/>
                </a:solidFill>
                <a:latin typeface="MeiryoUI"/>
              </a:rPr>
              <a:t>クーポン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976" name="TextShape 39"/>
          <p:cNvSpPr txBox="1"/>
          <p:nvPr/>
        </p:nvSpPr>
        <p:spPr>
          <a:xfrm>
            <a:off x="10241640" y="5436720"/>
            <a:ext cx="162828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ffffff"/>
                </a:solidFill>
                <a:latin typeface="MeiryoUI"/>
              </a:rPr>
              <a:t>検証廃止</a:t>
            </a:r>
            <a:endParaRPr b="0" lang="en-US" sz="2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Freeform 1"/>
          <p:cNvSpPr/>
          <p:nvPr/>
        </p:nvSpPr>
        <p:spPr>
          <a:xfrm>
            <a:off x="0" y="-360"/>
            <a:ext cx="12192480" cy="6858720"/>
          </a:xfrm>
          <a:custGeom>
            <a:avLst/>
            <a:gdLst/>
            <a:ahLst/>
            <a:rect l="0" t="0" r="r" b="b"/>
            <a:pathLst>
              <a:path w="33868" h="19052">
                <a:moveTo>
                  <a:pt x="0" y="19051"/>
                </a:moveTo>
                <a:lnTo>
                  <a:pt x="33867" y="19051"/>
                </a:lnTo>
                <a:lnTo>
                  <a:pt x="33867" y="0"/>
                </a:lnTo>
                <a:lnTo>
                  <a:pt x="0" y="0"/>
                </a:lnTo>
                <a:lnTo>
                  <a:pt x="0" y="190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pic>
        <p:nvPicPr>
          <p:cNvPr id="978" name="" descr=""/>
          <p:cNvPicPr/>
          <p:nvPr/>
        </p:nvPicPr>
        <p:blipFill>
          <a:blip r:embed="rId1"/>
          <a:stretch/>
        </p:blipFill>
        <p:spPr>
          <a:xfrm>
            <a:off x="175320" y="586800"/>
            <a:ext cx="11841120" cy="209880"/>
          </a:xfrm>
          <a:prstGeom prst="rect">
            <a:avLst/>
          </a:prstGeom>
          <a:ln w="0">
            <a:noFill/>
          </a:ln>
        </p:spPr>
      </p:pic>
      <p:pic>
        <p:nvPicPr>
          <p:cNvPr id="979" name="" descr=""/>
          <p:cNvPicPr/>
          <p:nvPr/>
        </p:nvPicPr>
        <p:blipFill>
          <a:blip r:embed="rId2"/>
          <a:stretch/>
        </p:blipFill>
        <p:spPr>
          <a:xfrm>
            <a:off x="5122080" y="6681240"/>
            <a:ext cx="1947240" cy="115560"/>
          </a:xfrm>
          <a:prstGeom prst="rect">
            <a:avLst/>
          </a:prstGeom>
          <a:ln w="0">
            <a:noFill/>
          </a:ln>
        </p:spPr>
      </p:pic>
      <p:sp>
        <p:nvSpPr>
          <p:cNvPr id="980" name="Freeform 2"/>
          <p:cNvSpPr/>
          <p:nvPr/>
        </p:nvSpPr>
        <p:spPr>
          <a:xfrm>
            <a:off x="151560" y="6209280"/>
            <a:ext cx="1620720" cy="360360"/>
          </a:xfrm>
          <a:custGeom>
            <a:avLst/>
            <a:gdLst/>
            <a:ahLst/>
            <a:rect l="0" t="0" r="r" b="b"/>
            <a:pathLst>
              <a:path w="4502" h="1001">
                <a:moveTo>
                  <a:pt x="0" y="1000"/>
                </a:moveTo>
                <a:lnTo>
                  <a:pt x="4501" y="1000"/>
                </a:lnTo>
                <a:lnTo>
                  <a:pt x="4501" y="0"/>
                </a:lnTo>
                <a:lnTo>
                  <a:pt x="0" y="0"/>
                </a:lnTo>
                <a:lnTo>
                  <a:pt x="0" y="1000"/>
                </a:lnTo>
                <a:close/>
              </a:path>
            </a:pathLst>
          </a:custGeom>
          <a:solidFill>
            <a:srgbClr val="ffffff"/>
          </a:solidFill>
          <a:ln w="31680">
            <a:solidFill>
              <a:srgbClr val="ff0000"/>
            </a:solidFill>
            <a:round/>
          </a:ln>
        </p:spPr>
      </p:sp>
      <p:sp>
        <p:nvSpPr>
          <p:cNvPr id="981" name="TextShape 3"/>
          <p:cNvSpPr txBox="1"/>
          <p:nvPr/>
        </p:nvSpPr>
        <p:spPr>
          <a:xfrm>
            <a:off x="555840" y="627012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ff0000"/>
                </a:solidFill>
                <a:latin typeface="Meiryo"/>
              </a:rPr>
              <a:t>社内限り</a:t>
            </a:r>
            <a:endParaRPr b="0" lang="en-US" sz="1400" spc="-1" strike="noStrike">
              <a:latin typeface="Times New Roman"/>
            </a:endParaRPr>
          </a:p>
        </p:txBody>
      </p:sp>
      <p:pic>
        <p:nvPicPr>
          <p:cNvPr id="982" name="" descr=""/>
          <p:cNvPicPr/>
          <p:nvPr/>
        </p:nvPicPr>
        <p:blipFill>
          <a:blip r:embed="rId3"/>
          <a:stretch/>
        </p:blipFill>
        <p:spPr>
          <a:xfrm>
            <a:off x="11428560" y="149400"/>
            <a:ext cx="411120" cy="432360"/>
          </a:xfrm>
          <a:prstGeom prst="rect">
            <a:avLst/>
          </a:prstGeom>
          <a:ln w="0">
            <a:noFill/>
          </a:ln>
        </p:spPr>
      </p:pic>
      <p:sp>
        <p:nvSpPr>
          <p:cNvPr id="983" name="Freeform 4"/>
          <p:cNvSpPr/>
          <p:nvPr/>
        </p:nvSpPr>
        <p:spPr>
          <a:xfrm>
            <a:off x="9806040" y="204840"/>
            <a:ext cx="1497240" cy="361800"/>
          </a:xfrm>
          <a:custGeom>
            <a:avLst/>
            <a:gdLst/>
            <a:ahLst/>
            <a:rect l="0" t="0" r="r" b="b"/>
            <a:pathLst>
              <a:path w="4159" h="1005">
                <a:moveTo>
                  <a:pt x="0" y="1004"/>
                </a:moveTo>
                <a:lnTo>
                  <a:pt x="4158" y="1004"/>
                </a:lnTo>
                <a:lnTo>
                  <a:pt x="4158" y="0"/>
                </a:lnTo>
                <a:lnTo>
                  <a:pt x="0" y="0"/>
                </a:lnTo>
                <a:lnTo>
                  <a:pt x="0" y="1004"/>
                </a:lnTo>
                <a:close/>
              </a:path>
            </a:pathLst>
          </a:custGeom>
          <a:solidFill>
            <a:srgbClr val="ffffff"/>
          </a:solidFill>
          <a:ln w="18720">
            <a:solidFill>
              <a:srgbClr val="ff0000"/>
            </a:solidFill>
            <a:round/>
          </a:ln>
        </p:spPr>
      </p:sp>
      <p:sp>
        <p:nvSpPr>
          <p:cNvPr id="984" name="TextShape 5"/>
          <p:cNvSpPr txBox="1"/>
          <p:nvPr/>
        </p:nvSpPr>
        <p:spPr>
          <a:xfrm>
            <a:off x="9143280" y="6356520"/>
            <a:ext cx="23598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明日の笑顔を</a:t>
            </a:r>
            <a:r>
              <a:rPr b="0" lang="en-US" sz="1600" spc="-1" strike="noStrike">
                <a:solidFill>
                  <a:srgbClr val="000000"/>
                </a:solidFill>
                <a:latin typeface="UD Digi Kyokasho NPR"/>
              </a:rPr>
              <a:t> </a:t>
            </a:r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共に創る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985" name="TextShape 6"/>
          <p:cNvSpPr txBox="1"/>
          <p:nvPr/>
        </p:nvSpPr>
        <p:spPr>
          <a:xfrm>
            <a:off x="10151280" y="262800"/>
            <a:ext cx="48240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0000"/>
                </a:solidFill>
                <a:latin typeface="Meiryo"/>
              </a:rPr>
              <a:t>秘</a:t>
            </a:r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（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986" name="TextShape 7"/>
          <p:cNvSpPr txBox="1"/>
          <p:nvPr/>
        </p:nvSpPr>
        <p:spPr>
          <a:xfrm>
            <a:off x="10671120" y="391320"/>
            <a:ext cx="10188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700" spc="-1" strike="noStrike">
                <a:solidFill>
                  <a:srgbClr val="ff0000"/>
                </a:solidFill>
                <a:latin typeface="Meiryo"/>
              </a:rPr>
              <a:t> </a:t>
            </a:r>
            <a:endParaRPr b="0" lang="en-US" sz="700" spc="-1" strike="noStrike">
              <a:latin typeface="Times New Roman"/>
            </a:endParaRPr>
          </a:p>
        </p:txBody>
      </p:sp>
      <p:sp>
        <p:nvSpPr>
          <p:cNvPr id="987" name="TextShape 8"/>
          <p:cNvSpPr txBox="1"/>
          <p:nvPr/>
        </p:nvSpPr>
        <p:spPr>
          <a:xfrm>
            <a:off x="10707480" y="249840"/>
            <a:ext cx="2541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0000"/>
                </a:solidFill>
                <a:latin typeface="Meiryo"/>
              </a:rPr>
              <a:t>B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988" name="TextShape 9"/>
          <p:cNvSpPr txBox="1"/>
          <p:nvPr/>
        </p:nvSpPr>
        <p:spPr>
          <a:xfrm>
            <a:off x="10925640" y="262800"/>
            <a:ext cx="24156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）</a:t>
            </a:r>
            <a:endParaRPr b="0" lang="en-US" sz="1600" spc="-1" strike="noStrike">
              <a:latin typeface="Times New Roman"/>
            </a:endParaRPr>
          </a:p>
        </p:txBody>
      </p:sp>
      <p:pic>
        <p:nvPicPr>
          <p:cNvPr id="989" name="" descr=""/>
          <p:cNvPicPr/>
          <p:nvPr/>
        </p:nvPicPr>
        <p:blipFill>
          <a:blip r:embed="rId4"/>
          <a:stretch/>
        </p:blipFill>
        <p:spPr>
          <a:xfrm>
            <a:off x="4960800" y="6669000"/>
            <a:ext cx="2221560" cy="121680"/>
          </a:xfrm>
          <a:prstGeom prst="rect">
            <a:avLst/>
          </a:prstGeom>
          <a:ln w="0">
            <a:noFill/>
          </a:ln>
        </p:spPr>
      </p:pic>
      <p:sp>
        <p:nvSpPr>
          <p:cNvPr id="990" name="TextShape 10"/>
          <p:cNvSpPr txBox="1"/>
          <p:nvPr/>
        </p:nvSpPr>
        <p:spPr>
          <a:xfrm>
            <a:off x="8179200" y="303480"/>
            <a:ext cx="15246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100" spc="-1" strike="noStrike">
                <a:solidFill>
                  <a:srgbClr val="000000"/>
                </a:solidFill>
                <a:latin typeface="Meiryo"/>
              </a:rPr>
              <a:t>フィールドサポート部</a:t>
            </a:r>
            <a:endParaRPr b="0" lang="en-US" sz="1100" spc="-1" strike="noStrike">
              <a:latin typeface="Times New Roman"/>
            </a:endParaRPr>
          </a:p>
        </p:txBody>
      </p:sp>
      <p:pic>
        <p:nvPicPr>
          <p:cNvPr id="991" name="" descr=""/>
          <p:cNvPicPr/>
          <p:nvPr/>
        </p:nvPicPr>
        <p:blipFill>
          <a:blip r:embed="rId5"/>
          <a:stretch/>
        </p:blipFill>
        <p:spPr>
          <a:xfrm>
            <a:off x="182880" y="756000"/>
            <a:ext cx="7286040" cy="5318280"/>
          </a:xfrm>
          <a:prstGeom prst="rect">
            <a:avLst/>
          </a:prstGeom>
          <a:ln w="0">
            <a:noFill/>
          </a:ln>
        </p:spPr>
      </p:pic>
      <p:pic>
        <p:nvPicPr>
          <p:cNvPr id="992" name="" descr=""/>
          <p:cNvPicPr/>
          <p:nvPr/>
        </p:nvPicPr>
        <p:blipFill>
          <a:blip r:embed="rId6"/>
          <a:stretch/>
        </p:blipFill>
        <p:spPr>
          <a:xfrm>
            <a:off x="7661160" y="2020680"/>
            <a:ext cx="4347720" cy="1074240"/>
          </a:xfrm>
          <a:prstGeom prst="rect">
            <a:avLst/>
          </a:prstGeom>
          <a:ln w="0">
            <a:noFill/>
          </a:ln>
        </p:spPr>
      </p:pic>
      <p:sp>
        <p:nvSpPr>
          <p:cNvPr id="993" name="Freeform 11"/>
          <p:cNvSpPr/>
          <p:nvPr/>
        </p:nvSpPr>
        <p:spPr>
          <a:xfrm>
            <a:off x="1698480" y="2692440"/>
            <a:ext cx="5972400" cy="2216880"/>
          </a:xfrm>
          <a:custGeom>
            <a:avLst/>
            <a:gdLst/>
            <a:ahLst/>
            <a:rect l="0" t="0" r="r" b="b"/>
            <a:pathLst>
              <a:path w="16590" h="6158">
                <a:moveTo>
                  <a:pt x="16538" y="0"/>
                </a:moveTo>
                <a:lnTo>
                  <a:pt x="326" y="5901"/>
                </a:lnTo>
                <a:lnTo>
                  <a:pt x="377" y="6042"/>
                </a:lnTo>
                <a:lnTo>
                  <a:pt x="16589" y="141"/>
                </a:lnTo>
                <a:lnTo>
                  <a:pt x="16538" y="0"/>
                </a:lnTo>
                <a:moveTo>
                  <a:pt x="345" y="5734"/>
                </a:moveTo>
                <a:lnTo>
                  <a:pt x="0" y="6100"/>
                </a:lnTo>
                <a:lnTo>
                  <a:pt x="499" y="6157"/>
                </a:lnTo>
                <a:lnTo>
                  <a:pt x="345" y="5734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pic>
        <p:nvPicPr>
          <p:cNvPr id="994" name="" descr=""/>
          <p:cNvPicPr/>
          <p:nvPr/>
        </p:nvPicPr>
        <p:blipFill>
          <a:blip r:embed="rId7"/>
          <a:stretch/>
        </p:blipFill>
        <p:spPr>
          <a:xfrm>
            <a:off x="504360" y="4719960"/>
            <a:ext cx="1282680" cy="385200"/>
          </a:xfrm>
          <a:prstGeom prst="rect">
            <a:avLst/>
          </a:prstGeom>
          <a:ln w="0">
            <a:noFill/>
          </a:ln>
        </p:spPr>
      </p:pic>
      <p:sp>
        <p:nvSpPr>
          <p:cNvPr id="995" name="Freeform 12"/>
          <p:cNvSpPr/>
          <p:nvPr/>
        </p:nvSpPr>
        <p:spPr>
          <a:xfrm>
            <a:off x="543240" y="4758480"/>
            <a:ext cx="1155960" cy="258480"/>
          </a:xfrm>
          <a:custGeom>
            <a:avLst/>
            <a:gdLst/>
            <a:ahLst/>
            <a:rect l="0" t="0" r="r" b="b"/>
            <a:pathLst>
              <a:path w="3211" h="718">
                <a:moveTo>
                  <a:pt x="0" y="717"/>
                </a:moveTo>
                <a:lnTo>
                  <a:pt x="3210" y="717"/>
                </a:lnTo>
                <a:lnTo>
                  <a:pt x="3210" y="0"/>
                </a:lnTo>
                <a:lnTo>
                  <a:pt x="0" y="0"/>
                </a:lnTo>
                <a:lnTo>
                  <a:pt x="0" y="717"/>
                </a:lnTo>
                <a:close/>
              </a:path>
            </a:pathLst>
          </a:custGeom>
          <a:noFill/>
          <a:ln w="25200">
            <a:solidFill>
              <a:srgbClr val="ff0000"/>
            </a:solidFill>
            <a:custDash>
              <a:ds d="301429" sp="100000"/>
            </a:custDash>
            <a:round/>
          </a:ln>
        </p:spPr>
      </p:sp>
      <p:sp>
        <p:nvSpPr>
          <p:cNvPr id="996" name="Line 13"/>
          <p:cNvSpPr/>
          <p:nvPr/>
        </p:nvSpPr>
        <p:spPr>
          <a:xfrm>
            <a:off x="10389600" y="2446560"/>
            <a:ext cx="1019880" cy="271080"/>
          </a:xfrm>
          <a:prstGeom prst="line">
            <a:avLst/>
          </a:prstGeom>
          <a:ln w="252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7" name="Line 14"/>
          <p:cNvSpPr/>
          <p:nvPr/>
        </p:nvSpPr>
        <p:spPr>
          <a:xfrm flipV="1">
            <a:off x="10389600" y="2455920"/>
            <a:ext cx="1046160" cy="287640"/>
          </a:xfrm>
          <a:prstGeom prst="line">
            <a:avLst/>
          </a:prstGeom>
          <a:ln w="252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8" name="Freeform 15"/>
          <p:cNvSpPr/>
          <p:nvPr/>
        </p:nvSpPr>
        <p:spPr>
          <a:xfrm>
            <a:off x="7900200" y="3290040"/>
            <a:ext cx="3868560" cy="1425600"/>
          </a:xfrm>
          <a:custGeom>
            <a:avLst/>
            <a:gdLst/>
            <a:ahLst/>
            <a:rect l="0" t="0" r="r" b="b"/>
            <a:pathLst>
              <a:path w="10746" h="3960">
                <a:moveTo>
                  <a:pt x="0" y="3959"/>
                </a:moveTo>
                <a:lnTo>
                  <a:pt x="10745" y="3959"/>
                </a:lnTo>
                <a:lnTo>
                  <a:pt x="10745" y="0"/>
                </a:lnTo>
                <a:lnTo>
                  <a:pt x="0" y="0"/>
                </a:lnTo>
                <a:lnTo>
                  <a:pt x="0" y="3959"/>
                </a:lnTo>
                <a:close/>
              </a:path>
            </a:pathLst>
          </a:custGeom>
          <a:solidFill>
            <a:srgbClr val="c6d9f1">
              <a:alpha val="70000"/>
            </a:srgbClr>
          </a:solidFill>
          <a:ln w="0">
            <a:noFill/>
          </a:ln>
        </p:spPr>
      </p:sp>
      <p:sp>
        <p:nvSpPr>
          <p:cNvPr id="999" name="TextShape 16"/>
          <p:cNvSpPr txBox="1"/>
          <p:nvPr/>
        </p:nvSpPr>
        <p:spPr>
          <a:xfrm>
            <a:off x="183600" y="160560"/>
            <a:ext cx="859788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262626"/>
                </a:solidFill>
                <a:latin typeface="MeiryoUI"/>
              </a:rPr>
              <a:t>❷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【中間資料】（予算シート）翌月棚卸し日程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1000" name="TextShape 17"/>
          <p:cNvSpPr txBox="1"/>
          <p:nvPr/>
        </p:nvSpPr>
        <p:spPr>
          <a:xfrm>
            <a:off x="7993080" y="3604680"/>
            <a:ext cx="28414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400" spc="-1" strike="noStrike">
                <a:solidFill>
                  <a:srgbClr val="262626"/>
                </a:solidFill>
                <a:latin typeface="MeiryoUI"/>
              </a:rPr>
              <a:t>翌月の棚卸し予定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001" name="Freeform 18"/>
          <p:cNvSpPr/>
          <p:nvPr/>
        </p:nvSpPr>
        <p:spPr>
          <a:xfrm>
            <a:off x="5416200" y="5806440"/>
            <a:ext cx="2288160" cy="581040"/>
          </a:xfrm>
          <a:custGeom>
            <a:avLst/>
            <a:gdLst/>
            <a:ahLst/>
            <a:rect l="0" t="0" r="r" b="b"/>
            <a:pathLst>
              <a:path w="6356" h="1614">
                <a:moveTo>
                  <a:pt x="0" y="1613"/>
                </a:moveTo>
                <a:lnTo>
                  <a:pt x="6355" y="1613"/>
                </a:lnTo>
                <a:lnTo>
                  <a:pt x="6355" y="0"/>
                </a:lnTo>
                <a:lnTo>
                  <a:pt x="0" y="0"/>
                </a:lnTo>
                <a:lnTo>
                  <a:pt x="0" y="161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002" name="TextShape 19"/>
          <p:cNvSpPr txBox="1"/>
          <p:nvPr/>
        </p:nvSpPr>
        <p:spPr>
          <a:xfrm>
            <a:off x="7993080" y="4030920"/>
            <a:ext cx="42616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400" spc="-1" strike="noStrike">
                <a:solidFill>
                  <a:srgbClr val="262626"/>
                </a:solidFill>
                <a:latin typeface="MeiryoUI"/>
              </a:rPr>
              <a:t>「あり・なし」の項目削除</a:t>
            </a:r>
            <a:endParaRPr b="0" lang="en-US" sz="24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Freeform 1"/>
          <p:cNvSpPr/>
          <p:nvPr/>
        </p:nvSpPr>
        <p:spPr>
          <a:xfrm>
            <a:off x="0" y="-360"/>
            <a:ext cx="12192480" cy="6858720"/>
          </a:xfrm>
          <a:custGeom>
            <a:avLst/>
            <a:gdLst/>
            <a:ahLst/>
            <a:rect l="0" t="0" r="r" b="b"/>
            <a:pathLst>
              <a:path w="33868" h="19052">
                <a:moveTo>
                  <a:pt x="0" y="19051"/>
                </a:moveTo>
                <a:lnTo>
                  <a:pt x="33867" y="19051"/>
                </a:lnTo>
                <a:lnTo>
                  <a:pt x="33867" y="0"/>
                </a:lnTo>
                <a:lnTo>
                  <a:pt x="0" y="0"/>
                </a:lnTo>
                <a:lnTo>
                  <a:pt x="0" y="190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pic>
        <p:nvPicPr>
          <p:cNvPr id="1004" name="" descr=""/>
          <p:cNvPicPr/>
          <p:nvPr/>
        </p:nvPicPr>
        <p:blipFill>
          <a:blip r:embed="rId1"/>
          <a:stretch/>
        </p:blipFill>
        <p:spPr>
          <a:xfrm>
            <a:off x="175320" y="586800"/>
            <a:ext cx="11841120" cy="209880"/>
          </a:xfrm>
          <a:prstGeom prst="rect">
            <a:avLst/>
          </a:prstGeom>
          <a:ln w="0">
            <a:noFill/>
          </a:ln>
        </p:spPr>
      </p:pic>
      <p:pic>
        <p:nvPicPr>
          <p:cNvPr id="1005" name="" descr=""/>
          <p:cNvPicPr/>
          <p:nvPr/>
        </p:nvPicPr>
        <p:blipFill>
          <a:blip r:embed="rId2"/>
          <a:stretch/>
        </p:blipFill>
        <p:spPr>
          <a:xfrm>
            <a:off x="5122080" y="6681240"/>
            <a:ext cx="1947240" cy="115560"/>
          </a:xfrm>
          <a:prstGeom prst="rect">
            <a:avLst/>
          </a:prstGeom>
          <a:ln w="0">
            <a:noFill/>
          </a:ln>
        </p:spPr>
      </p:pic>
      <p:sp>
        <p:nvSpPr>
          <p:cNvPr id="1006" name="Freeform 2"/>
          <p:cNvSpPr/>
          <p:nvPr/>
        </p:nvSpPr>
        <p:spPr>
          <a:xfrm>
            <a:off x="151560" y="6209280"/>
            <a:ext cx="1620720" cy="360360"/>
          </a:xfrm>
          <a:custGeom>
            <a:avLst/>
            <a:gdLst/>
            <a:ahLst/>
            <a:rect l="0" t="0" r="r" b="b"/>
            <a:pathLst>
              <a:path w="4502" h="1001">
                <a:moveTo>
                  <a:pt x="0" y="1000"/>
                </a:moveTo>
                <a:lnTo>
                  <a:pt x="4501" y="1000"/>
                </a:lnTo>
                <a:lnTo>
                  <a:pt x="4501" y="0"/>
                </a:lnTo>
                <a:lnTo>
                  <a:pt x="0" y="0"/>
                </a:lnTo>
                <a:lnTo>
                  <a:pt x="0" y="1000"/>
                </a:lnTo>
                <a:close/>
              </a:path>
            </a:pathLst>
          </a:custGeom>
          <a:solidFill>
            <a:srgbClr val="ffffff"/>
          </a:solidFill>
          <a:ln w="31680">
            <a:solidFill>
              <a:srgbClr val="ff0000"/>
            </a:solidFill>
            <a:round/>
          </a:ln>
        </p:spPr>
      </p:sp>
      <p:sp>
        <p:nvSpPr>
          <p:cNvPr id="1007" name="TextShape 3"/>
          <p:cNvSpPr txBox="1"/>
          <p:nvPr/>
        </p:nvSpPr>
        <p:spPr>
          <a:xfrm>
            <a:off x="555840" y="627012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ff0000"/>
                </a:solidFill>
                <a:latin typeface="Meiryo"/>
              </a:rPr>
              <a:t>社内限り</a:t>
            </a:r>
            <a:endParaRPr b="0" lang="en-US" sz="1400" spc="-1" strike="noStrike">
              <a:latin typeface="Times New Roman"/>
            </a:endParaRPr>
          </a:p>
        </p:txBody>
      </p:sp>
      <p:pic>
        <p:nvPicPr>
          <p:cNvPr id="1008" name="" descr=""/>
          <p:cNvPicPr/>
          <p:nvPr/>
        </p:nvPicPr>
        <p:blipFill>
          <a:blip r:embed="rId3"/>
          <a:stretch/>
        </p:blipFill>
        <p:spPr>
          <a:xfrm>
            <a:off x="11428560" y="149400"/>
            <a:ext cx="411120" cy="432360"/>
          </a:xfrm>
          <a:prstGeom prst="rect">
            <a:avLst/>
          </a:prstGeom>
          <a:ln w="0">
            <a:noFill/>
          </a:ln>
        </p:spPr>
      </p:pic>
      <p:sp>
        <p:nvSpPr>
          <p:cNvPr id="1009" name="Freeform 4"/>
          <p:cNvSpPr/>
          <p:nvPr/>
        </p:nvSpPr>
        <p:spPr>
          <a:xfrm>
            <a:off x="9806040" y="204840"/>
            <a:ext cx="1497240" cy="361800"/>
          </a:xfrm>
          <a:custGeom>
            <a:avLst/>
            <a:gdLst/>
            <a:ahLst/>
            <a:rect l="0" t="0" r="r" b="b"/>
            <a:pathLst>
              <a:path w="4159" h="1005">
                <a:moveTo>
                  <a:pt x="0" y="1004"/>
                </a:moveTo>
                <a:lnTo>
                  <a:pt x="4158" y="1004"/>
                </a:lnTo>
                <a:lnTo>
                  <a:pt x="4158" y="0"/>
                </a:lnTo>
                <a:lnTo>
                  <a:pt x="0" y="0"/>
                </a:lnTo>
                <a:lnTo>
                  <a:pt x="0" y="1004"/>
                </a:lnTo>
                <a:close/>
              </a:path>
            </a:pathLst>
          </a:custGeom>
          <a:solidFill>
            <a:srgbClr val="ffffff"/>
          </a:solidFill>
          <a:ln w="18720">
            <a:solidFill>
              <a:srgbClr val="ff0000"/>
            </a:solidFill>
            <a:round/>
          </a:ln>
        </p:spPr>
      </p:sp>
      <p:sp>
        <p:nvSpPr>
          <p:cNvPr id="1010" name="TextShape 5"/>
          <p:cNvSpPr txBox="1"/>
          <p:nvPr/>
        </p:nvSpPr>
        <p:spPr>
          <a:xfrm>
            <a:off x="9143280" y="6356520"/>
            <a:ext cx="23598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明日の笑顔を</a:t>
            </a:r>
            <a:r>
              <a:rPr b="0" lang="en-US" sz="1600" spc="-1" strike="noStrike">
                <a:solidFill>
                  <a:srgbClr val="000000"/>
                </a:solidFill>
                <a:latin typeface="UD Digi Kyokasho NPR"/>
              </a:rPr>
              <a:t> </a:t>
            </a:r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共に創る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1011" name="TextShape 6"/>
          <p:cNvSpPr txBox="1"/>
          <p:nvPr/>
        </p:nvSpPr>
        <p:spPr>
          <a:xfrm>
            <a:off x="10151280" y="262800"/>
            <a:ext cx="48240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0000"/>
                </a:solidFill>
                <a:latin typeface="Meiryo"/>
              </a:rPr>
              <a:t>秘</a:t>
            </a:r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（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1012" name="TextShape 7"/>
          <p:cNvSpPr txBox="1"/>
          <p:nvPr/>
        </p:nvSpPr>
        <p:spPr>
          <a:xfrm>
            <a:off x="10671120" y="391320"/>
            <a:ext cx="10188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700" spc="-1" strike="noStrike">
                <a:solidFill>
                  <a:srgbClr val="ff0000"/>
                </a:solidFill>
                <a:latin typeface="Meiryo"/>
              </a:rPr>
              <a:t> </a:t>
            </a:r>
            <a:endParaRPr b="0" lang="en-US" sz="700" spc="-1" strike="noStrike">
              <a:latin typeface="Times New Roman"/>
            </a:endParaRPr>
          </a:p>
        </p:txBody>
      </p:sp>
      <p:sp>
        <p:nvSpPr>
          <p:cNvPr id="1013" name="TextShape 8"/>
          <p:cNvSpPr txBox="1"/>
          <p:nvPr/>
        </p:nvSpPr>
        <p:spPr>
          <a:xfrm>
            <a:off x="10707480" y="249840"/>
            <a:ext cx="2541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0000"/>
                </a:solidFill>
                <a:latin typeface="Meiryo"/>
              </a:rPr>
              <a:t>B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014" name="TextShape 9"/>
          <p:cNvSpPr txBox="1"/>
          <p:nvPr/>
        </p:nvSpPr>
        <p:spPr>
          <a:xfrm>
            <a:off x="10925640" y="262800"/>
            <a:ext cx="24156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）</a:t>
            </a:r>
            <a:endParaRPr b="0" lang="en-US" sz="1600" spc="-1" strike="noStrike">
              <a:latin typeface="Times New Roman"/>
            </a:endParaRPr>
          </a:p>
        </p:txBody>
      </p:sp>
      <p:pic>
        <p:nvPicPr>
          <p:cNvPr id="1015" name="" descr=""/>
          <p:cNvPicPr/>
          <p:nvPr/>
        </p:nvPicPr>
        <p:blipFill>
          <a:blip r:embed="rId4"/>
          <a:stretch/>
        </p:blipFill>
        <p:spPr>
          <a:xfrm>
            <a:off x="4960800" y="6669000"/>
            <a:ext cx="2221560" cy="121680"/>
          </a:xfrm>
          <a:prstGeom prst="rect">
            <a:avLst/>
          </a:prstGeom>
          <a:ln w="0">
            <a:noFill/>
          </a:ln>
        </p:spPr>
      </p:pic>
      <p:sp>
        <p:nvSpPr>
          <p:cNvPr id="1016" name="TextShape 10"/>
          <p:cNvSpPr txBox="1"/>
          <p:nvPr/>
        </p:nvSpPr>
        <p:spPr>
          <a:xfrm>
            <a:off x="8179200" y="303480"/>
            <a:ext cx="15246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100" spc="-1" strike="noStrike">
                <a:solidFill>
                  <a:srgbClr val="000000"/>
                </a:solidFill>
                <a:latin typeface="Meiryo"/>
              </a:rPr>
              <a:t>フィールドサポート部</a:t>
            </a:r>
            <a:endParaRPr b="0" lang="en-US" sz="1100" spc="-1" strike="noStrike">
              <a:latin typeface="Times New Roman"/>
            </a:endParaRPr>
          </a:p>
        </p:txBody>
      </p:sp>
      <p:pic>
        <p:nvPicPr>
          <p:cNvPr id="1017" name="" descr=""/>
          <p:cNvPicPr/>
          <p:nvPr/>
        </p:nvPicPr>
        <p:blipFill>
          <a:blip r:embed="rId5"/>
          <a:stretch/>
        </p:blipFill>
        <p:spPr>
          <a:xfrm>
            <a:off x="5603760" y="9000"/>
            <a:ext cx="893520" cy="853920"/>
          </a:xfrm>
          <a:prstGeom prst="rect">
            <a:avLst/>
          </a:prstGeom>
          <a:ln w="0">
            <a:noFill/>
          </a:ln>
        </p:spPr>
      </p:pic>
      <p:sp>
        <p:nvSpPr>
          <p:cNvPr id="1018" name="TextShape 11"/>
          <p:cNvSpPr txBox="1"/>
          <p:nvPr/>
        </p:nvSpPr>
        <p:spPr>
          <a:xfrm>
            <a:off x="183600" y="160560"/>
            <a:ext cx="788688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262626"/>
                </a:solidFill>
                <a:latin typeface="MeiryoUI"/>
              </a:rPr>
              <a:t>❸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【</a:t>
            </a:r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AI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検証】（販売＋在庫）</a:t>
            </a:r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2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枚</a:t>
            </a:r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 </a:t>
            </a:r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1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枚へ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1019" name="TextShape 12"/>
          <p:cNvSpPr txBox="1"/>
          <p:nvPr/>
        </p:nvSpPr>
        <p:spPr>
          <a:xfrm>
            <a:off x="329040" y="873000"/>
            <a:ext cx="1108512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0070c0"/>
                </a:solidFill>
                <a:latin typeface="Meiryo"/>
              </a:rPr>
              <a:t>残す項目</a:t>
            </a:r>
            <a:r>
              <a:rPr b="1" lang="zh-CN" sz="2400" spc="-1" strike="noStrike">
                <a:solidFill>
                  <a:srgbClr val="262626"/>
                </a:solidFill>
                <a:latin typeface="Meiryo"/>
              </a:rPr>
              <a:t>：</a:t>
            </a:r>
            <a:r>
              <a:rPr b="1" lang="en-US" sz="2400" spc="-1" strike="noStrike">
                <a:solidFill>
                  <a:srgbClr val="262626"/>
                </a:solidFill>
                <a:latin typeface="Meiryo"/>
              </a:rPr>
              <a:t>AI</a:t>
            </a:r>
            <a:r>
              <a:rPr b="1" lang="zh-CN" sz="2400" spc="-1" strike="noStrike">
                <a:solidFill>
                  <a:srgbClr val="262626"/>
                </a:solidFill>
                <a:latin typeface="Meiryo"/>
              </a:rPr>
              <a:t>発注の利用度</a:t>
            </a:r>
            <a:r>
              <a:rPr b="1" lang="en-US" sz="2400" spc="-1" strike="noStrike">
                <a:solidFill>
                  <a:srgbClr val="262626"/>
                </a:solidFill>
                <a:latin typeface="Meiryo"/>
              </a:rPr>
              <a:t>(</a:t>
            </a:r>
            <a:r>
              <a:rPr b="1" lang="zh-CN" sz="2400" spc="-1" strike="noStrike">
                <a:solidFill>
                  <a:srgbClr val="262626"/>
                </a:solidFill>
                <a:latin typeface="Meiryo"/>
              </a:rPr>
              <a:t>アイテム利用率・準拠率・実質利用率</a:t>
            </a:r>
            <a:r>
              <a:rPr b="1" lang="en-US" sz="2400" spc="-1" strike="noStrike">
                <a:solidFill>
                  <a:srgbClr val="262626"/>
                </a:solidFill>
                <a:latin typeface="Meiryo"/>
              </a:rPr>
              <a:t>)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020" name="TextShape 13"/>
          <p:cNvSpPr txBox="1"/>
          <p:nvPr/>
        </p:nvSpPr>
        <p:spPr>
          <a:xfrm>
            <a:off x="2107800" y="1299960"/>
            <a:ext cx="741096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400" spc="-1" strike="noStrike">
                <a:solidFill>
                  <a:srgbClr val="262626"/>
                </a:solidFill>
                <a:latin typeface="Meiryo"/>
              </a:rPr>
              <a:t>AI</a:t>
            </a:r>
            <a:r>
              <a:rPr b="1" lang="zh-CN" sz="2400" spc="-1" strike="noStrike">
                <a:solidFill>
                  <a:srgbClr val="262626"/>
                </a:solidFill>
                <a:latin typeface="Meiryo"/>
              </a:rPr>
              <a:t>発注</a:t>
            </a:r>
            <a:r>
              <a:rPr b="1" lang="en-US" sz="2400" spc="-1" strike="noStrike">
                <a:solidFill>
                  <a:srgbClr val="262626"/>
                </a:solidFill>
                <a:latin typeface="Meiryo"/>
              </a:rPr>
              <a:t>KPI(</a:t>
            </a:r>
            <a:r>
              <a:rPr b="1" lang="zh-CN" sz="2400" spc="-1" strike="noStrike">
                <a:solidFill>
                  <a:srgbClr val="262626"/>
                </a:solidFill>
                <a:latin typeface="Meiryo"/>
              </a:rPr>
              <a:t>売上前年比・発注時間・欠品率</a:t>
            </a:r>
            <a:r>
              <a:rPr b="1" lang="en-US" sz="2400" spc="-1" strike="noStrike">
                <a:solidFill>
                  <a:srgbClr val="262626"/>
                </a:solidFill>
                <a:latin typeface="Meiryo"/>
              </a:rPr>
              <a:t>)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021" name="TextShape 14"/>
          <p:cNvSpPr txBox="1"/>
          <p:nvPr/>
        </p:nvSpPr>
        <p:spPr>
          <a:xfrm>
            <a:off x="2107800" y="1726920"/>
            <a:ext cx="52696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262626"/>
                </a:solidFill>
                <a:latin typeface="Meiryo"/>
              </a:rPr>
              <a:t>非デイリー</a:t>
            </a:r>
            <a:r>
              <a:rPr b="1" lang="en-US" sz="2400" spc="-1" strike="noStrike">
                <a:solidFill>
                  <a:srgbClr val="262626"/>
                </a:solidFill>
                <a:latin typeface="Meiryo"/>
              </a:rPr>
              <a:t>KPI(</a:t>
            </a:r>
            <a:r>
              <a:rPr b="1" lang="zh-CN" sz="2400" spc="-1" strike="noStrike">
                <a:solidFill>
                  <a:srgbClr val="262626"/>
                </a:solidFill>
                <a:latin typeface="Meiryo"/>
              </a:rPr>
              <a:t>死筋在庫金額</a:t>
            </a:r>
            <a:r>
              <a:rPr b="1" lang="en-US" sz="2400" spc="-1" strike="noStrike">
                <a:solidFill>
                  <a:srgbClr val="262626"/>
                </a:solidFill>
                <a:latin typeface="Meiryo"/>
              </a:rPr>
              <a:t>) 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022" name="TextShape 15"/>
          <p:cNvSpPr txBox="1"/>
          <p:nvPr/>
        </p:nvSpPr>
        <p:spPr>
          <a:xfrm>
            <a:off x="329040" y="2153880"/>
            <a:ext cx="497160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c00000"/>
                </a:solidFill>
                <a:latin typeface="Meiryo"/>
              </a:rPr>
              <a:t>追加項目</a:t>
            </a:r>
            <a:r>
              <a:rPr b="1" lang="zh-CN" sz="2400" spc="-1" strike="noStrike">
                <a:solidFill>
                  <a:srgbClr val="262626"/>
                </a:solidFill>
                <a:latin typeface="Meiryo"/>
              </a:rPr>
              <a:t>：</a:t>
            </a:r>
            <a:r>
              <a:rPr b="1" lang="zh-CN" sz="2400" spc="-1" strike="noStrike">
                <a:solidFill>
                  <a:srgbClr val="c00000"/>
                </a:solidFill>
                <a:latin typeface="Meiryo"/>
              </a:rPr>
              <a:t>ハイブリッド利用率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023" name="TextShape 16"/>
          <p:cNvSpPr txBox="1"/>
          <p:nvPr/>
        </p:nvSpPr>
        <p:spPr>
          <a:xfrm>
            <a:off x="329040" y="3007440"/>
            <a:ext cx="98038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262626"/>
                </a:solidFill>
                <a:latin typeface="Meiryo"/>
              </a:rPr>
              <a:t>削除項目：在庫金額・取扱アイテム数・導入率</a:t>
            </a:r>
            <a:r>
              <a:rPr b="1" lang="en-US" sz="2400" spc="-1" strike="noStrike">
                <a:solidFill>
                  <a:srgbClr val="262626"/>
                </a:solidFill>
                <a:latin typeface="Meiryo"/>
              </a:rPr>
              <a:t>(</a:t>
            </a:r>
            <a:r>
              <a:rPr b="1" lang="zh-CN" sz="2400" spc="-1" strike="noStrike">
                <a:solidFill>
                  <a:srgbClr val="262626"/>
                </a:solidFill>
                <a:latin typeface="Meiryo"/>
              </a:rPr>
              <a:t>基本・新規</a:t>
            </a:r>
            <a:r>
              <a:rPr b="1" lang="en-US" sz="2400" spc="-1" strike="noStrike">
                <a:solidFill>
                  <a:srgbClr val="262626"/>
                </a:solidFill>
                <a:latin typeface="Meiryo"/>
              </a:rPr>
              <a:t>)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024" name="TextShape 17"/>
          <p:cNvSpPr txBox="1"/>
          <p:nvPr/>
        </p:nvSpPr>
        <p:spPr>
          <a:xfrm>
            <a:off x="2107800" y="3434040"/>
            <a:ext cx="344052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400" spc="-1" strike="noStrike">
                <a:solidFill>
                  <a:srgbClr val="262626"/>
                </a:solidFill>
                <a:latin typeface="Meiryo"/>
              </a:rPr>
              <a:t>SC</a:t>
            </a:r>
            <a:r>
              <a:rPr b="1" lang="zh-CN" sz="2400" spc="-1" strike="noStrike">
                <a:solidFill>
                  <a:srgbClr val="262626"/>
                </a:solidFill>
                <a:latin typeface="Meiryo"/>
              </a:rPr>
              <a:t>情報分析閲覧回数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025" name="Line 18"/>
          <p:cNvSpPr/>
          <p:nvPr/>
        </p:nvSpPr>
        <p:spPr>
          <a:xfrm>
            <a:off x="329760" y="2760480"/>
            <a:ext cx="11166120" cy="0"/>
          </a:xfrm>
          <a:prstGeom prst="line">
            <a:avLst/>
          </a:prstGeom>
          <a:ln w="25200">
            <a:solidFill>
              <a:srgbClr val="0070c0"/>
            </a:solidFill>
            <a:custDash>
              <a:ds d="301429" sp="100000"/>
            </a:custDash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6" name="TextShape 19"/>
          <p:cNvSpPr txBox="1"/>
          <p:nvPr/>
        </p:nvSpPr>
        <p:spPr>
          <a:xfrm>
            <a:off x="2107800" y="3861000"/>
            <a:ext cx="355176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262626"/>
                </a:solidFill>
                <a:latin typeface="Meiryo"/>
              </a:rPr>
              <a:t>立地別比較の要素削除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027" name="TextShape 20"/>
          <p:cNvSpPr txBox="1"/>
          <p:nvPr/>
        </p:nvSpPr>
        <p:spPr>
          <a:xfrm>
            <a:off x="3375000" y="4327560"/>
            <a:ext cx="876744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800" spc="-1" strike="noStrike">
                <a:solidFill>
                  <a:srgbClr val="262626"/>
                </a:solidFill>
                <a:latin typeface="Meiryo"/>
              </a:rPr>
              <a:t>※</a:t>
            </a:r>
            <a:r>
              <a:rPr b="0" lang="en-US" sz="1800" spc="-1" strike="noStrike">
                <a:solidFill>
                  <a:srgbClr val="262626"/>
                </a:solidFill>
                <a:latin typeface="Meiryo"/>
              </a:rPr>
              <a:t>OP</a:t>
            </a:r>
            <a:r>
              <a:rPr b="0" lang="zh-CN" sz="1800" spc="-1" strike="noStrike">
                <a:solidFill>
                  <a:srgbClr val="262626"/>
                </a:solidFill>
                <a:latin typeface="Meiryo"/>
              </a:rPr>
              <a:t>情報：</a:t>
            </a:r>
            <a:r>
              <a:rPr b="0" lang="en-US" sz="1800" spc="-1" strike="noStrike">
                <a:solidFill>
                  <a:srgbClr val="262626"/>
                </a:solidFill>
                <a:latin typeface="Meiryo"/>
              </a:rPr>
              <a:t>AI</a:t>
            </a:r>
            <a:r>
              <a:rPr b="0" lang="zh-CN" sz="1800" spc="-1" strike="noStrike">
                <a:solidFill>
                  <a:srgbClr val="262626"/>
                </a:solidFill>
                <a:latin typeface="Meiryo"/>
              </a:rPr>
              <a:t>発注利用の高い</a:t>
            </a:r>
            <a:r>
              <a:rPr b="0" lang="en-US" sz="1800" spc="-1" strike="noStrike">
                <a:solidFill>
                  <a:srgbClr val="262626"/>
                </a:solidFill>
                <a:latin typeface="Meiryo"/>
              </a:rPr>
              <a:t>DO</a:t>
            </a:r>
            <a:r>
              <a:rPr b="0" lang="zh-CN" sz="1800" spc="-1" strike="noStrike">
                <a:solidFill>
                  <a:srgbClr val="262626"/>
                </a:solidFill>
                <a:latin typeface="Meiryo"/>
              </a:rPr>
              <a:t>のリーダー</a:t>
            </a:r>
            <a:r>
              <a:rPr b="0" lang="en-US" sz="1800" spc="-1" strike="noStrike">
                <a:solidFill>
                  <a:srgbClr val="262626"/>
                </a:solidFill>
                <a:latin typeface="Meiryo"/>
              </a:rPr>
              <a:t>OFC</a:t>
            </a:r>
            <a:r>
              <a:rPr b="0" lang="zh-CN" sz="1800" spc="-1" strike="noStrike">
                <a:solidFill>
                  <a:srgbClr val="262626"/>
                </a:solidFill>
                <a:latin typeface="Meiryo"/>
              </a:rPr>
              <a:t>さんに資料確認して頂き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028" name="TextShape 21"/>
          <p:cNvSpPr txBox="1"/>
          <p:nvPr/>
        </p:nvSpPr>
        <p:spPr>
          <a:xfrm>
            <a:off x="4644720" y="4632480"/>
            <a:ext cx="472140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800" spc="-1" strike="noStrike">
                <a:solidFill>
                  <a:srgbClr val="262626"/>
                </a:solidFill>
                <a:latin typeface="Meiryo"/>
              </a:rPr>
              <a:t> </a:t>
            </a:r>
            <a:r>
              <a:rPr b="0" lang="zh-CN" sz="1800" spc="-1" strike="noStrike">
                <a:solidFill>
                  <a:srgbClr val="262626"/>
                </a:solidFill>
                <a:latin typeface="Meiryo"/>
              </a:rPr>
              <a:t>代替可能項目・残し項目を精査してます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Freeform 1"/>
          <p:cNvSpPr/>
          <p:nvPr/>
        </p:nvSpPr>
        <p:spPr>
          <a:xfrm>
            <a:off x="0" y="-360"/>
            <a:ext cx="12192480" cy="6858720"/>
          </a:xfrm>
          <a:custGeom>
            <a:avLst/>
            <a:gdLst/>
            <a:ahLst/>
            <a:rect l="0" t="0" r="r" b="b"/>
            <a:pathLst>
              <a:path w="33868" h="19052">
                <a:moveTo>
                  <a:pt x="0" y="19051"/>
                </a:moveTo>
                <a:lnTo>
                  <a:pt x="33867" y="19051"/>
                </a:lnTo>
                <a:lnTo>
                  <a:pt x="33867" y="0"/>
                </a:lnTo>
                <a:lnTo>
                  <a:pt x="0" y="0"/>
                </a:lnTo>
                <a:lnTo>
                  <a:pt x="0" y="190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pic>
        <p:nvPicPr>
          <p:cNvPr id="1030" name="" descr=""/>
          <p:cNvPicPr/>
          <p:nvPr/>
        </p:nvPicPr>
        <p:blipFill>
          <a:blip r:embed="rId1"/>
          <a:stretch/>
        </p:blipFill>
        <p:spPr>
          <a:xfrm>
            <a:off x="175320" y="586800"/>
            <a:ext cx="11841120" cy="209880"/>
          </a:xfrm>
          <a:prstGeom prst="rect">
            <a:avLst/>
          </a:prstGeom>
          <a:ln w="0">
            <a:noFill/>
          </a:ln>
        </p:spPr>
      </p:pic>
      <p:pic>
        <p:nvPicPr>
          <p:cNvPr id="1031" name="" descr=""/>
          <p:cNvPicPr/>
          <p:nvPr/>
        </p:nvPicPr>
        <p:blipFill>
          <a:blip r:embed="rId2"/>
          <a:stretch/>
        </p:blipFill>
        <p:spPr>
          <a:xfrm>
            <a:off x="5122080" y="6681240"/>
            <a:ext cx="1947240" cy="115560"/>
          </a:xfrm>
          <a:prstGeom prst="rect">
            <a:avLst/>
          </a:prstGeom>
          <a:ln w="0">
            <a:noFill/>
          </a:ln>
        </p:spPr>
      </p:pic>
      <p:sp>
        <p:nvSpPr>
          <p:cNvPr id="1032" name="Freeform 2"/>
          <p:cNvSpPr/>
          <p:nvPr/>
        </p:nvSpPr>
        <p:spPr>
          <a:xfrm>
            <a:off x="151560" y="6209280"/>
            <a:ext cx="1620720" cy="360360"/>
          </a:xfrm>
          <a:custGeom>
            <a:avLst/>
            <a:gdLst/>
            <a:ahLst/>
            <a:rect l="0" t="0" r="r" b="b"/>
            <a:pathLst>
              <a:path w="4502" h="1001">
                <a:moveTo>
                  <a:pt x="0" y="1000"/>
                </a:moveTo>
                <a:lnTo>
                  <a:pt x="4501" y="1000"/>
                </a:lnTo>
                <a:lnTo>
                  <a:pt x="4501" y="0"/>
                </a:lnTo>
                <a:lnTo>
                  <a:pt x="0" y="0"/>
                </a:lnTo>
                <a:lnTo>
                  <a:pt x="0" y="1000"/>
                </a:lnTo>
                <a:close/>
              </a:path>
            </a:pathLst>
          </a:custGeom>
          <a:solidFill>
            <a:srgbClr val="ffffff"/>
          </a:solidFill>
          <a:ln w="31680">
            <a:solidFill>
              <a:srgbClr val="ff0000"/>
            </a:solidFill>
            <a:round/>
          </a:ln>
        </p:spPr>
      </p:sp>
      <p:sp>
        <p:nvSpPr>
          <p:cNvPr id="1033" name="TextShape 3"/>
          <p:cNvSpPr txBox="1"/>
          <p:nvPr/>
        </p:nvSpPr>
        <p:spPr>
          <a:xfrm>
            <a:off x="555840" y="627012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ff0000"/>
                </a:solidFill>
                <a:latin typeface="Meiryo"/>
              </a:rPr>
              <a:t>社内限り</a:t>
            </a:r>
            <a:endParaRPr b="0" lang="en-US" sz="1400" spc="-1" strike="noStrike">
              <a:latin typeface="Times New Roman"/>
            </a:endParaRPr>
          </a:p>
        </p:txBody>
      </p:sp>
      <p:pic>
        <p:nvPicPr>
          <p:cNvPr id="1034" name="" descr=""/>
          <p:cNvPicPr/>
          <p:nvPr/>
        </p:nvPicPr>
        <p:blipFill>
          <a:blip r:embed="rId3"/>
          <a:stretch/>
        </p:blipFill>
        <p:spPr>
          <a:xfrm>
            <a:off x="11428560" y="149400"/>
            <a:ext cx="411120" cy="432360"/>
          </a:xfrm>
          <a:prstGeom prst="rect">
            <a:avLst/>
          </a:prstGeom>
          <a:ln w="0">
            <a:noFill/>
          </a:ln>
        </p:spPr>
      </p:pic>
      <p:sp>
        <p:nvSpPr>
          <p:cNvPr id="1035" name="Freeform 4"/>
          <p:cNvSpPr/>
          <p:nvPr/>
        </p:nvSpPr>
        <p:spPr>
          <a:xfrm>
            <a:off x="9806040" y="204840"/>
            <a:ext cx="1497240" cy="361800"/>
          </a:xfrm>
          <a:custGeom>
            <a:avLst/>
            <a:gdLst/>
            <a:ahLst/>
            <a:rect l="0" t="0" r="r" b="b"/>
            <a:pathLst>
              <a:path w="4159" h="1005">
                <a:moveTo>
                  <a:pt x="0" y="1004"/>
                </a:moveTo>
                <a:lnTo>
                  <a:pt x="4158" y="1004"/>
                </a:lnTo>
                <a:lnTo>
                  <a:pt x="4158" y="0"/>
                </a:lnTo>
                <a:lnTo>
                  <a:pt x="0" y="0"/>
                </a:lnTo>
                <a:lnTo>
                  <a:pt x="0" y="1004"/>
                </a:lnTo>
                <a:close/>
              </a:path>
            </a:pathLst>
          </a:custGeom>
          <a:solidFill>
            <a:srgbClr val="ffffff"/>
          </a:solidFill>
          <a:ln w="18720">
            <a:solidFill>
              <a:srgbClr val="ff0000"/>
            </a:solidFill>
            <a:round/>
          </a:ln>
        </p:spPr>
      </p:sp>
      <p:sp>
        <p:nvSpPr>
          <p:cNvPr id="1036" name="TextShape 5"/>
          <p:cNvSpPr txBox="1"/>
          <p:nvPr/>
        </p:nvSpPr>
        <p:spPr>
          <a:xfrm>
            <a:off x="9143280" y="6356520"/>
            <a:ext cx="23598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明日の笑顔を</a:t>
            </a:r>
            <a:r>
              <a:rPr b="0" lang="en-US" sz="1600" spc="-1" strike="noStrike">
                <a:solidFill>
                  <a:srgbClr val="000000"/>
                </a:solidFill>
                <a:latin typeface="UD Digi Kyokasho NPR"/>
              </a:rPr>
              <a:t> </a:t>
            </a:r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共に創る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1037" name="TextShape 6"/>
          <p:cNvSpPr txBox="1"/>
          <p:nvPr/>
        </p:nvSpPr>
        <p:spPr>
          <a:xfrm>
            <a:off x="10151280" y="262800"/>
            <a:ext cx="48240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0000"/>
                </a:solidFill>
                <a:latin typeface="Meiryo"/>
              </a:rPr>
              <a:t>秘</a:t>
            </a:r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（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1038" name="TextShape 7"/>
          <p:cNvSpPr txBox="1"/>
          <p:nvPr/>
        </p:nvSpPr>
        <p:spPr>
          <a:xfrm>
            <a:off x="10671120" y="391320"/>
            <a:ext cx="10188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700" spc="-1" strike="noStrike">
                <a:solidFill>
                  <a:srgbClr val="ff0000"/>
                </a:solidFill>
                <a:latin typeface="Meiryo"/>
              </a:rPr>
              <a:t> </a:t>
            </a:r>
            <a:endParaRPr b="0" lang="en-US" sz="700" spc="-1" strike="noStrike">
              <a:latin typeface="Times New Roman"/>
            </a:endParaRPr>
          </a:p>
        </p:txBody>
      </p:sp>
      <p:sp>
        <p:nvSpPr>
          <p:cNvPr id="1039" name="TextShape 8"/>
          <p:cNvSpPr txBox="1"/>
          <p:nvPr/>
        </p:nvSpPr>
        <p:spPr>
          <a:xfrm>
            <a:off x="10707480" y="249840"/>
            <a:ext cx="2541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0000"/>
                </a:solidFill>
                <a:latin typeface="Meiryo"/>
              </a:rPr>
              <a:t>B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040" name="TextShape 9"/>
          <p:cNvSpPr txBox="1"/>
          <p:nvPr/>
        </p:nvSpPr>
        <p:spPr>
          <a:xfrm>
            <a:off x="10925640" y="262800"/>
            <a:ext cx="24156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）</a:t>
            </a:r>
            <a:endParaRPr b="0" lang="en-US" sz="1600" spc="-1" strike="noStrike">
              <a:latin typeface="Times New Roman"/>
            </a:endParaRPr>
          </a:p>
        </p:txBody>
      </p:sp>
      <p:pic>
        <p:nvPicPr>
          <p:cNvPr id="1041" name="" descr=""/>
          <p:cNvPicPr/>
          <p:nvPr/>
        </p:nvPicPr>
        <p:blipFill>
          <a:blip r:embed="rId4"/>
          <a:stretch/>
        </p:blipFill>
        <p:spPr>
          <a:xfrm>
            <a:off x="4960800" y="6669000"/>
            <a:ext cx="2221560" cy="121680"/>
          </a:xfrm>
          <a:prstGeom prst="rect">
            <a:avLst/>
          </a:prstGeom>
          <a:ln w="0">
            <a:noFill/>
          </a:ln>
        </p:spPr>
      </p:pic>
      <p:sp>
        <p:nvSpPr>
          <p:cNvPr id="1042" name="TextShape 10"/>
          <p:cNvSpPr txBox="1"/>
          <p:nvPr/>
        </p:nvSpPr>
        <p:spPr>
          <a:xfrm>
            <a:off x="8179200" y="303480"/>
            <a:ext cx="15246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100" spc="-1" strike="noStrike">
                <a:solidFill>
                  <a:srgbClr val="000000"/>
                </a:solidFill>
                <a:latin typeface="Meiryo"/>
              </a:rPr>
              <a:t>フィールドサポート部</a:t>
            </a:r>
            <a:endParaRPr b="0" lang="en-US" sz="1100" spc="-1" strike="noStrike">
              <a:latin typeface="Times New Roman"/>
            </a:endParaRPr>
          </a:p>
        </p:txBody>
      </p:sp>
      <p:pic>
        <p:nvPicPr>
          <p:cNvPr id="1043" name="" descr=""/>
          <p:cNvPicPr/>
          <p:nvPr/>
        </p:nvPicPr>
        <p:blipFill>
          <a:blip r:embed="rId5"/>
          <a:stretch/>
        </p:blipFill>
        <p:spPr>
          <a:xfrm>
            <a:off x="1950840" y="797040"/>
            <a:ext cx="8552160" cy="4876560"/>
          </a:xfrm>
          <a:prstGeom prst="rect">
            <a:avLst/>
          </a:prstGeom>
          <a:ln w="0">
            <a:noFill/>
          </a:ln>
        </p:spPr>
      </p:pic>
      <p:sp>
        <p:nvSpPr>
          <p:cNvPr id="1044" name="TextShape 11"/>
          <p:cNvSpPr txBox="1"/>
          <p:nvPr/>
        </p:nvSpPr>
        <p:spPr>
          <a:xfrm>
            <a:off x="183600" y="160560"/>
            <a:ext cx="559116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262626"/>
                </a:solidFill>
                <a:latin typeface="MeiryoUI"/>
              </a:rPr>
              <a:t>❸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【</a:t>
            </a:r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AI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検証】（販売＋在庫）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1045" name="TextShape 12"/>
          <p:cNvSpPr txBox="1"/>
          <p:nvPr/>
        </p:nvSpPr>
        <p:spPr>
          <a:xfrm>
            <a:off x="317160" y="1279440"/>
            <a:ext cx="136872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262626"/>
                </a:solidFill>
                <a:latin typeface="Meiryo"/>
              </a:rPr>
              <a:t>[</a:t>
            </a:r>
            <a:r>
              <a:rPr b="1" lang="zh-CN" sz="1800" spc="-1" strike="noStrike">
                <a:solidFill>
                  <a:srgbClr val="262626"/>
                </a:solidFill>
                <a:latin typeface="Meiryo"/>
              </a:rPr>
              <a:t>非デ実績</a:t>
            </a:r>
            <a:r>
              <a:rPr b="1" lang="en-US" sz="1800" spc="-1" strike="noStrike">
                <a:solidFill>
                  <a:srgbClr val="262626"/>
                </a:solidFill>
                <a:latin typeface="Meiryo"/>
              </a:rPr>
              <a:t>]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046" name="TextShape 13"/>
          <p:cNvSpPr txBox="1"/>
          <p:nvPr/>
        </p:nvSpPr>
        <p:spPr>
          <a:xfrm>
            <a:off x="317160" y="1584000"/>
            <a:ext cx="127332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800" spc="-1" strike="noStrike">
                <a:solidFill>
                  <a:srgbClr val="262626"/>
                </a:solidFill>
                <a:latin typeface="Meiryo"/>
              </a:rPr>
              <a:t>・販売金額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047" name="TextShape 14"/>
          <p:cNvSpPr txBox="1"/>
          <p:nvPr/>
        </p:nvSpPr>
        <p:spPr>
          <a:xfrm>
            <a:off x="317160" y="1888560"/>
            <a:ext cx="101880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800" spc="-1" strike="noStrike">
                <a:solidFill>
                  <a:srgbClr val="262626"/>
                </a:solidFill>
                <a:latin typeface="Meiryo"/>
              </a:rPr>
              <a:t>・前年比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048" name="TextShape 15"/>
          <p:cNvSpPr txBox="1"/>
          <p:nvPr/>
        </p:nvSpPr>
        <p:spPr>
          <a:xfrm>
            <a:off x="317160" y="2193840"/>
            <a:ext cx="101880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800" spc="-1" strike="noStrike">
                <a:solidFill>
                  <a:srgbClr val="262626"/>
                </a:solidFill>
                <a:latin typeface="Meiryo"/>
              </a:rPr>
              <a:t>・欠品率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049" name="TextShape 16"/>
          <p:cNvSpPr txBox="1"/>
          <p:nvPr/>
        </p:nvSpPr>
        <p:spPr>
          <a:xfrm>
            <a:off x="317160" y="2498760"/>
            <a:ext cx="127332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800" spc="-1" strike="noStrike">
                <a:solidFill>
                  <a:srgbClr val="262626"/>
                </a:solidFill>
                <a:latin typeface="Meiryo"/>
              </a:rPr>
              <a:t>・死筋金額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050" name="TextShape 17"/>
          <p:cNvSpPr txBox="1"/>
          <p:nvPr/>
        </p:nvSpPr>
        <p:spPr>
          <a:xfrm>
            <a:off x="317160" y="2803680"/>
            <a:ext cx="127332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800" spc="-1" strike="noStrike">
                <a:solidFill>
                  <a:srgbClr val="262626"/>
                </a:solidFill>
                <a:latin typeface="Meiryo"/>
              </a:rPr>
              <a:t>・発注時間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051" name="TextShape 18"/>
          <p:cNvSpPr txBox="1"/>
          <p:nvPr/>
        </p:nvSpPr>
        <p:spPr>
          <a:xfrm>
            <a:off x="274320" y="3408480"/>
            <a:ext cx="11505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262626"/>
                </a:solidFill>
                <a:latin typeface="Meiryo"/>
              </a:rPr>
              <a:t>[AI</a:t>
            </a:r>
            <a:r>
              <a:rPr b="1" lang="zh-CN" sz="1800" spc="-1" strike="noStrike">
                <a:solidFill>
                  <a:srgbClr val="262626"/>
                </a:solidFill>
                <a:latin typeface="Meiryo"/>
              </a:rPr>
              <a:t>利用</a:t>
            </a:r>
            <a:r>
              <a:rPr b="1" lang="en-US" sz="1800" spc="-1" strike="noStrike">
                <a:solidFill>
                  <a:srgbClr val="262626"/>
                </a:solidFill>
                <a:latin typeface="Meiryo"/>
              </a:rPr>
              <a:t>]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052" name="TextShape 19"/>
          <p:cNvSpPr txBox="1"/>
          <p:nvPr/>
        </p:nvSpPr>
        <p:spPr>
          <a:xfrm>
            <a:off x="274320" y="3713400"/>
            <a:ext cx="153072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800" spc="-1" strike="noStrike">
                <a:solidFill>
                  <a:srgbClr val="262626"/>
                </a:solidFill>
                <a:latin typeface="Meiryo"/>
              </a:rPr>
              <a:t>・ｱｲﾃﾑ利用率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053" name="TextShape 20"/>
          <p:cNvSpPr txBox="1"/>
          <p:nvPr/>
        </p:nvSpPr>
        <p:spPr>
          <a:xfrm>
            <a:off x="274320" y="4018320"/>
            <a:ext cx="178848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800" spc="-1" strike="noStrike">
                <a:solidFill>
                  <a:srgbClr val="262626"/>
                </a:solidFill>
                <a:latin typeface="Meiryo"/>
              </a:rPr>
              <a:t>・</a:t>
            </a:r>
            <a:r>
              <a:rPr b="1" lang="zh-CN" sz="1800" spc="-1" strike="noStrike">
                <a:solidFill>
                  <a:srgbClr val="c00000"/>
                </a:solidFill>
                <a:latin typeface="Meiryo"/>
              </a:rPr>
              <a:t>ﾊｲﾌﾞﾘｯﾄﾞ割合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054" name="TextShape 21"/>
          <p:cNvSpPr txBox="1"/>
          <p:nvPr/>
        </p:nvSpPr>
        <p:spPr>
          <a:xfrm>
            <a:off x="274320" y="4322880"/>
            <a:ext cx="101880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800" spc="-1" strike="noStrike">
                <a:solidFill>
                  <a:srgbClr val="262626"/>
                </a:solidFill>
                <a:latin typeface="Meiryo"/>
              </a:rPr>
              <a:t>・準拠率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055" name="TextShape 22"/>
          <p:cNvSpPr txBox="1"/>
          <p:nvPr/>
        </p:nvSpPr>
        <p:spPr>
          <a:xfrm>
            <a:off x="274320" y="4628160"/>
            <a:ext cx="152784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800" spc="-1" strike="noStrike">
                <a:solidFill>
                  <a:srgbClr val="262626"/>
                </a:solidFill>
                <a:latin typeface="Meiryo"/>
              </a:rPr>
              <a:t>・実質利用率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056" name="TextShape 23"/>
          <p:cNvSpPr txBox="1"/>
          <p:nvPr/>
        </p:nvSpPr>
        <p:spPr>
          <a:xfrm>
            <a:off x="10575000" y="1454040"/>
            <a:ext cx="136872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262626"/>
                </a:solidFill>
                <a:latin typeface="Meiryo"/>
              </a:rPr>
              <a:t>[</a:t>
            </a:r>
            <a:r>
              <a:rPr b="1" lang="zh-CN" sz="1800" spc="-1" strike="noStrike">
                <a:solidFill>
                  <a:srgbClr val="262626"/>
                </a:solidFill>
                <a:latin typeface="Meiryo"/>
              </a:rPr>
              <a:t>発注時間</a:t>
            </a:r>
            <a:r>
              <a:rPr b="1" lang="en-US" sz="1800" spc="-1" strike="noStrike">
                <a:solidFill>
                  <a:srgbClr val="262626"/>
                </a:solidFill>
                <a:latin typeface="Meiryo"/>
              </a:rPr>
              <a:t>]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057" name="TextShape 24"/>
          <p:cNvSpPr txBox="1"/>
          <p:nvPr/>
        </p:nvSpPr>
        <p:spPr>
          <a:xfrm>
            <a:off x="10575000" y="1758600"/>
            <a:ext cx="5097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800" spc="-1" strike="noStrike">
                <a:solidFill>
                  <a:srgbClr val="262626"/>
                </a:solidFill>
                <a:latin typeface="Meiryo"/>
              </a:rPr>
              <a:t>発注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058" name="Line 25"/>
          <p:cNvSpPr/>
          <p:nvPr/>
        </p:nvSpPr>
        <p:spPr>
          <a:xfrm flipV="1">
            <a:off x="2237760" y="3358080"/>
            <a:ext cx="4424760" cy="13320"/>
          </a:xfrm>
          <a:prstGeom prst="line">
            <a:avLst/>
          </a:prstGeom>
          <a:ln w="252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9" name="TextShape 26"/>
          <p:cNvSpPr txBox="1"/>
          <p:nvPr/>
        </p:nvSpPr>
        <p:spPr>
          <a:xfrm>
            <a:off x="10575000" y="2063520"/>
            <a:ext cx="127332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800" spc="-1" strike="noStrike">
                <a:solidFill>
                  <a:srgbClr val="262626"/>
                </a:solidFill>
                <a:latin typeface="Meiryo"/>
              </a:rPr>
              <a:t>グループ別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Freeform 1"/>
          <p:cNvSpPr/>
          <p:nvPr/>
        </p:nvSpPr>
        <p:spPr>
          <a:xfrm>
            <a:off x="0" y="-360"/>
            <a:ext cx="12192480" cy="6858720"/>
          </a:xfrm>
          <a:custGeom>
            <a:avLst/>
            <a:gdLst/>
            <a:ahLst/>
            <a:rect l="0" t="0" r="r" b="b"/>
            <a:pathLst>
              <a:path w="33868" h="19052">
                <a:moveTo>
                  <a:pt x="0" y="19051"/>
                </a:moveTo>
                <a:lnTo>
                  <a:pt x="33867" y="19051"/>
                </a:lnTo>
                <a:lnTo>
                  <a:pt x="33867" y="0"/>
                </a:lnTo>
                <a:lnTo>
                  <a:pt x="0" y="0"/>
                </a:lnTo>
                <a:lnTo>
                  <a:pt x="0" y="190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pic>
        <p:nvPicPr>
          <p:cNvPr id="1061" name="" descr=""/>
          <p:cNvPicPr/>
          <p:nvPr/>
        </p:nvPicPr>
        <p:blipFill>
          <a:blip r:embed="rId1"/>
          <a:stretch/>
        </p:blipFill>
        <p:spPr>
          <a:xfrm>
            <a:off x="175320" y="586800"/>
            <a:ext cx="11841120" cy="209880"/>
          </a:xfrm>
          <a:prstGeom prst="rect">
            <a:avLst/>
          </a:prstGeom>
          <a:ln w="0">
            <a:noFill/>
          </a:ln>
        </p:spPr>
      </p:pic>
      <p:pic>
        <p:nvPicPr>
          <p:cNvPr id="1062" name="" descr=""/>
          <p:cNvPicPr/>
          <p:nvPr/>
        </p:nvPicPr>
        <p:blipFill>
          <a:blip r:embed="rId2"/>
          <a:stretch/>
        </p:blipFill>
        <p:spPr>
          <a:xfrm>
            <a:off x="5122080" y="6681240"/>
            <a:ext cx="1947240" cy="115560"/>
          </a:xfrm>
          <a:prstGeom prst="rect">
            <a:avLst/>
          </a:prstGeom>
          <a:ln w="0">
            <a:noFill/>
          </a:ln>
        </p:spPr>
      </p:pic>
      <p:sp>
        <p:nvSpPr>
          <p:cNvPr id="1063" name="Freeform 2"/>
          <p:cNvSpPr/>
          <p:nvPr/>
        </p:nvSpPr>
        <p:spPr>
          <a:xfrm>
            <a:off x="151560" y="6209280"/>
            <a:ext cx="1620720" cy="360360"/>
          </a:xfrm>
          <a:custGeom>
            <a:avLst/>
            <a:gdLst/>
            <a:ahLst/>
            <a:rect l="0" t="0" r="r" b="b"/>
            <a:pathLst>
              <a:path w="4502" h="1001">
                <a:moveTo>
                  <a:pt x="0" y="1000"/>
                </a:moveTo>
                <a:lnTo>
                  <a:pt x="4501" y="1000"/>
                </a:lnTo>
                <a:lnTo>
                  <a:pt x="4501" y="0"/>
                </a:lnTo>
                <a:lnTo>
                  <a:pt x="0" y="0"/>
                </a:lnTo>
                <a:lnTo>
                  <a:pt x="0" y="1000"/>
                </a:lnTo>
                <a:close/>
              </a:path>
            </a:pathLst>
          </a:custGeom>
          <a:solidFill>
            <a:srgbClr val="ffffff"/>
          </a:solidFill>
          <a:ln w="31680">
            <a:solidFill>
              <a:srgbClr val="ff0000"/>
            </a:solidFill>
            <a:round/>
          </a:ln>
        </p:spPr>
      </p:sp>
      <p:sp>
        <p:nvSpPr>
          <p:cNvPr id="1064" name="TextShape 3"/>
          <p:cNvSpPr txBox="1"/>
          <p:nvPr/>
        </p:nvSpPr>
        <p:spPr>
          <a:xfrm>
            <a:off x="555840" y="627012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ff0000"/>
                </a:solidFill>
                <a:latin typeface="Meiryo"/>
              </a:rPr>
              <a:t>社内限り</a:t>
            </a:r>
            <a:endParaRPr b="0" lang="en-US" sz="1400" spc="-1" strike="noStrike">
              <a:latin typeface="Times New Roman"/>
            </a:endParaRPr>
          </a:p>
        </p:txBody>
      </p:sp>
      <p:pic>
        <p:nvPicPr>
          <p:cNvPr id="1065" name="" descr=""/>
          <p:cNvPicPr/>
          <p:nvPr/>
        </p:nvPicPr>
        <p:blipFill>
          <a:blip r:embed="rId3"/>
          <a:stretch/>
        </p:blipFill>
        <p:spPr>
          <a:xfrm>
            <a:off x="11428560" y="149400"/>
            <a:ext cx="411120" cy="432360"/>
          </a:xfrm>
          <a:prstGeom prst="rect">
            <a:avLst/>
          </a:prstGeom>
          <a:ln w="0">
            <a:noFill/>
          </a:ln>
        </p:spPr>
      </p:pic>
      <p:sp>
        <p:nvSpPr>
          <p:cNvPr id="1066" name="Freeform 4"/>
          <p:cNvSpPr/>
          <p:nvPr/>
        </p:nvSpPr>
        <p:spPr>
          <a:xfrm>
            <a:off x="9806040" y="204840"/>
            <a:ext cx="1497240" cy="361800"/>
          </a:xfrm>
          <a:custGeom>
            <a:avLst/>
            <a:gdLst/>
            <a:ahLst/>
            <a:rect l="0" t="0" r="r" b="b"/>
            <a:pathLst>
              <a:path w="4159" h="1005">
                <a:moveTo>
                  <a:pt x="0" y="1004"/>
                </a:moveTo>
                <a:lnTo>
                  <a:pt x="4158" y="1004"/>
                </a:lnTo>
                <a:lnTo>
                  <a:pt x="4158" y="0"/>
                </a:lnTo>
                <a:lnTo>
                  <a:pt x="0" y="0"/>
                </a:lnTo>
                <a:lnTo>
                  <a:pt x="0" y="1004"/>
                </a:lnTo>
                <a:close/>
              </a:path>
            </a:pathLst>
          </a:custGeom>
          <a:solidFill>
            <a:srgbClr val="ffffff"/>
          </a:solidFill>
          <a:ln w="18720">
            <a:solidFill>
              <a:srgbClr val="ff0000"/>
            </a:solidFill>
            <a:round/>
          </a:ln>
        </p:spPr>
      </p:sp>
      <p:sp>
        <p:nvSpPr>
          <p:cNvPr id="1067" name="TextShape 5"/>
          <p:cNvSpPr txBox="1"/>
          <p:nvPr/>
        </p:nvSpPr>
        <p:spPr>
          <a:xfrm>
            <a:off x="9143280" y="6356520"/>
            <a:ext cx="23598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明日の笑顔を</a:t>
            </a:r>
            <a:r>
              <a:rPr b="0" lang="en-US" sz="1600" spc="-1" strike="noStrike">
                <a:solidFill>
                  <a:srgbClr val="000000"/>
                </a:solidFill>
                <a:latin typeface="UD Digi Kyokasho NPR"/>
              </a:rPr>
              <a:t> </a:t>
            </a:r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共に創る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1068" name="TextShape 6"/>
          <p:cNvSpPr txBox="1"/>
          <p:nvPr/>
        </p:nvSpPr>
        <p:spPr>
          <a:xfrm>
            <a:off x="10151280" y="262800"/>
            <a:ext cx="48240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0000"/>
                </a:solidFill>
                <a:latin typeface="Meiryo"/>
              </a:rPr>
              <a:t>秘</a:t>
            </a:r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（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1069" name="TextShape 7"/>
          <p:cNvSpPr txBox="1"/>
          <p:nvPr/>
        </p:nvSpPr>
        <p:spPr>
          <a:xfrm>
            <a:off x="10671120" y="391320"/>
            <a:ext cx="10188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700" spc="-1" strike="noStrike">
                <a:solidFill>
                  <a:srgbClr val="ff0000"/>
                </a:solidFill>
                <a:latin typeface="Meiryo"/>
              </a:rPr>
              <a:t> </a:t>
            </a:r>
            <a:endParaRPr b="0" lang="en-US" sz="700" spc="-1" strike="noStrike">
              <a:latin typeface="Times New Roman"/>
            </a:endParaRPr>
          </a:p>
        </p:txBody>
      </p:sp>
      <p:sp>
        <p:nvSpPr>
          <p:cNvPr id="1070" name="TextShape 8"/>
          <p:cNvSpPr txBox="1"/>
          <p:nvPr/>
        </p:nvSpPr>
        <p:spPr>
          <a:xfrm>
            <a:off x="10707480" y="249840"/>
            <a:ext cx="2541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0000"/>
                </a:solidFill>
                <a:latin typeface="Meiryo"/>
              </a:rPr>
              <a:t>B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071" name="TextShape 9"/>
          <p:cNvSpPr txBox="1"/>
          <p:nvPr/>
        </p:nvSpPr>
        <p:spPr>
          <a:xfrm>
            <a:off x="10925640" y="262800"/>
            <a:ext cx="24156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）</a:t>
            </a:r>
            <a:endParaRPr b="0" lang="en-US" sz="1600" spc="-1" strike="noStrike">
              <a:latin typeface="Times New Roman"/>
            </a:endParaRPr>
          </a:p>
        </p:txBody>
      </p:sp>
      <p:pic>
        <p:nvPicPr>
          <p:cNvPr id="1072" name="" descr=""/>
          <p:cNvPicPr/>
          <p:nvPr/>
        </p:nvPicPr>
        <p:blipFill>
          <a:blip r:embed="rId4"/>
          <a:stretch/>
        </p:blipFill>
        <p:spPr>
          <a:xfrm>
            <a:off x="4960800" y="6669000"/>
            <a:ext cx="2221560" cy="121680"/>
          </a:xfrm>
          <a:prstGeom prst="rect">
            <a:avLst/>
          </a:prstGeom>
          <a:ln w="0">
            <a:noFill/>
          </a:ln>
        </p:spPr>
      </p:pic>
      <p:pic>
        <p:nvPicPr>
          <p:cNvPr id="1073" name="" descr=""/>
          <p:cNvPicPr/>
          <p:nvPr/>
        </p:nvPicPr>
        <p:blipFill>
          <a:blip r:embed="rId5"/>
          <a:stretch/>
        </p:blipFill>
        <p:spPr>
          <a:xfrm>
            <a:off x="6469560" y="737640"/>
            <a:ext cx="3887280" cy="4660200"/>
          </a:xfrm>
          <a:prstGeom prst="rect">
            <a:avLst/>
          </a:prstGeom>
          <a:ln w="0">
            <a:noFill/>
          </a:ln>
        </p:spPr>
      </p:pic>
      <p:sp>
        <p:nvSpPr>
          <p:cNvPr id="1074" name="TextShape 10"/>
          <p:cNvSpPr txBox="1"/>
          <p:nvPr/>
        </p:nvSpPr>
        <p:spPr>
          <a:xfrm>
            <a:off x="8179200" y="303480"/>
            <a:ext cx="15246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100" spc="-1" strike="noStrike">
                <a:solidFill>
                  <a:srgbClr val="000000"/>
                </a:solidFill>
                <a:latin typeface="Meiryo"/>
              </a:rPr>
              <a:t>フィールドサポート部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1075" name="Freeform 11"/>
          <p:cNvSpPr/>
          <p:nvPr/>
        </p:nvSpPr>
        <p:spPr>
          <a:xfrm>
            <a:off x="8604360" y="2025360"/>
            <a:ext cx="3021120" cy="704520"/>
          </a:xfrm>
          <a:custGeom>
            <a:avLst/>
            <a:gdLst/>
            <a:ahLst/>
            <a:rect l="0" t="0" r="r" b="b"/>
            <a:pathLst>
              <a:path w="8392" h="1957">
                <a:moveTo>
                  <a:pt x="0" y="1956"/>
                </a:moveTo>
                <a:lnTo>
                  <a:pt x="8391" y="1956"/>
                </a:lnTo>
                <a:lnTo>
                  <a:pt x="8391" y="0"/>
                </a:lnTo>
                <a:lnTo>
                  <a:pt x="0" y="0"/>
                </a:lnTo>
                <a:lnTo>
                  <a:pt x="0" y="1956"/>
                </a:lnTo>
                <a:close/>
              </a:path>
            </a:pathLst>
          </a:custGeom>
          <a:solidFill>
            <a:srgbClr val="c6d9f1">
              <a:alpha val="70000"/>
            </a:srgbClr>
          </a:solidFill>
          <a:ln w="0">
            <a:noFill/>
          </a:ln>
        </p:spPr>
      </p:sp>
      <p:sp>
        <p:nvSpPr>
          <p:cNvPr id="1076" name="TextShape 12"/>
          <p:cNvSpPr txBox="1"/>
          <p:nvPr/>
        </p:nvSpPr>
        <p:spPr>
          <a:xfrm>
            <a:off x="183600" y="160560"/>
            <a:ext cx="65113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３．格納場所（変更なし）・過去分</a:t>
            </a:r>
            <a:endParaRPr b="0" lang="en-US" sz="2800" spc="-1" strike="noStrike">
              <a:latin typeface="Times New Roman"/>
            </a:endParaRPr>
          </a:p>
        </p:txBody>
      </p:sp>
      <p:pic>
        <p:nvPicPr>
          <p:cNvPr id="1077" name="" descr=""/>
          <p:cNvPicPr/>
          <p:nvPr/>
        </p:nvPicPr>
        <p:blipFill>
          <a:blip r:embed="rId6"/>
          <a:stretch/>
        </p:blipFill>
        <p:spPr>
          <a:xfrm>
            <a:off x="143280" y="775800"/>
            <a:ext cx="5464800" cy="5041080"/>
          </a:xfrm>
          <a:prstGeom prst="rect">
            <a:avLst/>
          </a:prstGeom>
          <a:ln w="0">
            <a:noFill/>
          </a:ln>
        </p:spPr>
      </p:pic>
      <p:sp>
        <p:nvSpPr>
          <p:cNvPr id="1078" name="TextShape 13"/>
          <p:cNvSpPr txBox="1"/>
          <p:nvPr/>
        </p:nvSpPr>
        <p:spPr>
          <a:xfrm>
            <a:off x="8726400" y="2191680"/>
            <a:ext cx="31024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400" spc="-1" strike="noStrike">
                <a:solidFill>
                  <a:srgbClr val="000000"/>
                </a:solidFill>
                <a:latin typeface="MeiryoUI"/>
              </a:rPr>
              <a:t>過去</a:t>
            </a:r>
            <a:r>
              <a:rPr b="0" lang="en-US" sz="2400" spc="-1" strike="noStrike">
                <a:solidFill>
                  <a:srgbClr val="000000"/>
                </a:solidFill>
                <a:latin typeface="Meiryo UI"/>
              </a:rPr>
              <a:t>13</a:t>
            </a:r>
            <a:r>
              <a:rPr b="0" lang="zh-CN" sz="2400" spc="-1" strike="noStrike">
                <a:solidFill>
                  <a:srgbClr val="000000"/>
                </a:solidFill>
                <a:latin typeface="MeiryoUI"/>
              </a:rPr>
              <a:t>ヵ月分保管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079" name="TextShape 14"/>
          <p:cNvSpPr txBox="1"/>
          <p:nvPr/>
        </p:nvSpPr>
        <p:spPr>
          <a:xfrm>
            <a:off x="1718280" y="915840"/>
            <a:ext cx="149292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DO</a:t>
            </a:r>
            <a:r>
              <a:rPr b="1" lang="zh-CN" sz="1400" spc="-1" strike="noStrike">
                <a:solidFill>
                  <a:srgbClr val="262626"/>
                </a:solidFill>
                <a:latin typeface="MeiryoUI"/>
              </a:rPr>
              <a:t>番号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 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DO</a:t>
            </a:r>
            <a:r>
              <a:rPr b="1" lang="zh-CN" sz="1400" spc="-1" strike="noStrike">
                <a:solidFill>
                  <a:srgbClr val="262626"/>
                </a:solidFill>
                <a:latin typeface="MeiryoUI"/>
              </a:rPr>
              <a:t>名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080" name="TextShape 15"/>
          <p:cNvSpPr txBox="1"/>
          <p:nvPr/>
        </p:nvSpPr>
        <p:spPr>
          <a:xfrm>
            <a:off x="1135800" y="3805560"/>
            <a:ext cx="547308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262626"/>
                </a:solidFill>
                <a:latin typeface="MeiryoUI"/>
              </a:rPr>
              <a:t>【秘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B</a:t>
            </a:r>
            <a:r>
              <a:rPr b="1" lang="zh-CN" sz="1400" spc="-1" strike="noStrike">
                <a:solidFill>
                  <a:srgbClr val="262626"/>
                </a:solidFill>
                <a:latin typeface="MeiryoUI"/>
              </a:rPr>
              <a:t>関係者限】</a:t>
            </a:r>
            <a:r>
              <a:rPr b="1" lang="en-US" sz="1400" spc="-1" strike="noStrike">
                <a:solidFill>
                  <a:srgbClr val="c00000"/>
                </a:solidFill>
                <a:latin typeface="Meiryo UI"/>
              </a:rPr>
              <a:t>YY</a:t>
            </a:r>
            <a:r>
              <a:rPr b="1" lang="zh-CN" sz="1400" spc="-1" strike="noStrike">
                <a:solidFill>
                  <a:srgbClr val="c00000"/>
                </a:solidFill>
                <a:latin typeface="MeiryoUI"/>
              </a:rPr>
              <a:t>年</a:t>
            </a:r>
            <a:r>
              <a:rPr b="1" lang="en-US" sz="1400" spc="-1" strike="noStrike">
                <a:solidFill>
                  <a:srgbClr val="c00000"/>
                </a:solidFill>
                <a:latin typeface="Meiryo UI"/>
              </a:rPr>
              <a:t>MM</a:t>
            </a:r>
            <a:r>
              <a:rPr b="1" lang="zh-CN" sz="1400" spc="-1" strike="noStrike">
                <a:solidFill>
                  <a:srgbClr val="c00000"/>
                </a:solidFill>
                <a:latin typeface="MeiryoUI"/>
              </a:rPr>
              <a:t>月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DO</a:t>
            </a:r>
            <a:r>
              <a:rPr b="1" lang="zh-CN" sz="1400" spc="-1" strike="noStrike">
                <a:solidFill>
                  <a:srgbClr val="262626"/>
                </a:solidFill>
                <a:latin typeface="MeiryoUI"/>
              </a:rPr>
              <a:t>番号月間資料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(DO</a:t>
            </a:r>
            <a:r>
              <a:rPr b="1" lang="zh-CN" sz="1400" spc="-1" strike="noStrike">
                <a:solidFill>
                  <a:srgbClr val="262626"/>
                </a:solidFill>
                <a:latin typeface="MeiryoUI"/>
              </a:rPr>
              <a:t>名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)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081" name="TextShape 16"/>
          <p:cNvSpPr txBox="1"/>
          <p:nvPr/>
        </p:nvSpPr>
        <p:spPr>
          <a:xfrm>
            <a:off x="1135800" y="4313520"/>
            <a:ext cx="564012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262626"/>
                </a:solidFill>
                <a:latin typeface="MeiryoUI"/>
              </a:rPr>
              <a:t>【秘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B</a:t>
            </a:r>
            <a:r>
              <a:rPr b="1" lang="zh-CN" sz="1400" spc="-1" strike="noStrike">
                <a:solidFill>
                  <a:srgbClr val="262626"/>
                </a:solidFill>
                <a:latin typeface="MeiryoUI"/>
              </a:rPr>
              <a:t>関係者限】</a:t>
            </a:r>
            <a:r>
              <a:rPr b="1" lang="en-US" sz="1400" spc="-1" strike="noStrike">
                <a:solidFill>
                  <a:srgbClr val="c00000"/>
                </a:solidFill>
                <a:latin typeface="Meiryo UI"/>
              </a:rPr>
              <a:t>YYMMDD</a:t>
            </a:r>
            <a:r>
              <a:rPr b="1" lang="zh-CN" sz="1400" spc="-1" strike="noStrike">
                <a:solidFill>
                  <a:srgbClr val="c00000"/>
                </a:solidFill>
                <a:latin typeface="MeiryoUI"/>
              </a:rPr>
              <a:t>週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 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DO</a:t>
            </a:r>
            <a:r>
              <a:rPr b="1" lang="zh-CN" sz="1400" spc="-1" strike="noStrike">
                <a:solidFill>
                  <a:srgbClr val="262626"/>
                </a:solidFill>
                <a:latin typeface="MeiryoUI"/>
              </a:rPr>
              <a:t>番号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 </a:t>
            </a:r>
            <a:r>
              <a:rPr b="1" lang="zh-CN" sz="1400" spc="-1" strike="noStrike">
                <a:solidFill>
                  <a:srgbClr val="262626"/>
                </a:solidFill>
                <a:latin typeface="MeiryoUI"/>
              </a:rPr>
              <a:t>週間資料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(DO</a:t>
            </a:r>
            <a:r>
              <a:rPr b="1" lang="zh-CN" sz="1400" spc="-1" strike="noStrike">
                <a:solidFill>
                  <a:srgbClr val="262626"/>
                </a:solidFill>
                <a:latin typeface="MeiryoUI"/>
              </a:rPr>
              <a:t>名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)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082" name="TextShape 17"/>
          <p:cNvSpPr txBox="1"/>
          <p:nvPr/>
        </p:nvSpPr>
        <p:spPr>
          <a:xfrm>
            <a:off x="1135800" y="4895280"/>
            <a:ext cx="596520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262626"/>
                </a:solidFill>
                <a:latin typeface="MeiryoUI"/>
              </a:rPr>
              <a:t>【秘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B</a:t>
            </a:r>
            <a:r>
              <a:rPr b="1" lang="zh-CN" sz="1400" spc="-1" strike="noStrike">
                <a:solidFill>
                  <a:srgbClr val="262626"/>
                </a:solidFill>
                <a:latin typeface="MeiryoUI"/>
              </a:rPr>
              <a:t>関係者限】</a:t>
            </a:r>
            <a:r>
              <a:rPr b="1" lang="en-US" sz="1400" spc="-1" strike="noStrike">
                <a:solidFill>
                  <a:srgbClr val="c00000"/>
                </a:solidFill>
                <a:latin typeface="Meiryo UI"/>
              </a:rPr>
              <a:t>YYMMDD</a:t>
            </a:r>
            <a:r>
              <a:rPr b="1" lang="zh-CN" sz="1400" spc="-1" strike="noStrike">
                <a:solidFill>
                  <a:srgbClr val="c00000"/>
                </a:solidFill>
                <a:latin typeface="MeiryoUI"/>
              </a:rPr>
              <a:t>週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 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DO</a:t>
            </a:r>
            <a:r>
              <a:rPr b="1" lang="zh-CN" sz="1400" spc="-1" strike="noStrike">
                <a:solidFill>
                  <a:srgbClr val="262626"/>
                </a:solidFill>
                <a:latin typeface="MeiryoUI"/>
              </a:rPr>
              <a:t>番号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 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AI</a:t>
            </a:r>
            <a:r>
              <a:rPr b="1" lang="zh-CN" sz="1400" spc="-1" strike="noStrike">
                <a:solidFill>
                  <a:srgbClr val="262626"/>
                </a:solidFill>
                <a:latin typeface="MeiryoUI"/>
              </a:rPr>
              <a:t>検証資料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(DO</a:t>
            </a:r>
            <a:r>
              <a:rPr b="1" lang="zh-CN" sz="1400" spc="-1" strike="noStrike">
                <a:solidFill>
                  <a:srgbClr val="262626"/>
                </a:solidFill>
                <a:latin typeface="MeiryoUI"/>
              </a:rPr>
              <a:t>名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)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083" name="TextShape 18"/>
          <p:cNvSpPr txBox="1"/>
          <p:nvPr/>
        </p:nvSpPr>
        <p:spPr>
          <a:xfrm>
            <a:off x="1135800" y="5313960"/>
            <a:ext cx="38966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262626"/>
                </a:solidFill>
                <a:latin typeface="MeiryoUI"/>
              </a:rPr>
              <a:t>【秘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B</a:t>
            </a:r>
            <a:r>
              <a:rPr b="1" lang="zh-CN" sz="1400" spc="-1" strike="noStrike">
                <a:solidFill>
                  <a:srgbClr val="262626"/>
                </a:solidFill>
                <a:latin typeface="MeiryoUI"/>
              </a:rPr>
              <a:t>関係者限】</a:t>
            </a:r>
            <a:r>
              <a:rPr b="1" lang="en-US" sz="1400" spc="-1" strike="noStrike">
                <a:solidFill>
                  <a:srgbClr val="c00000"/>
                </a:solidFill>
                <a:latin typeface="Meiryo UI"/>
              </a:rPr>
              <a:t>YYMMDD</a:t>
            </a:r>
            <a:r>
              <a:rPr b="1" lang="zh-CN" sz="1400" spc="-1" strike="noStrike">
                <a:solidFill>
                  <a:srgbClr val="c00000"/>
                </a:solidFill>
                <a:latin typeface="MeiryoUI"/>
              </a:rPr>
              <a:t>週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 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DO</a:t>
            </a:r>
            <a:r>
              <a:rPr b="1" lang="zh-CN" sz="1400" spc="-1" strike="noStrike">
                <a:solidFill>
                  <a:srgbClr val="262626"/>
                </a:solidFill>
                <a:latin typeface="MeiryoUI"/>
              </a:rPr>
              <a:t>番号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084" name="Freeform 19"/>
          <p:cNvSpPr/>
          <p:nvPr/>
        </p:nvSpPr>
        <p:spPr>
          <a:xfrm>
            <a:off x="3143880" y="1728000"/>
            <a:ext cx="2827800" cy="1001880"/>
          </a:xfrm>
          <a:custGeom>
            <a:avLst/>
            <a:gdLst/>
            <a:ahLst/>
            <a:rect l="0" t="0" r="r" b="b"/>
            <a:pathLst>
              <a:path w="7855" h="2783">
                <a:moveTo>
                  <a:pt x="0" y="2782"/>
                </a:moveTo>
                <a:lnTo>
                  <a:pt x="7854" y="2782"/>
                </a:lnTo>
                <a:lnTo>
                  <a:pt x="7854" y="0"/>
                </a:lnTo>
                <a:lnTo>
                  <a:pt x="0" y="0"/>
                </a:lnTo>
                <a:lnTo>
                  <a:pt x="0" y="2782"/>
                </a:lnTo>
                <a:close/>
              </a:path>
            </a:pathLst>
          </a:custGeom>
          <a:solidFill>
            <a:srgbClr val="c6d9f1">
              <a:alpha val="70000"/>
            </a:srgbClr>
          </a:solidFill>
          <a:ln w="0">
            <a:noFill/>
          </a:ln>
        </p:spPr>
      </p:sp>
      <p:sp>
        <p:nvSpPr>
          <p:cNvPr id="1085" name="TextShape 20"/>
          <p:cNvSpPr txBox="1"/>
          <p:nvPr/>
        </p:nvSpPr>
        <p:spPr>
          <a:xfrm>
            <a:off x="2484360" y="5557680"/>
            <a:ext cx="296388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262626"/>
                </a:solidFill>
                <a:latin typeface="MeiryoUI"/>
              </a:rPr>
              <a:t>中間試算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&amp;</a:t>
            </a:r>
            <a:r>
              <a:rPr b="1" lang="zh-CN" sz="1400" spc="-1" strike="noStrike">
                <a:solidFill>
                  <a:srgbClr val="262626"/>
                </a:solidFill>
                <a:latin typeface="MeiryoUI"/>
              </a:rPr>
              <a:t>次月予算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(DO</a:t>
            </a:r>
            <a:r>
              <a:rPr b="1" lang="zh-CN" sz="1400" spc="-1" strike="noStrike">
                <a:solidFill>
                  <a:srgbClr val="262626"/>
                </a:solidFill>
                <a:latin typeface="MeiryoUI"/>
              </a:rPr>
              <a:t>番号</a:t>
            </a:r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)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086" name="TextShape 21"/>
          <p:cNvSpPr txBox="1"/>
          <p:nvPr/>
        </p:nvSpPr>
        <p:spPr>
          <a:xfrm>
            <a:off x="3649680" y="1800720"/>
            <a:ext cx="162828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800" spc="-1" strike="noStrike">
                <a:solidFill>
                  <a:srgbClr val="c00000"/>
                </a:solidFill>
                <a:latin typeface="MeiryoUI"/>
              </a:rPr>
              <a:t>日付付き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1087" name="TextShape 22"/>
          <p:cNvSpPr txBox="1"/>
          <p:nvPr/>
        </p:nvSpPr>
        <p:spPr>
          <a:xfrm>
            <a:off x="5177160" y="1848960"/>
            <a:ext cx="3556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400" spc="-1" strike="noStrike">
                <a:solidFill>
                  <a:srgbClr val="000000"/>
                </a:solidFill>
                <a:latin typeface="MeiryoUI"/>
              </a:rPr>
              <a:t>の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088" name="Freeform 23"/>
          <p:cNvSpPr/>
          <p:nvPr/>
        </p:nvSpPr>
        <p:spPr>
          <a:xfrm>
            <a:off x="8037360" y="898920"/>
            <a:ext cx="1058400" cy="433440"/>
          </a:xfrm>
          <a:custGeom>
            <a:avLst/>
            <a:gdLst/>
            <a:ahLst/>
            <a:rect l="0" t="0" r="r" b="b"/>
            <a:pathLst>
              <a:path w="2940" h="1204">
                <a:moveTo>
                  <a:pt x="0" y="1203"/>
                </a:moveTo>
                <a:lnTo>
                  <a:pt x="2939" y="1203"/>
                </a:lnTo>
                <a:lnTo>
                  <a:pt x="2939" y="0"/>
                </a:lnTo>
                <a:lnTo>
                  <a:pt x="0" y="0"/>
                </a:lnTo>
                <a:lnTo>
                  <a:pt x="0" y="120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089" name="TextShape 24"/>
          <p:cNvSpPr txBox="1"/>
          <p:nvPr/>
        </p:nvSpPr>
        <p:spPr>
          <a:xfrm>
            <a:off x="3382920" y="2286360"/>
            <a:ext cx="28414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400" spc="-1" strike="noStrike">
                <a:solidFill>
                  <a:srgbClr val="000000"/>
                </a:solidFill>
                <a:latin typeface="MeiryoUI"/>
              </a:rPr>
              <a:t>ファイル名で保存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090" name="Freeform 25"/>
          <p:cNvSpPr/>
          <p:nvPr/>
        </p:nvSpPr>
        <p:spPr>
          <a:xfrm>
            <a:off x="9825120" y="2675880"/>
            <a:ext cx="579600" cy="392400"/>
          </a:xfrm>
          <a:custGeom>
            <a:avLst/>
            <a:gdLst/>
            <a:ahLst/>
            <a:rect l="0" t="0" r="r" b="b"/>
            <a:pathLst>
              <a:path w="1610" h="1090">
                <a:moveTo>
                  <a:pt x="1609" y="0"/>
                </a:moveTo>
                <a:lnTo>
                  <a:pt x="804" y="1089"/>
                </a:lnTo>
                <a:lnTo>
                  <a:pt x="0" y="0"/>
                </a:lnTo>
                <a:lnTo>
                  <a:pt x="1609" y="0"/>
                </a:lnTo>
                <a:close/>
              </a:path>
            </a:pathLst>
          </a:custGeom>
          <a:solidFill>
            <a:srgbClr val="00b050"/>
          </a:solidFill>
          <a:ln w="0">
            <a:noFill/>
          </a:ln>
        </p:spPr>
      </p:sp>
      <p:sp>
        <p:nvSpPr>
          <p:cNvPr id="1091" name="TextShape 26"/>
          <p:cNvSpPr txBox="1"/>
          <p:nvPr/>
        </p:nvSpPr>
        <p:spPr>
          <a:xfrm>
            <a:off x="8014680" y="1037880"/>
            <a:ext cx="1258560" cy="20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200" spc="-1" strike="noStrike">
                <a:solidFill>
                  <a:srgbClr val="262626"/>
                </a:solidFill>
                <a:latin typeface="Meiryo UI"/>
              </a:rPr>
              <a:t>DO</a:t>
            </a:r>
            <a:r>
              <a:rPr b="1" lang="zh-CN" sz="1200" spc="-1" strike="noStrike">
                <a:solidFill>
                  <a:srgbClr val="262626"/>
                </a:solidFill>
                <a:latin typeface="MeiryoUI"/>
              </a:rPr>
              <a:t>番号</a:t>
            </a:r>
            <a:r>
              <a:rPr b="1" lang="en-US" sz="1200" spc="-1" strike="noStrike">
                <a:solidFill>
                  <a:srgbClr val="262626"/>
                </a:solidFill>
                <a:latin typeface="Meiryo UI"/>
              </a:rPr>
              <a:t>DO</a:t>
            </a:r>
            <a:r>
              <a:rPr b="1" lang="zh-CN" sz="1200" spc="-1" strike="noStrike">
                <a:solidFill>
                  <a:srgbClr val="262626"/>
                </a:solidFill>
                <a:latin typeface="MeiryoUI"/>
              </a:rPr>
              <a:t>名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092" name="TextShape 27"/>
          <p:cNvSpPr txBox="1"/>
          <p:nvPr/>
        </p:nvSpPr>
        <p:spPr>
          <a:xfrm>
            <a:off x="8367120" y="3544920"/>
            <a:ext cx="406980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ff0000"/>
                </a:solidFill>
                <a:latin typeface="MeiryoUI"/>
              </a:rPr>
              <a:t>旧パスワードの再配布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1093" name="TextShape 28"/>
          <p:cNvSpPr txBox="1"/>
          <p:nvPr/>
        </p:nvSpPr>
        <p:spPr>
          <a:xfrm>
            <a:off x="9219240" y="4032360"/>
            <a:ext cx="203544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ff0000"/>
                </a:solidFill>
                <a:latin typeface="MeiryoUI"/>
              </a:rPr>
              <a:t>対応は不可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1094" name="TextShape 29"/>
          <p:cNvSpPr txBox="1"/>
          <p:nvPr/>
        </p:nvSpPr>
        <p:spPr>
          <a:xfrm>
            <a:off x="9395640" y="4648320"/>
            <a:ext cx="26982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600" spc="-1" strike="noStrike">
                <a:solidFill>
                  <a:srgbClr val="262626"/>
                </a:solidFill>
                <a:latin typeface="MeiryoUI"/>
              </a:rPr>
              <a:t>※</a:t>
            </a:r>
            <a:r>
              <a:rPr b="1" lang="zh-CN" sz="1600" spc="-1" strike="noStrike">
                <a:solidFill>
                  <a:srgbClr val="262626"/>
                </a:solidFill>
                <a:latin typeface="MeiryoUI"/>
              </a:rPr>
              <a:t>必ず前任</a:t>
            </a:r>
            <a:r>
              <a:rPr b="1" lang="en-US" sz="1600" spc="-1" strike="noStrike">
                <a:solidFill>
                  <a:srgbClr val="262626"/>
                </a:solidFill>
                <a:latin typeface="Meiryo UI"/>
              </a:rPr>
              <a:t>OFC</a:t>
            </a:r>
            <a:r>
              <a:rPr b="1" lang="zh-CN" sz="1600" spc="-1" strike="noStrike">
                <a:solidFill>
                  <a:srgbClr val="262626"/>
                </a:solidFill>
                <a:latin typeface="MeiryoUI"/>
              </a:rPr>
              <a:t>さんから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1095" name="Freeform 30"/>
          <p:cNvSpPr/>
          <p:nvPr/>
        </p:nvSpPr>
        <p:spPr>
          <a:xfrm>
            <a:off x="1902600" y="2351520"/>
            <a:ext cx="6706800" cy="1076400"/>
          </a:xfrm>
          <a:custGeom>
            <a:avLst/>
            <a:gdLst/>
            <a:ahLst/>
            <a:rect l="0" t="0" r="r" b="b"/>
            <a:pathLst>
              <a:path w="18630" h="2990">
                <a:moveTo>
                  <a:pt x="18607" y="0"/>
                </a:moveTo>
                <a:lnTo>
                  <a:pt x="360" y="2703"/>
                </a:lnTo>
                <a:lnTo>
                  <a:pt x="382" y="2852"/>
                </a:lnTo>
                <a:lnTo>
                  <a:pt x="18629" y="148"/>
                </a:lnTo>
                <a:lnTo>
                  <a:pt x="18607" y="0"/>
                </a:lnTo>
                <a:moveTo>
                  <a:pt x="412" y="2544"/>
                </a:moveTo>
                <a:lnTo>
                  <a:pt x="0" y="2832"/>
                </a:lnTo>
                <a:lnTo>
                  <a:pt x="478" y="2989"/>
                </a:lnTo>
                <a:lnTo>
                  <a:pt x="412" y="2544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pic>
        <p:nvPicPr>
          <p:cNvPr id="1096" name="" descr=""/>
          <p:cNvPicPr/>
          <p:nvPr/>
        </p:nvPicPr>
        <p:blipFill>
          <a:blip r:embed="rId7"/>
          <a:stretch/>
        </p:blipFill>
        <p:spPr>
          <a:xfrm>
            <a:off x="781920" y="3171240"/>
            <a:ext cx="1264680" cy="449280"/>
          </a:xfrm>
          <a:prstGeom prst="rect">
            <a:avLst/>
          </a:prstGeom>
          <a:ln w="0">
            <a:noFill/>
          </a:ln>
        </p:spPr>
      </p:pic>
      <p:sp>
        <p:nvSpPr>
          <p:cNvPr id="1097" name="Freeform 31"/>
          <p:cNvSpPr/>
          <p:nvPr/>
        </p:nvSpPr>
        <p:spPr>
          <a:xfrm>
            <a:off x="820440" y="3210120"/>
            <a:ext cx="1137600" cy="322200"/>
          </a:xfrm>
          <a:custGeom>
            <a:avLst/>
            <a:gdLst/>
            <a:ahLst/>
            <a:rect l="0" t="0" r="r" b="b"/>
            <a:pathLst>
              <a:path w="3160" h="895">
                <a:moveTo>
                  <a:pt x="0" y="894"/>
                </a:moveTo>
                <a:lnTo>
                  <a:pt x="3159" y="894"/>
                </a:lnTo>
                <a:lnTo>
                  <a:pt x="3159" y="0"/>
                </a:lnTo>
                <a:lnTo>
                  <a:pt x="0" y="0"/>
                </a:lnTo>
                <a:lnTo>
                  <a:pt x="0" y="894"/>
                </a:lnTo>
                <a:close/>
              </a:path>
            </a:pathLst>
          </a:custGeom>
          <a:noFill/>
          <a:ln w="25200">
            <a:solidFill>
              <a:srgbClr val="ff0000"/>
            </a:solidFill>
            <a:custDash>
              <a:ds d="301429" sp="100000"/>
            </a:custDash>
            <a:round/>
          </a:ln>
        </p:spPr>
      </p:sp>
      <p:sp>
        <p:nvSpPr>
          <p:cNvPr id="1098" name="TextShape 32"/>
          <p:cNvSpPr txBox="1"/>
          <p:nvPr/>
        </p:nvSpPr>
        <p:spPr>
          <a:xfrm>
            <a:off x="9548280" y="4922640"/>
            <a:ext cx="29725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262626"/>
                </a:solidFill>
                <a:latin typeface="MeiryoUI"/>
              </a:rPr>
              <a:t>引き継ぐようにお願いします</a:t>
            </a:r>
            <a:endParaRPr b="0" lang="en-US" sz="16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Freeform 1"/>
          <p:cNvSpPr/>
          <p:nvPr/>
        </p:nvSpPr>
        <p:spPr>
          <a:xfrm>
            <a:off x="0" y="-360"/>
            <a:ext cx="12192480" cy="6858720"/>
          </a:xfrm>
          <a:custGeom>
            <a:avLst/>
            <a:gdLst/>
            <a:ahLst/>
            <a:rect l="0" t="0" r="r" b="b"/>
            <a:pathLst>
              <a:path w="33868" h="19052">
                <a:moveTo>
                  <a:pt x="0" y="19051"/>
                </a:moveTo>
                <a:lnTo>
                  <a:pt x="33867" y="19051"/>
                </a:lnTo>
                <a:lnTo>
                  <a:pt x="33867" y="0"/>
                </a:lnTo>
                <a:lnTo>
                  <a:pt x="0" y="0"/>
                </a:lnTo>
                <a:lnTo>
                  <a:pt x="0" y="190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pic>
        <p:nvPicPr>
          <p:cNvPr id="1100" name="" descr=""/>
          <p:cNvPicPr/>
          <p:nvPr/>
        </p:nvPicPr>
        <p:blipFill>
          <a:blip r:embed="rId1"/>
          <a:stretch/>
        </p:blipFill>
        <p:spPr>
          <a:xfrm>
            <a:off x="175320" y="586800"/>
            <a:ext cx="11841120" cy="209880"/>
          </a:xfrm>
          <a:prstGeom prst="rect">
            <a:avLst/>
          </a:prstGeom>
          <a:ln w="0">
            <a:noFill/>
          </a:ln>
        </p:spPr>
      </p:pic>
      <p:pic>
        <p:nvPicPr>
          <p:cNvPr id="1101" name="" descr=""/>
          <p:cNvPicPr/>
          <p:nvPr/>
        </p:nvPicPr>
        <p:blipFill>
          <a:blip r:embed="rId2"/>
          <a:stretch/>
        </p:blipFill>
        <p:spPr>
          <a:xfrm>
            <a:off x="5122080" y="6681240"/>
            <a:ext cx="1947240" cy="115560"/>
          </a:xfrm>
          <a:prstGeom prst="rect">
            <a:avLst/>
          </a:prstGeom>
          <a:ln w="0">
            <a:noFill/>
          </a:ln>
        </p:spPr>
      </p:pic>
      <p:sp>
        <p:nvSpPr>
          <p:cNvPr id="1102" name="Freeform 2"/>
          <p:cNvSpPr/>
          <p:nvPr/>
        </p:nvSpPr>
        <p:spPr>
          <a:xfrm>
            <a:off x="151560" y="6209280"/>
            <a:ext cx="1620720" cy="360360"/>
          </a:xfrm>
          <a:custGeom>
            <a:avLst/>
            <a:gdLst/>
            <a:ahLst/>
            <a:rect l="0" t="0" r="r" b="b"/>
            <a:pathLst>
              <a:path w="4502" h="1001">
                <a:moveTo>
                  <a:pt x="0" y="1000"/>
                </a:moveTo>
                <a:lnTo>
                  <a:pt x="4501" y="1000"/>
                </a:lnTo>
                <a:lnTo>
                  <a:pt x="4501" y="0"/>
                </a:lnTo>
                <a:lnTo>
                  <a:pt x="0" y="0"/>
                </a:lnTo>
                <a:lnTo>
                  <a:pt x="0" y="1000"/>
                </a:lnTo>
                <a:close/>
              </a:path>
            </a:pathLst>
          </a:custGeom>
          <a:solidFill>
            <a:srgbClr val="ffffff"/>
          </a:solidFill>
          <a:ln w="31680">
            <a:solidFill>
              <a:srgbClr val="ff0000"/>
            </a:solidFill>
            <a:round/>
          </a:ln>
        </p:spPr>
      </p:sp>
      <p:sp>
        <p:nvSpPr>
          <p:cNvPr id="1103" name="TextShape 3"/>
          <p:cNvSpPr txBox="1"/>
          <p:nvPr/>
        </p:nvSpPr>
        <p:spPr>
          <a:xfrm>
            <a:off x="555840" y="627012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ff0000"/>
                </a:solidFill>
                <a:latin typeface="Meiryo"/>
              </a:rPr>
              <a:t>社内限り</a:t>
            </a:r>
            <a:endParaRPr b="0" lang="en-US" sz="1400" spc="-1" strike="noStrike">
              <a:latin typeface="Times New Roman"/>
            </a:endParaRPr>
          </a:p>
        </p:txBody>
      </p:sp>
      <p:pic>
        <p:nvPicPr>
          <p:cNvPr id="1104" name="" descr=""/>
          <p:cNvPicPr/>
          <p:nvPr/>
        </p:nvPicPr>
        <p:blipFill>
          <a:blip r:embed="rId3"/>
          <a:stretch/>
        </p:blipFill>
        <p:spPr>
          <a:xfrm>
            <a:off x="11428560" y="149400"/>
            <a:ext cx="411120" cy="432360"/>
          </a:xfrm>
          <a:prstGeom prst="rect">
            <a:avLst/>
          </a:prstGeom>
          <a:ln w="0">
            <a:noFill/>
          </a:ln>
        </p:spPr>
      </p:pic>
      <p:sp>
        <p:nvSpPr>
          <p:cNvPr id="1105" name="Freeform 4"/>
          <p:cNvSpPr/>
          <p:nvPr/>
        </p:nvSpPr>
        <p:spPr>
          <a:xfrm>
            <a:off x="9806040" y="204840"/>
            <a:ext cx="1497240" cy="361800"/>
          </a:xfrm>
          <a:custGeom>
            <a:avLst/>
            <a:gdLst/>
            <a:ahLst/>
            <a:rect l="0" t="0" r="r" b="b"/>
            <a:pathLst>
              <a:path w="4159" h="1005">
                <a:moveTo>
                  <a:pt x="0" y="1004"/>
                </a:moveTo>
                <a:lnTo>
                  <a:pt x="4158" y="1004"/>
                </a:lnTo>
                <a:lnTo>
                  <a:pt x="4158" y="0"/>
                </a:lnTo>
                <a:lnTo>
                  <a:pt x="0" y="0"/>
                </a:lnTo>
                <a:lnTo>
                  <a:pt x="0" y="1004"/>
                </a:lnTo>
                <a:close/>
              </a:path>
            </a:pathLst>
          </a:custGeom>
          <a:solidFill>
            <a:srgbClr val="ffffff"/>
          </a:solidFill>
          <a:ln w="18720">
            <a:solidFill>
              <a:srgbClr val="ff0000"/>
            </a:solidFill>
            <a:round/>
          </a:ln>
        </p:spPr>
      </p:sp>
      <p:sp>
        <p:nvSpPr>
          <p:cNvPr id="1106" name="TextShape 5"/>
          <p:cNvSpPr txBox="1"/>
          <p:nvPr/>
        </p:nvSpPr>
        <p:spPr>
          <a:xfrm>
            <a:off x="9143280" y="6356520"/>
            <a:ext cx="23598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明日の笑顔を</a:t>
            </a:r>
            <a:r>
              <a:rPr b="0" lang="en-US" sz="1600" spc="-1" strike="noStrike">
                <a:solidFill>
                  <a:srgbClr val="000000"/>
                </a:solidFill>
                <a:latin typeface="UD Digi Kyokasho NPR"/>
              </a:rPr>
              <a:t> </a:t>
            </a:r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共に創る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1107" name="TextShape 6"/>
          <p:cNvSpPr txBox="1"/>
          <p:nvPr/>
        </p:nvSpPr>
        <p:spPr>
          <a:xfrm>
            <a:off x="10151280" y="262800"/>
            <a:ext cx="48240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0000"/>
                </a:solidFill>
                <a:latin typeface="Meiryo"/>
              </a:rPr>
              <a:t>秘</a:t>
            </a:r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（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1108" name="TextShape 7"/>
          <p:cNvSpPr txBox="1"/>
          <p:nvPr/>
        </p:nvSpPr>
        <p:spPr>
          <a:xfrm>
            <a:off x="10671120" y="391320"/>
            <a:ext cx="10188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700" spc="-1" strike="noStrike">
                <a:solidFill>
                  <a:srgbClr val="ff0000"/>
                </a:solidFill>
                <a:latin typeface="Meiryo"/>
              </a:rPr>
              <a:t> </a:t>
            </a:r>
            <a:endParaRPr b="0" lang="en-US" sz="700" spc="-1" strike="noStrike">
              <a:latin typeface="Times New Roman"/>
            </a:endParaRPr>
          </a:p>
        </p:txBody>
      </p:sp>
      <p:sp>
        <p:nvSpPr>
          <p:cNvPr id="1109" name="TextShape 8"/>
          <p:cNvSpPr txBox="1"/>
          <p:nvPr/>
        </p:nvSpPr>
        <p:spPr>
          <a:xfrm>
            <a:off x="10707480" y="249840"/>
            <a:ext cx="2541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0000"/>
                </a:solidFill>
                <a:latin typeface="Meiryo"/>
              </a:rPr>
              <a:t>B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110" name="TextShape 9"/>
          <p:cNvSpPr txBox="1"/>
          <p:nvPr/>
        </p:nvSpPr>
        <p:spPr>
          <a:xfrm>
            <a:off x="10925640" y="262800"/>
            <a:ext cx="24156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）</a:t>
            </a:r>
            <a:endParaRPr b="0" lang="en-US" sz="1600" spc="-1" strike="noStrike">
              <a:latin typeface="Times New Roman"/>
            </a:endParaRPr>
          </a:p>
        </p:txBody>
      </p:sp>
      <p:pic>
        <p:nvPicPr>
          <p:cNvPr id="1111" name="" descr=""/>
          <p:cNvPicPr/>
          <p:nvPr/>
        </p:nvPicPr>
        <p:blipFill>
          <a:blip r:embed="rId4"/>
          <a:stretch/>
        </p:blipFill>
        <p:spPr>
          <a:xfrm>
            <a:off x="4960800" y="6669000"/>
            <a:ext cx="2221560" cy="121680"/>
          </a:xfrm>
          <a:prstGeom prst="rect">
            <a:avLst/>
          </a:prstGeom>
          <a:ln w="0">
            <a:noFill/>
          </a:ln>
        </p:spPr>
      </p:pic>
      <p:pic>
        <p:nvPicPr>
          <p:cNvPr id="1112" name="" descr=""/>
          <p:cNvPicPr/>
          <p:nvPr/>
        </p:nvPicPr>
        <p:blipFill>
          <a:blip r:embed="rId5"/>
          <a:stretch/>
        </p:blipFill>
        <p:spPr>
          <a:xfrm rot="933600">
            <a:off x="9379440" y="543600"/>
            <a:ext cx="2134080" cy="2377440"/>
          </a:xfrm>
          <a:prstGeom prst="rect">
            <a:avLst/>
          </a:prstGeom>
          <a:ln w="0">
            <a:noFill/>
          </a:ln>
        </p:spPr>
      </p:pic>
      <p:sp>
        <p:nvSpPr>
          <p:cNvPr id="1113" name="TextShape 10"/>
          <p:cNvSpPr txBox="1"/>
          <p:nvPr/>
        </p:nvSpPr>
        <p:spPr>
          <a:xfrm>
            <a:off x="8179200" y="303480"/>
            <a:ext cx="15246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100" spc="-1" strike="noStrike">
                <a:solidFill>
                  <a:srgbClr val="000000"/>
                </a:solidFill>
                <a:latin typeface="Meiryo"/>
              </a:rPr>
              <a:t>フィールドサポート部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1114" name="TextShape 11"/>
          <p:cNvSpPr txBox="1"/>
          <p:nvPr/>
        </p:nvSpPr>
        <p:spPr>
          <a:xfrm>
            <a:off x="183600" y="160560"/>
            <a:ext cx="436752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３．新</a:t>
            </a:r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OFC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パスワード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1115" name="TextShape 12"/>
          <p:cNvSpPr txBox="1"/>
          <p:nvPr/>
        </p:nvSpPr>
        <p:spPr>
          <a:xfrm>
            <a:off x="3954600" y="255240"/>
            <a:ext cx="30564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262626"/>
                </a:solidFill>
                <a:latin typeface="MeiryoUI"/>
              </a:rPr>
              <a:t>と</a:t>
            </a:r>
            <a:endParaRPr b="0" lang="en-US" sz="2000" spc="-1" strike="noStrike">
              <a:latin typeface="Times New Roman"/>
            </a:endParaRPr>
          </a:p>
        </p:txBody>
      </p:sp>
      <p:pic>
        <p:nvPicPr>
          <p:cNvPr id="1116" name="" descr=""/>
          <p:cNvPicPr/>
          <p:nvPr/>
        </p:nvPicPr>
        <p:blipFill>
          <a:blip r:embed="rId6"/>
          <a:stretch/>
        </p:blipFill>
        <p:spPr>
          <a:xfrm>
            <a:off x="182880" y="1182600"/>
            <a:ext cx="3931560" cy="1926000"/>
          </a:xfrm>
          <a:prstGeom prst="rect">
            <a:avLst/>
          </a:prstGeom>
          <a:ln w="0">
            <a:noFill/>
          </a:ln>
        </p:spPr>
      </p:pic>
      <p:sp>
        <p:nvSpPr>
          <p:cNvPr id="1117" name="Freeform 13"/>
          <p:cNvSpPr/>
          <p:nvPr/>
        </p:nvSpPr>
        <p:spPr>
          <a:xfrm>
            <a:off x="3298680" y="1940040"/>
            <a:ext cx="830160" cy="485280"/>
          </a:xfrm>
          <a:custGeom>
            <a:avLst/>
            <a:gdLst/>
            <a:ahLst/>
            <a:rect l="0" t="0" r="r" b="b"/>
            <a:pathLst>
              <a:path w="2306" h="1348">
                <a:moveTo>
                  <a:pt x="2232" y="0"/>
                </a:moveTo>
                <a:lnTo>
                  <a:pt x="289" y="1097"/>
                </a:lnTo>
                <a:lnTo>
                  <a:pt x="363" y="1228"/>
                </a:lnTo>
                <a:lnTo>
                  <a:pt x="2305" y="130"/>
                </a:lnTo>
                <a:lnTo>
                  <a:pt x="2232" y="0"/>
                </a:lnTo>
                <a:moveTo>
                  <a:pt x="281" y="930"/>
                </a:moveTo>
                <a:lnTo>
                  <a:pt x="0" y="1347"/>
                </a:lnTo>
                <a:lnTo>
                  <a:pt x="502" y="1322"/>
                </a:lnTo>
                <a:lnTo>
                  <a:pt x="281" y="930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pic>
        <p:nvPicPr>
          <p:cNvPr id="1118" name="" descr=""/>
          <p:cNvPicPr/>
          <p:nvPr/>
        </p:nvPicPr>
        <p:blipFill>
          <a:blip r:embed="rId7"/>
          <a:stretch/>
        </p:blipFill>
        <p:spPr>
          <a:xfrm>
            <a:off x="1168920" y="1924920"/>
            <a:ext cx="2788560" cy="801360"/>
          </a:xfrm>
          <a:prstGeom prst="rect">
            <a:avLst/>
          </a:prstGeom>
          <a:ln w="0">
            <a:noFill/>
          </a:ln>
        </p:spPr>
      </p:pic>
      <p:sp>
        <p:nvSpPr>
          <p:cNvPr id="1119" name="Freeform 14"/>
          <p:cNvSpPr/>
          <p:nvPr/>
        </p:nvSpPr>
        <p:spPr>
          <a:xfrm>
            <a:off x="1207440" y="1963440"/>
            <a:ext cx="2661840" cy="674280"/>
          </a:xfrm>
          <a:custGeom>
            <a:avLst/>
            <a:gdLst/>
            <a:ahLst/>
            <a:rect l="0" t="0" r="r" b="b"/>
            <a:pathLst>
              <a:path w="7394" h="1873">
                <a:moveTo>
                  <a:pt x="0" y="1872"/>
                </a:moveTo>
                <a:lnTo>
                  <a:pt x="7393" y="1872"/>
                </a:lnTo>
                <a:lnTo>
                  <a:pt x="7393" y="0"/>
                </a:lnTo>
                <a:lnTo>
                  <a:pt x="0" y="0"/>
                </a:lnTo>
                <a:lnTo>
                  <a:pt x="0" y="1872"/>
                </a:lnTo>
                <a:close/>
              </a:path>
            </a:pathLst>
          </a:custGeom>
          <a:noFill/>
          <a:ln w="25200">
            <a:solidFill>
              <a:srgbClr val="ff0000"/>
            </a:solidFill>
            <a:custDash>
              <a:ds d="301429" sp="100000"/>
            </a:custDash>
            <a:round/>
          </a:ln>
        </p:spPr>
      </p:sp>
      <p:sp>
        <p:nvSpPr>
          <p:cNvPr id="1120" name="Freeform 15"/>
          <p:cNvSpPr/>
          <p:nvPr/>
        </p:nvSpPr>
        <p:spPr>
          <a:xfrm>
            <a:off x="4050720" y="2093760"/>
            <a:ext cx="4356360" cy="1024920"/>
          </a:xfrm>
          <a:custGeom>
            <a:avLst/>
            <a:gdLst/>
            <a:ahLst/>
            <a:rect l="0" t="0" r="r" b="b"/>
            <a:pathLst>
              <a:path w="12101" h="2847">
                <a:moveTo>
                  <a:pt x="0" y="2846"/>
                </a:moveTo>
                <a:lnTo>
                  <a:pt x="12100" y="2846"/>
                </a:lnTo>
                <a:lnTo>
                  <a:pt x="12100" y="0"/>
                </a:lnTo>
                <a:lnTo>
                  <a:pt x="0" y="0"/>
                </a:lnTo>
                <a:lnTo>
                  <a:pt x="0" y="2846"/>
                </a:lnTo>
                <a:close/>
              </a:path>
            </a:pathLst>
          </a:custGeom>
          <a:solidFill>
            <a:srgbClr val="c6d9f1">
              <a:alpha val="70000"/>
            </a:srgbClr>
          </a:solidFill>
          <a:ln w="0">
            <a:noFill/>
          </a:ln>
        </p:spPr>
      </p:sp>
      <p:sp>
        <p:nvSpPr>
          <p:cNvPr id="1121" name="TextShape 16"/>
          <p:cNvSpPr txBox="1"/>
          <p:nvPr/>
        </p:nvSpPr>
        <p:spPr>
          <a:xfrm>
            <a:off x="4170960" y="160560"/>
            <a:ext cx="363384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3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月以降の配信方法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1122" name="TextShape 17"/>
          <p:cNvSpPr txBox="1"/>
          <p:nvPr/>
        </p:nvSpPr>
        <p:spPr>
          <a:xfrm>
            <a:off x="4142880" y="2167920"/>
            <a:ext cx="406080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800" spc="-1" strike="noStrike">
                <a:solidFill>
                  <a:srgbClr val="262626"/>
                </a:solidFill>
                <a:latin typeface="MeiryoUI"/>
              </a:rPr>
              <a:t>今後、人事異動で</a:t>
            </a:r>
            <a:r>
              <a:rPr b="0" lang="en-US" sz="1800" spc="-1" strike="noStrike">
                <a:solidFill>
                  <a:srgbClr val="262626"/>
                </a:solidFill>
                <a:latin typeface="Meiryo UI"/>
              </a:rPr>
              <a:t>DO</a:t>
            </a:r>
            <a:r>
              <a:rPr b="0" lang="zh-CN" sz="1800" spc="-1" strike="noStrike">
                <a:solidFill>
                  <a:srgbClr val="262626"/>
                </a:solidFill>
                <a:latin typeface="MeiryoUI"/>
              </a:rPr>
              <a:t>または</a:t>
            </a:r>
            <a:r>
              <a:rPr b="0" lang="en-US" sz="1800" spc="-1" strike="noStrike">
                <a:solidFill>
                  <a:srgbClr val="262626"/>
                </a:solidFill>
                <a:latin typeface="Meiryo UI"/>
              </a:rPr>
              <a:t>ZO</a:t>
            </a:r>
            <a:r>
              <a:rPr b="0" lang="zh-CN" sz="1800" spc="-1" strike="noStrike">
                <a:solidFill>
                  <a:srgbClr val="262626"/>
                </a:solidFill>
                <a:latin typeface="MeiryoUI"/>
              </a:rPr>
              <a:t>が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123" name="TextShape 18"/>
          <p:cNvSpPr txBox="1"/>
          <p:nvPr/>
        </p:nvSpPr>
        <p:spPr>
          <a:xfrm>
            <a:off x="4142880" y="2472480"/>
            <a:ext cx="458172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800" spc="-1" strike="noStrike">
                <a:solidFill>
                  <a:srgbClr val="262626"/>
                </a:solidFill>
                <a:latin typeface="MeiryoUI"/>
              </a:rPr>
              <a:t>変わってもパスワードは変更されません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124" name="TextShape 19"/>
          <p:cNvSpPr txBox="1"/>
          <p:nvPr/>
        </p:nvSpPr>
        <p:spPr>
          <a:xfrm>
            <a:off x="4142880" y="2777040"/>
            <a:ext cx="205488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800" spc="-1" strike="noStrike">
                <a:solidFill>
                  <a:srgbClr val="c00000"/>
                </a:solidFill>
                <a:latin typeface="MeiryoUI"/>
              </a:rPr>
              <a:t>※</a:t>
            </a:r>
            <a:r>
              <a:rPr b="0" lang="zh-CN" sz="1800" spc="-1" strike="noStrike">
                <a:solidFill>
                  <a:srgbClr val="c00000"/>
                </a:solidFill>
                <a:latin typeface="MeiryoUI"/>
              </a:rPr>
              <a:t>人に紐づきます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125" name="TextShape 20"/>
          <p:cNvSpPr txBox="1"/>
          <p:nvPr/>
        </p:nvSpPr>
        <p:spPr>
          <a:xfrm>
            <a:off x="4115520" y="1187280"/>
            <a:ext cx="54406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262626"/>
                </a:solidFill>
                <a:latin typeface="MeiryoUI"/>
              </a:rPr>
              <a:t>アルファベット</a:t>
            </a:r>
            <a:r>
              <a:rPr b="1" lang="en-US" sz="2400" spc="-1" strike="noStrike">
                <a:solidFill>
                  <a:srgbClr val="262626"/>
                </a:solidFill>
                <a:latin typeface="Meiryo UI"/>
              </a:rPr>
              <a:t>1</a:t>
            </a:r>
            <a:r>
              <a:rPr b="1" lang="zh-CN" sz="2400" spc="-1" strike="noStrike">
                <a:solidFill>
                  <a:srgbClr val="262626"/>
                </a:solidFill>
                <a:latin typeface="MeiryoUI"/>
              </a:rPr>
              <a:t>文字＋数字</a:t>
            </a:r>
            <a:r>
              <a:rPr b="1" lang="en-US" sz="2400" spc="-1" strike="noStrike">
                <a:solidFill>
                  <a:srgbClr val="262626"/>
                </a:solidFill>
                <a:latin typeface="Meiryo UI"/>
              </a:rPr>
              <a:t>4</a:t>
            </a:r>
            <a:r>
              <a:rPr b="1" lang="zh-CN" sz="2400" spc="-1" strike="noStrike">
                <a:solidFill>
                  <a:srgbClr val="262626"/>
                </a:solidFill>
                <a:latin typeface="MeiryoUI"/>
              </a:rPr>
              <a:t>桁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126" name="TextShape 21"/>
          <p:cNvSpPr txBox="1"/>
          <p:nvPr/>
        </p:nvSpPr>
        <p:spPr>
          <a:xfrm>
            <a:off x="4115520" y="1679400"/>
            <a:ext cx="214380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262626"/>
                </a:solidFill>
                <a:latin typeface="MeiryoUI"/>
              </a:rPr>
              <a:t>例）</a:t>
            </a:r>
            <a:r>
              <a:rPr b="1" lang="en-US" sz="2400" spc="-1" strike="noStrike">
                <a:solidFill>
                  <a:srgbClr val="262626"/>
                </a:solidFill>
                <a:latin typeface="Meiryo UI"/>
              </a:rPr>
              <a:t>a1112 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127" name="TextShape 22"/>
          <p:cNvSpPr txBox="1"/>
          <p:nvPr/>
        </p:nvSpPr>
        <p:spPr>
          <a:xfrm>
            <a:off x="6369840" y="1679400"/>
            <a:ext cx="124272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400" spc="-1" strike="noStrike">
                <a:solidFill>
                  <a:srgbClr val="262626"/>
                </a:solidFill>
                <a:latin typeface="Meiryo UI"/>
              </a:rPr>
              <a:t>b2221</a:t>
            </a:r>
            <a:endParaRPr b="0" lang="en-US" sz="2400" spc="-1" strike="noStrike">
              <a:latin typeface="Times New Roman"/>
            </a:endParaRPr>
          </a:p>
        </p:txBody>
      </p:sp>
      <p:pic>
        <p:nvPicPr>
          <p:cNvPr id="1128" name="" descr=""/>
          <p:cNvPicPr/>
          <p:nvPr/>
        </p:nvPicPr>
        <p:blipFill>
          <a:blip r:embed="rId8"/>
          <a:stretch/>
        </p:blipFill>
        <p:spPr>
          <a:xfrm>
            <a:off x="9834480" y="838080"/>
            <a:ext cx="1455120" cy="1262880"/>
          </a:xfrm>
          <a:prstGeom prst="rect">
            <a:avLst/>
          </a:prstGeom>
          <a:ln w="0">
            <a:noFill/>
          </a:ln>
        </p:spPr>
      </p:pic>
      <p:sp>
        <p:nvSpPr>
          <p:cNvPr id="1129" name="Freeform 23"/>
          <p:cNvSpPr/>
          <p:nvPr/>
        </p:nvSpPr>
        <p:spPr>
          <a:xfrm>
            <a:off x="9810720" y="1041840"/>
            <a:ext cx="460080" cy="979560"/>
          </a:xfrm>
          <a:custGeom>
            <a:avLst/>
            <a:gdLst/>
            <a:ahLst/>
            <a:rect l="0" t="0" r="r" b="b"/>
            <a:pathLst>
              <a:path w="1278" h="2721">
                <a:moveTo>
                  <a:pt x="1277" y="0"/>
                </a:moveTo>
                <a:cubicBezTo>
                  <a:pt x="593" y="563"/>
                  <a:pt x="338" y="1470"/>
                  <a:pt x="656" y="2206"/>
                </a:cubicBezTo>
                <a:lnTo>
                  <a:pt x="824" y="2067"/>
                </a:lnTo>
                <a:lnTo>
                  <a:pt x="717" y="2720"/>
                </a:lnTo>
                <a:lnTo>
                  <a:pt x="150" y="2621"/>
                </a:lnTo>
                <a:lnTo>
                  <a:pt x="319" y="2482"/>
                </a:lnTo>
                <a:cubicBezTo>
                  <a:pt x="0" y="1747"/>
                  <a:pt x="256" y="840"/>
                  <a:pt x="940" y="277"/>
                </a:cubicBezTo>
                <a:lnTo>
                  <a:pt x="1277" y="0"/>
                </a:lnTo>
                <a:close/>
              </a:path>
            </a:pathLst>
          </a:custGeom>
          <a:solidFill>
            <a:srgbClr val="339933"/>
          </a:solidFill>
          <a:ln w="0">
            <a:noFill/>
          </a:ln>
        </p:spPr>
      </p:sp>
      <p:sp>
        <p:nvSpPr>
          <p:cNvPr id="1130" name="Freeform 24"/>
          <p:cNvSpPr/>
          <p:nvPr/>
        </p:nvSpPr>
        <p:spPr>
          <a:xfrm>
            <a:off x="10212120" y="792360"/>
            <a:ext cx="997200" cy="390600"/>
          </a:xfrm>
          <a:custGeom>
            <a:avLst/>
            <a:gdLst/>
            <a:ahLst/>
            <a:rect l="0" t="0" r="r" b="b"/>
            <a:pathLst>
              <a:path w="2770" h="1085">
                <a:moveTo>
                  <a:pt x="2433" y="1084"/>
                </a:moveTo>
                <a:cubicBezTo>
                  <a:pt x="1869" y="398"/>
                  <a:pt x="822" y="294"/>
                  <a:pt x="0" y="842"/>
                </a:cubicBezTo>
                <a:cubicBezTo>
                  <a:pt x="755" y="81"/>
                  <a:pt x="1935" y="0"/>
                  <a:pt x="2635" y="663"/>
                </a:cubicBezTo>
                <a:cubicBezTo>
                  <a:pt x="2683" y="708"/>
                  <a:pt x="2728" y="755"/>
                  <a:pt x="2769" y="806"/>
                </a:cubicBezTo>
                <a:lnTo>
                  <a:pt x="2433" y="1084"/>
                </a:lnTo>
                <a:close/>
              </a:path>
            </a:pathLst>
          </a:custGeom>
          <a:solidFill>
            <a:srgbClr val="297b29"/>
          </a:solidFill>
          <a:ln w="0">
            <a:noFill/>
          </a:ln>
        </p:spPr>
      </p:sp>
      <p:sp>
        <p:nvSpPr>
          <p:cNvPr id="1131" name="Freeform 25"/>
          <p:cNvSpPr/>
          <p:nvPr/>
        </p:nvSpPr>
        <p:spPr>
          <a:xfrm>
            <a:off x="9810720" y="797040"/>
            <a:ext cx="1398600" cy="1225080"/>
          </a:xfrm>
          <a:custGeom>
            <a:avLst/>
            <a:gdLst/>
            <a:ahLst/>
            <a:rect l="0" t="0" r="r" b="b"/>
            <a:pathLst>
              <a:path w="3885" h="3403">
                <a:moveTo>
                  <a:pt x="1277" y="682"/>
                </a:moveTo>
                <a:cubicBezTo>
                  <a:pt x="592" y="1245"/>
                  <a:pt x="337" y="2151"/>
                  <a:pt x="655" y="2888"/>
                </a:cubicBezTo>
                <a:lnTo>
                  <a:pt x="824" y="2749"/>
                </a:lnTo>
                <a:lnTo>
                  <a:pt x="716" y="3402"/>
                </a:lnTo>
                <a:lnTo>
                  <a:pt x="150" y="3303"/>
                </a:lnTo>
                <a:lnTo>
                  <a:pt x="318" y="3164"/>
                </a:lnTo>
                <a:cubicBezTo>
                  <a:pt x="0" y="2428"/>
                  <a:pt x="256" y="1522"/>
                  <a:pt x="940" y="959"/>
                </a:cubicBezTo>
                <a:lnTo>
                  <a:pt x="1277" y="682"/>
                </a:lnTo>
                <a:cubicBezTo>
                  <a:pt x="2105" y="0"/>
                  <a:pt x="3272" y="51"/>
                  <a:pt x="3884" y="794"/>
                </a:cubicBezTo>
                <a:lnTo>
                  <a:pt x="3548" y="1071"/>
                </a:lnTo>
                <a:cubicBezTo>
                  <a:pt x="2984" y="386"/>
                  <a:pt x="1937" y="282"/>
                  <a:pt x="1116" y="829"/>
                </a:cubicBezTo>
              </a:path>
            </a:pathLst>
          </a:custGeom>
          <a:ln w="9360">
            <a:solidFill>
              <a:srgbClr val="ffffff"/>
            </a:solidFill>
            <a:round/>
          </a:ln>
        </p:spPr>
      </p:sp>
      <p:pic>
        <p:nvPicPr>
          <p:cNvPr id="1132" name="" descr=""/>
          <p:cNvPicPr/>
          <p:nvPr/>
        </p:nvPicPr>
        <p:blipFill>
          <a:blip r:embed="rId9"/>
          <a:stretch/>
        </p:blipFill>
        <p:spPr>
          <a:xfrm rot="19882200">
            <a:off x="10229760" y="1193760"/>
            <a:ext cx="741240" cy="570960"/>
          </a:xfrm>
          <a:prstGeom prst="rect">
            <a:avLst/>
          </a:prstGeom>
          <a:ln w="0">
            <a:noFill/>
          </a:ln>
        </p:spPr>
      </p:pic>
      <p:sp>
        <p:nvSpPr>
          <p:cNvPr id="1133" name="Freeform 26"/>
          <p:cNvSpPr/>
          <p:nvPr/>
        </p:nvSpPr>
        <p:spPr>
          <a:xfrm>
            <a:off x="8463960" y="2191320"/>
            <a:ext cx="3603600" cy="924120"/>
          </a:xfrm>
          <a:custGeom>
            <a:avLst/>
            <a:gdLst/>
            <a:ahLst/>
            <a:rect l="0" t="0" r="r" b="b"/>
            <a:pathLst>
              <a:path w="10010" h="2567">
                <a:moveTo>
                  <a:pt x="0" y="2566"/>
                </a:moveTo>
                <a:lnTo>
                  <a:pt x="10009" y="2566"/>
                </a:lnTo>
                <a:lnTo>
                  <a:pt x="10009" y="0"/>
                </a:lnTo>
                <a:lnTo>
                  <a:pt x="0" y="0"/>
                </a:lnTo>
                <a:lnTo>
                  <a:pt x="0" y="2566"/>
                </a:lnTo>
                <a:close/>
              </a:path>
            </a:pathLst>
          </a:custGeom>
          <a:solidFill>
            <a:srgbClr val="d9d9d9">
              <a:alpha val="50000"/>
            </a:srgbClr>
          </a:solidFill>
          <a:ln w="0">
            <a:noFill/>
          </a:ln>
        </p:spPr>
      </p:sp>
      <p:sp>
        <p:nvSpPr>
          <p:cNvPr id="1134" name="TextShape 27"/>
          <p:cNvSpPr txBox="1"/>
          <p:nvPr/>
        </p:nvSpPr>
        <p:spPr>
          <a:xfrm>
            <a:off x="7569000" y="1820880"/>
            <a:ext cx="40608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262626"/>
                </a:solidFill>
                <a:latin typeface="MeiryoUI"/>
              </a:rPr>
              <a:t>など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135" name="TextShape 28"/>
          <p:cNvSpPr txBox="1"/>
          <p:nvPr/>
        </p:nvSpPr>
        <p:spPr>
          <a:xfrm>
            <a:off x="8466120" y="2210040"/>
            <a:ext cx="7653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262626"/>
                </a:solidFill>
                <a:latin typeface="MeiryoUI"/>
              </a:rPr>
              <a:t>例）</a:t>
            </a:r>
            <a:r>
              <a:rPr b="1" lang="en-US" sz="1800" spc="-1" strike="noStrike">
                <a:solidFill>
                  <a:srgbClr val="262626"/>
                </a:solidFill>
                <a:latin typeface="Meiryo UI"/>
              </a:rPr>
              <a:t>A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136" name="TextShape 29"/>
          <p:cNvSpPr txBox="1"/>
          <p:nvPr/>
        </p:nvSpPr>
        <p:spPr>
          <a:xfrm>
            <a:off x="9164160" y="2258280"/>
            <a:ext cx="31932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ZO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137" name="TextShape 30"/>
          <p:cNvSpPr txBox="1"/>
          <p:nvPr/>
        </p:nvSpPr>
        <p:spPr>
          <a:xfrm>
            <a:off x="9625680" y="2210040"/>
            <a:ext cx="2541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262626"/>
                </a:solidFill>
                <a:latin typeface="Meiryo UI"/>
              </a:rPr>
              <a:t>A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138" name="TextShape 31"/>
          <p:cNvSpPr txBox="1"/>
          <p:nvPr/>
        </p:nvSpPr>
        <p:spPr>
          <a:xfrm>
            <a:off x="9814680" y="2280960"/>
            <a:ext cx="414000" cy="20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200" spc="-1" strike="noStrike">
                <a:solidFill>
                  <a:srgbClr val="262626"/>
                </a:solidFill>
                <a:latin typeface="MeiryoUI"/>
              </a:rPr>
              <a:t>さん</a:t>
            </a:r>
            <a:r>
              <a:rPr b="1" lang="en-US" sz="1200" spc="-1" strike="noStrike">
                <a:solidFill>
                  <a:srgbClr val="262626"/>
                </a:solidFill>
                <a:latin typeface="Meiryo UI"/>
              </a:rPr>
              <a:t> </a:t>
            </a:r>
            <a:endParaRPr b="0" lang="en-US" sz="1200" spc="-1" strike="noStrike">
              <a:latin typeface="Times New Roman"/>
            </a:endParaRPr>
          </a:p>
        </p:txBody>
      </p:sp>
      <p:pic>
        <p:nvPicPr>
          <p:cNvPr id="1139" name="" descr=""/>
          <p:cNvPicPr/>
          <p:nvPr/>
        </p:nvPicPr>
        <p:blipFill>
          <a:blip r:embed="rId10"/>
          <a:stretch/>
        </p:blipFill>
        <p:spPr>
          <a:xfrm>
            <a:off x="8648640" y="2418480"/>
            <a:ext cx="559800" cy="533880"/>
          </a:xfrm>
          <a:prstGeom prst="rect">
            <a:avLst/>
          </a:prstGeom>
          <a:ln w="0">
            <a:noFill/>
          </a:ln>
        </p:spPr>
      </p:pic>
      <p:sp>
        <p:nvSpPr>
          <p:cNvPr id="1140" name="TextShape 32"/>
          <p:cNvSpPr txBox="1"/>
          <p:nvPr/>
        </p:nvSpPr>
        <p:spPr>
          <a:xfrm>
            <a:off x="10163880" y="2234160"/>
            <a:ext cx="20577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262626"/>
                </a:solidFill>
                <a:latin typeface="MeiryoUI"/>
              </a:rPr>
              <a:t>パスワード</a:t>
            </a:r>
            <a:r>
              <a:rPr b="1" lang="en-US" sz="1600" spc="-1" strike="noStrike">
                <a:solidFill>
                  <a:srgbClr val="262626"/>
                </a:solidFill>
                <a:latin typeface="Meiryo UI"/>
              </a:rPr>
              <a:t> </a:t>
            </a:r>
            <a:r>
              <a:rPr b="1" lang="en-US" sz="1600" spc="-1" strike="noStrike">
                <a:solidFill>
                  <a:srgbClr val="262626"/>
                </a:solidFill>
                <a:latin typeface="Meiryo UI"/>
              </a:rPr>
              <a:t>a1111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1141" name="TextShape 33"/>
          <p:cNvSpPr txBox="1"/>
          <p:nvPr/>
        </p:nvSpPr>
        <p:spPr>
          <a:xfrm>
            <a:off x="9057240" y="2514960"/>
            <a:ext cx="2541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262626"/>
                </a:solidFill>
                <a:latin typeface="Meiryo UI"/>
              </a:rPr>
              <a:t>B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142" name="TextShape 34"/>
          <p:cNvSpPr txBox="1"/>
          <p:nvPr/>
        </p:nvSpPr>
        <p:spPr>
          <a:xfrm>
            <a:off x="9243360" y="2562840"/>
            <a:ext cx="31932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262626"/>
                </a:solidFill>
                <a:latin typeface="Meiryo UI"/>
              </a:rPr>
              <a:t>ZO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143" name="TextShape 35"/>
          <p:cNvSpPr txBox="1"/>
          <p:nvPr/>
        </p:nvSpPr>
        <p:spPr>
          <a:xfrm>
            <a:off x="9538920" y="2514960"/>
            <a:ext cx="76428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262626"/>
                </a:solidFill>
                <a:latin typeface="MeiryoUI"/>
              </a:rPr>
              <a:t>へ異動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144" name="TextShape 36"/>
          <p:cNvSpPr txBox="1"/>
          <p:nvPr/>
        </p:nvSpPr>
        <p:spPr>
          <a:xfrm>
            <a:off x="8970480" y="2819520"/>
            <a:ext cx="166860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262626"/>
                </a:solidFill>
                <a:latin typeface="Meiryo UI"/>
              </a:rPr>
              <a:t> </a:t>
            </a:r>
            <a:r>
              <a:rPr b="1" lang="zh-CN" sz="1800" spc="-1" strike="noStrike">
                <a:solidFill>
                  <a:srgbClr val="c00000"/>
                </a:solidFill>
                <a:latin typeface="MeiryoUI"/>
              </a:rPr>
              <a:t>同じ</a:t>
            </a:r>
            <a:r>
              <a:rPr b="1" lang="en-US" sz="1800" spc="-1" strike="noStrike">
                <a:solidFill>
                  <a:srgbClr val="c00000"/>
                </a:solidFill>
                <a:latin typeface="Meiryo UI"/>
              </a:rPr>
              <a:t> </a:t>
            </a:r>
            <a:r>
              <a:rPr b="1" lang="en-US" sz="1800" spc="-1" strike="noStrike">
                <a:solidFill>
                  <a:srgbClr val="262626"/>
                </a:solidFill>
                <a:latin typeface="Meiryo UI"/>
              </a:rPr>
              <a:t>a1111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145" name="TextShape 37"/>
          <p:cNvSpPr txBox="1"/>
          <p:nvPr/>
        </p:nvSpPr>
        <p:spPr>
          <a:xfrm>
            <a:off x="10596960" y="2867760"/>
            <a:ext cx="20340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262626"/>
                </a:solidFill>
                <a:latin typeface="MeiryoUI"/>
              </a:rPr>
              <a:t>を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146" name="TextShape 38"/>
          <p:cNvSpPr txBox="1"/>
          <p:nvPr/>
        </p:nvSpPr>
        <p:spPr>
          <a:xfrm>
            <a:off x="10761480" y="2819520"/>
            <a:ext cx="76428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262626"/>
                </a:solidFill>
                <a:latin typeface="MeiryoUI"/>
              </a:rPr>
              <a:t>使用可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147" name="TextShape 39"/>
          <p:cNvSpPr txBox="1"/>
          <p:nvPr/>
        </p:nvSpPr>
        <p:spPr>
          <a:xfrm>
            <a:off x="183600" y="759240"/>
            <a:ext cx="248652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400" spc="-1" strike="noStrike">
                <a:solidFill>
                  <a:srgbClr val="262626"/>
                </a:solidFill>
                <a:latin typeface="MeiryoUI"/>
              </a:rPr>
              <a:t>▼</a:t>
            </a:r>
            <a:r>
              <a:rPr b="1" lang="zh-CN" sz="2400" spc="-1" strike="noStrike">
                <a:solidFill>
                  <a:srgbClr val="262626"/>
                </a:solidFill>
                <a:latin typeface="MeiryoUI"/>
              </a:rPr>
              <a:t>新パスワード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148" name="Freeform 40"/>
          <p:cNvSpPr/>
          <p:nvPr/>
        </p:nvSpPr>
        <p:spPr>
          <a:xfrm>
            <a:off x="167400" y="5399280"/>
            <a:ext cx="7345080" cy="534240"/>
          </a:xfrm>
          <a:custGeom>
            <a:avLst/>
            <a:gdLst/>
            <a:ahLst/>
            <a:rect l="0" t="0" r="r" b="b"/>
            <a:pathLst>
              <a:path w="20403" h="1484">
                <a:moveTo>
                  <a:pt x="0" y="1483"/>
                </a:moveTo>
                <a:lnTo>
                  <a:pt x="20402" y="1483"/>
                </a:lnTo>
                <a:lnTo>
                  <a:pt x="20402" y="0"/>
                </a:lnTo>
                <a:lnTo>
                  <a:pt x="0" y="0"/>
                </a:lnTo>
                <a:lnTo>
                  <a:pt x="0" y="1483"/>
                </a:lnTo>
                <a:close/>
              </a:path>
            </a:pathLst>
          </a:custGeom>
          <a:solidFill>
            <a:srgbClr val="ffffcc">
              <a:alpha val="70000"/>
            </a:srgbClr>
          </a:solidFill>
          <a:ln w="0">
            <a:noFill/>
          </a:ln>
        </p:spPr>
      </p:sp>
      <p:sp>
        <p:nvSpPr>
          <p:cNvPr id="1149" name="TextShape 41"/>
          <p:cNvSpPr txBox="1"/>
          <p:nvPr/>
        </p:nvSpPr>
        <p:spPr>
          <a:xfrm>
            <a:off x="183600" y="3336480"/>
            <a:ext cx="39070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400" spc="-1" strike="noStrike">
                <a:solidFill>
                  <a:srgbClr val="262626"/>
                </a:solidFill>
                <a:latin typeface="MeiryoUI"/>
              </a:rPr>
              <a:t>▼</a:t>
            </a:r>
            <a:r>
              <a:rPr b="1" lang="zh-CN" sz="2400" spc="-1" strike="noStrike">
                <a:solidFill>
                  <a:srgbClr val="262626"/>
                </a:solidFill>
                <a:latin typeface="MeiryoUI"/>
              </a:rPr>
              <a:t>パスワードの配布方法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150" name="TextShape 42"/>
          <p:cNvSpPr txBox="1"/>
          <p:nvPr/>
        </p:nvSpPr>
        <p:spPr>
          <a:xfrm>
            <a:off x="259200" y="5481720"/>
            <a:ext cx="795492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2400" spc="-1" strike="noStrike">
                <a:solidFill>
                  <a:srgbClr val="000000"/>
                </a:solidFill>
                <a:latin typeface="Meiryo UI"/>
              </a:rPr>
              <a:t>3/3</a:t>
            </a:r>
            <a:r>
              <a:rPr b="0" lang="zh-CN" sz="2400" spc="-1" strike="noStrike">
                <a:solidFill>
                  <a:srgbClr val="000000"/>
                </a:solidFill>
                <a:latin typeface="MeiryoUI"/>
              </a:rPr>
              <a:t>（月）～</a:t>
            </a:r>
            <a:r>
              <a:rPr b="0" lang="en-US" sz="2400" spc="-1" strike="noStrike">
                <a:solidFill>
                  <a:srgbClr val="000000"/>
                </a:solidFill>
                <a:latin typeface="Meiryo UI"/>
              </a:rPr>
              <a:t>Forms</a:t>
            </a:r>
            <a:r>
              <a:rPr b="0" lang="zh-CN" sz="2400" spc="-1" strike="noStrike">
                <a:solidFill>
                  <a:srgbClr val="000000"/>
                </a:solidFill>
                <a:latin typeface="MeiryoUI"/>
              </a:rPr>
              <a:t>を使用して取得お願いします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151" name="TextShape 43"/>
          <p:cNvSpPr txBox="1"/>
          <p:nvPr/>
        </p:nvSpPr>
        <p:spPr>
          <a:xfrm>
            <a:off x="183600" y="3847320"/>
            <a:ext cx="320580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400" spc="-1" strike="noStrike">
                <a:solidFill>
                  <a:srgbClr val="262626"/>
                </a:solidFill>
                <a:latin typeface="MeiryoUI"/>
              </a:rPr>
              <a:t>❶</a:t>
            </a:r>
            <a:r>
              <a:rPr b="1" lang="en-US" sz="2400" spc="-1" strike="noStrike">
                <a:solidFill>
                  <a:srgbClr val="262626"/>
                </a:solidFill>
                <a:latin typeface="Meiryo UI"/>
              </a:rPr>
              <a:t>2/14</a:t>
            </a:r>
            <a:r>
              <a:rPr b="1" lang="zh-CN" sz="2400" spc="-1" strike="noStrike">
                <a:solidFill>
                  <a:srgbClr val="262626"/>
                </a:solidFill>
                <a:latin typeface="MeiryoUI"/>
              </a:rPr>
              <a:t>時点で</a:t>
            </a:r>
            <a:r>
              <a:rPr b="1" lang="en-US" sz="2400" spc="-1" strike="noStrike">
                <a:solidFill>
                  <a:srgbClr val="262626"/>
                </a:solidFill>
                <a:latin typeface="Meiryo UI"/>
              </a:rPr>
              <a:t>OFC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152" name="TextShape 44"/>
          <p:cNvSpPr txBox="1"/>
          <p:nvPr/>
        </p:nvSpPr>
        <p:spPr>
          <a:xfrm>
            <a:off x="3245760" y="3940560"/>
            <a:ext cx="5097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262626"/>
                </a:solidFill>
                <a:latin typeface="MeiryoUI"/>
              </a:rPr>
              <a:t>さん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153" name="Freeform 45"/>
          <p:cNvSpPr/>
          <p:nvPr/>
        </p:nvSpPr>
        <p:spPr>
          <a:xfrm>
            <a:off x="167400" y="4286880"/>
            <a:ext cx="10933920" cy="534240"/>
          </a:xfrm>
          <a:custGeom>
            <a:avLst/>
            <a:gdLst/>
            <a:ahLst/>
            <a:rect l="0" t="0" r="r" b="b"/>
            <a:pathLst>
              <a:path w="30372" h="1484">
                <a:moveTo>
                  <a:pt x="0" y="1483"/>
                </a:moveTo>
                <a:lnTo>
                  <a:pt x="30371" y="1483"/>
                </a:lnTo>
                <a:lnTo>
                  <a:pt x="30371" y="0"/>
                </a:lnTo>
                <a:lnTo>
                  <a:pt x="0" y="0"/>
                </a:lnTo>
                <a:lnTo>
                  <a:pt x="0" y="1483"/>
                </a:lnTo>
                <a:close/>
              </a:path>
            </a:pathLst>
          </a:custGeom>
          <a:solidFill>
            <a:srgbClr val="ffffcc">
              <a:alpha val="70000"/>
            </a:srgbClr>
          </a:solidFill>
          <a:ln w="0">
            <a:noFill/>
          </a:ln>
        </p:spPr>
      </p:sp>
      <p:sp>
        <p:nvSpPr>
          <p:cNvPr id="1154" name="TextShape 46"/>
          <p:cNvSpPr txBox="1"/>
          <p:nvPr/>
        </p:nvSpPr>
        <p:spPr>
          <a:xfrm>
            <a:off x="3664800" y="3847320"/>
            <a:ext cx="106596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262626"/>
                </a:solidFill>
                <a:latin typeface="MeiryoUI"/>
              </a:rPr>
              <a:t>の方へ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155" name="TextShape 47"/>
          <p:cNvSpPr txBox="1"/>
          <p:nvPr/>
        </p:nvSpPr>
        <p:spPr>
          <a:xfrm>
            <a:off x="259200" y="4368600"/>
            <a:ext cx="1119816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2400" spc="-1" strike="noStrike">
                <a:solidFill>
                  <a:srgbClr val="000000"/>
                </a:solidFill>
                <a:latin typeface="Meiryo UI"/>
              </a:rPr>
              <a:t>2/21</a:t>
            </a:r>
            <a:r>
              <a:rPr b="0" lang="zh-CN" sz="2400" spc="-1" strike="noStrike">
                <a:solidFill>
                  <a:srgbClr val="000000"/>
                </a:solidFill>
                <a:latin typeface="MeiryoUI"/>
              </a:rPr>
              <a:t>（金）までに新</a:t>
            </a:r>
            <a:r>
              <a:rPr b="0" lang="en-US" sz="2400" spc="-1" strike="noStrike">
                <a:solidFill>
                  <a:srgbClr val="000000"/>
                </a:solidFill>
                <a:latin typeface="Meiryo UI"/>
              </a:rPr>
              <a:t>PW</a:t>
            </a:r>
            <a:r>
              <a:rPr b="0" lang="zh-CN" sz="2400" spc="-1" strike="noStrike">
                <a:solidFill>
                  <a:srgbClr val="000000"/>
                </a:solidFill>
                <a:latin typeface="MeiryoUI"/>
              </a:rPr>
              <a:t>をメールで配布します（３月以降も使用可）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156" name="TextShape 48"/>
          <p:cNvSpPr txBox="1"/>
          <p:nvPr/>
        </p:nvSpPr>
        <p:spPr>
          <a:xfrm>
            <a:off x="183600" y="4920480"/>
            <a:ext cx="320580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400" spc="-1" strike="noStrike">
                <a:solidFill>
                  <a:srgbClr val="262626"/>
                </a:solidFill>
                <a:latin typeface="MeiryoUI"/>
              </a:rPr>
              <a:t>❷</a:t>
            </a:r>
            <a:r>
              <a:rPr b="1" lang="en-US" sz="2400" spc="-1" strike="noStrike">
                <a:solidFill>
                  <a:srgbClr val="262626"/>
                </a:solidFill>
                <a:latin typeface="Meiryo UI"/>
              </a:rPr>
              <a:t>2/17</a:t>
            </a:r>
            <a:r>
              <a:rPr b="1" lang="zh-CN" sz="2400" spc="-1" strike="noStrike">
                <a:solidFill>
                  <a:srgbClr val="262626"/>
                </a:solidFill>
                <a:latin typeface="MeiryoUI"/>
              </a:rPr>
              <a:t>以降、</a:t>
            </a:r>
            <a:r>
              <a:rPr b="1" lang="en-US" sz="2400" spc="-1" strike="noStrike">
                <a:solidFill>
                  <a:srgbClr val="262626"/>
                </a:solidFill>
                <a:latin typeface="Meiryo UI"/>
              </a:rPr>
              <a:t>OFC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157" name="TextShape 49"/>
          <p:cNvSpPr txBox="1"/>
          <p:nvPr/>
        </p:nvSpPr>
        <p:spPr>
          <a:xfrm>
            <a:off x="3169800" y="5014080"/>
            <a:ext cx="5097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262626"/>
                </a:solidFill>
                <a:latin typeface="MeiryoUI"/>
              </a:rPr>
              <a:t>さん</a:t>
            </a:r>
            <a:endParaRPr b="0" lang="en-US" sz="1800" spc="-1" strike="noStrike">
              <a:latin typeface="Times New Roman"/>
            </a:endParaRPr>
          </a:p>
        </p:txBody>
      </p:sp>
      <p:pic>
        <p:nvPicPr>
          <p:cNvPr id="1158" name="" descr=""/>
          <p:cNvPicPr/>
          <p:nvPr/>
        </p:nvPicPr>
        <p:blipFill>
          <a:blip r:embed="rId11"/>
          <a:stretch/>
        </p:blipFill>
        <p:spPr>
          <a:xfrm>
            <a:off x="7693200" y="4892040"/>
            <a:ext cx="4100760" cy="1202040"/>
          </a:xfrm>
          <a:prstGeom prst="rect">
            <a:avLst/>
          </a:prstGeom>
          <a:ln w="0">
            <a:noFill/>
          </a:ln>
        </p:spPr>
      </p:pic>
      <p:sp>
        <p:nvSpPr>
          <p:cNvPr id="1159" name="Freeform 50"/>
          <p:cNvSpPr/>
          <p:nvPr/>
        </p:nvSpPr>
        <p:spPr>
          <a:xfrm>
            <a:off x="8633160" y="5666040"/>
            <a:ext cx="2788200" cy="616320"/>
          </a:xfrm>
          <a:custGeom>
            <a:avLst/>
            <a:gdLst/>
            <a:ahLst/>
            <a:rect l="0" t="0" r="r" b="b"/>
            <a:pathLst>
              <a:path w="7745" h="1712">
                <a:moveTo>
                  <a:pt x="0" y="1711"/>
                </a:moveTo>
                <a:lnTo>
                  <a:pt x="7744" y="1711"/>
                </a:lnTo>
                <a:lnTo>
                  <a:pt x="7744" y="0"/>
                </a:lnTo>
                <a:lnTo>
                  <a:pt x="0" y="0"/>
                </a:lnTo>
                <a:lnTo>
                  <a:pt x="0" y="1711"/>
                </a:lnTo>
                <a:close/>
              </a:path>
            </a:pathLst>
          </a:custGeom>
          <a:solidFill>
            <a:srgbClr val="dbeef4">
              <a:alpha val="74000"/>
            </a:srgbClr>
          </a:solidFill>
          <a:ln w="0">
            <a:noFill/>
          </a:ln>
        </p:spPr>
      </p:sp>
      <p:sp>
        <p:nvSpPr>
          <p:cNvPr id="1160" name="TextShape 51"/>
          <p:cNvSpPr txBox="1"/>
          <p:nvPr/>
        </p:nvSpPr>
        <p:spPr>
          <a:xfrm>
            <a:off x="3588840" y="4920480"/>
            <a:ext cx="28414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262626"/>
                </a:solidFill>
                <a:latin typeface="MeiryoUI"/>
              </a:rPr>
              <a:t>に配属される方へ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161" name="TextShape 52"/>
          <p:cNvSpPr txBox="1"/>
          <p:nvPr/>
        </p:nvSpPr>
        <p:spPr>
          <a:xfrm>
            <a:off x="8634600" y="5686560"/>
            <a:ext cx="30549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262626"/>
                </a:solidFill>
                <a:latin typeface="MeiryoUI"/>
              </a:rPr>
              <a:t>送信後、自動でメールにて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162" name="TextShape 53"/>
          <p:cNvSpPr txBox="1"/>
          <p:nvPr/>
        </p:nvSpPr>
        <p:spPr>
          <a:xfrm>
            <a:off x="8634600" y="5991120"/>
            <a:ext cx="30549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262626"/>
                </a:solidFill>
                <a:latin typeface="MeiryoUI"/>
              </a:rPr>
              <a:t>パスワードが送付されます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163" name="TextShape 54"/>
          <p:cNvSpPr txBox="1"/>
          <p:nvPr/>
        </p:nvSpPr>
        <p:spPr>
          <a:xfrm>
            <a:off x="2796480" y="5946480"/>
            <a:ext cx="528372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c00000"/>
                </a:solidFill>
                <a:latin typeface="MeiryoUI"/>
              </a:rPr>
              <a:t>※</a:t>
            </a:r>
            <a:r>
              <a:rPr b="1" lang="zh-CN" sz="1800" spc="-1" strike="noStrike">
                <a:solidFill>
                  <a:srgbClr val="c00000"/>
                </a:solidFill>
                <a:latin typeface="MeiryoUI"/>
              </a:rPr>
              <a:t>格納連絡メールに</a:t>
            </a:r>
            <a:r>
              <a:rPr b="1" lang="en-US" sz="1800" spc="-1" strike="noStrike">
                <a:solidFill>
                  <a:srgbClr val="c00000"/>
                </a:solidFill>
                <a:latin typeface="Meiryo UI"/>
              </a:rPr>
              <a:t>URL</a:t>
            </a:r>
            <a:r>
              <a:rPr b="1" lang="zh-CN" sz="1800" spc="-1" strike="noStrike">
                <a:solidFill>
                  <a:srgbClr val="c00000"/>
                </a:solidFill>
                <a:latin typeface="MeiryoUI"/>
              </a:rPr>
              <a:t>は添付されています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Freeform 1"/>
          <p:cNvSpPr/>
          <p:nvPr/>
        </p:nvSpPr>
        <p:spPr>
          <a:xfrm>
            <a:off x="0" y="-360"/>
            <a:ext cx="12192480" cy="6858720"/>
          </a:xfrm>
          <a:custGeom>
            <a:avLst/>
            <a:gdLst/>
            <a:ahLst/>
            <a:rect l="0" t="0" r="r" b="b"/>
            <a:pathLst>
              <a:path w="33868" h="19052">
                <a:moveTo>
                  <a:pt x="0" y="19051"/>
                </a:moveTo>
                <a:lnTo>
                  <a:pt x="33867" y="19051"/>
                </a:lnTo>
                <a:lnTo>
                  <a:pt x="33867" y="0"/>
                </a:lnTo>
                <a:lnTo>
                  <a:pt x="0" y="0"/>
                </a:lnTo>
                <a:lnTo>
                  <a:pt x="0" y="190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pic>
        <p:nvPicPr>
          <p:cNvPr id="1165" name="" descr=""/>
          <p:cNvPicPr/>
          <p:nvPr/>
        </p:nvPicPr>
        <p:blipFill>
          <a:blip r:embed="rId1"/>
          <a:stretch/>
        </p:blipFill>
        <p:spPr>
          <a:xfrm>
            <a:off x="175320" y="586800"/>
            <a:ext cx="11841120" cy="209880"/>
          </a:xfrm>
          <a:prstGeom prst="rect">
            <a:avLst/>
          </a:prstGeom>
          <a:ln w="0">
            <a:noFill/>
          </a:ln>
        </p:spPr>
      </p:pic>
      <p:pic>
        <p:nvPicPr>
          <p:cNvPr id="1166" name="" descr=""/>
          <p:cNvPicPr/>
          <p:nvPr/>
        </p:nvPicPr>
        <p:blipFill>
          <a:blip r:embed="rId2"/>
          <a:stretch/>
        </p:blipFill>
        <p:spPr>
          <a:xfrm>
            <a:off x="5122080" y="6681240"/>
            <a:ext cx="1947240" cy="115560"/>
          </a:xfrm>
          <a:prstGeom prst="rect">
            <a:avLst/>
          </a:prstGeom>
          <a:ln w="0">
            <a:noFill/>
          </a:ln>
        </p:spPr>
      </p:pic>
      <p:sp>
        <p:nvSpPr>
          <p:cNvPr id="1167" name="Freeform 2"/>
          <p:cNvSpPr/>
          <p:nvPr/>
        </p:nvSpPr>
        <p:spPr>
          <a:xfrm>
            <a:off x="151560" y="6209280"/>
            <a:ext cx="1620720" cy="360360"/>
          </a:xfrm>
          <a:custGeom>
            <a:avLst/>
            <a:gdLst/>
            <a:ahLst/>
            <a:rect l="0" t="0" r="r" b="b"/>
            <a:pathLst>
              <a:path w="4502" h="1001">
                <a:moveTo>
                  <a:pt x="0" y="1000"/>
                </a:moveTo>
                <a:lnTo>
                  <a:pt x="4501" y="1000"/>
                </a:lnTo>
                <a:lnTo>
                  <a:pt x="4501" y="0"/>
                </a:lnTo>
                <a:lnTo>
                  <a:pt x="0" y="0"/>
                </a:lnTo>
                <a:lnTo>
                  <a:pt x="0" y="1000"/>
                </a:lnTo>
                <a:close/>
              </a:path>
            </a:pathLst>
          </a:custGeom>
          <a:solidFill>
            <a:srgbClr val="ffffff"/>
          </a:solidFill>
          <a:ln w="31680">
            <a:solidFill>
              <a:srgbClr val="ff0000"/>
            </a:solidFill>
            <a:round/>
          </a:ln>
        </p:spPr>
      </p:sp>
      <p:sp>
        <p:nvSpPr>
          <p:cNvPr id="1168" name="TextShape 3"/>
          <p:cNvSpPr txBox="1"/>
          <p:nvPr/>
        </p:nvSpPr>
        <p:spPr>
          <a:xfrm>
            <a:off x="555840" y="627012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ff0000"/>
                </a:solidFill>
                <a:latin typeface="Meiryo"/>
              </a:rPr>
              <a:t>社内限り</a:t>
            </a:r>
            <a:endParaRPr b="0" lang="en-US" sz="1400" spc="-1" strike="noStrike">
              <a:latin typeface="Times New Roman"/>
            </a:endParaRPr>
          </a:p>
        </p:txBody>
      </p:sp>
      <p:pic>
        <p:nvPicPr>
          <p:cNvPr id="1169" name="" descr=""/>
          <p:cNvPicPr/>
          <p:nvPr/>
        </p:nvPicPr>
        <p:blipFill>
          <a:blip r:embed="rId3"/>
          <a:stretch/>
        </p:blipFill>
        <p:spPr>
          <a:xfrm>
            <a:off x="11428560" y="149400"/>
            <a:ext cx="411120" cy="432360"/>
          </a:xfrm>
          <a:prstGeom prst="rect">
            <a:avLst/>
          </a:prstGeom>
          <a:ln w="0">
            <a:noFill/>
          </a:ln>
        </p:spPr>
      </p:pic>
      <p:sp>
        <p:nvSpPr>
          <p:cNvPr id="1170" name="Freeform 4"/>
          <p:cNvSpPr/>
          <p:nvPr/>
        </p:nvSpPr>
        <p:spPr>
          <a:xfrm>
            <a:off x="9806040" y="204840"/>
            <a:ext cx="1497240" cy="361800"/>
          </a:xfrm>
          <a:custGeom>
            <a:avLst/>
            <a:gdLst/>
            <a:ahLst/>
            <a:rect l="0" t="0" r="r" b="b"/>
            <a:pathLst>
              <a:path w="4159" h="1005">
                <a:moveTo>
                  <a:pt x="0" y="1004"/>
                </a:moveTo>
                <a:lnTo>
                  <a:pt x="4158" y="1004"/>
                </a:lnTo>
                <a:lnTo>
                  <a:pt x="4158" y="0"/>
                </a:lnTo>
                <a:lnTo>
                  <a:pt x="0" y="0"/>
                </a:lnTo>
                <a:lnTo>
                  <a:pt x="0" y="1004"/>
                </a:lnTo>
                <a:close/>
              </a:path>
            </a:pathLst>
          </a:custGeom>
          <a:solidFill>
            <a:srgbClr val="ffffff"/>
          </a:solidFill>
          <a:ln w="18720">
            <a:solidFill>
              <a:srgbClr val="ff0000"/>
            </a:solidFill>
            <a:round/>
          </a:ln>
        </p:spPr>
      </p:sp>
      <p:sp>
        <p:nvSpPr>
          <p:cNvPr id="1171" name="TextShape 5"/>
          <p:cNvSpPr txBox="1"/>
          <p:nvPr/>
        </p:nvSpPr>
        <p:spPr>
          <a:xfrm>
            <a:off x="9143280" y="6356520"/>
            <a:ext cx="23598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明日の笑顔を</a:t>
            </a:r>
            <a:r>
              <a:rPr b="0" lang="en-US" sz="1600" spc="-1" strike="noStrike">
                <a:solidFill>
                  <a:srgbClr val="000000"/>
                </a:solidFill>
                <a:latin typeface="UD Digi Kyokasho NPR"/>
              </a:rPr>
              <a:t> </a:t>
            </a:r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共に創る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1172" name="TextShape 6"/>
          <p:cNvSpPr txBox="1"/>
          <p:nvPr/>
        </p:nvSpPr>
        <p:spPr>
          <a:xfrm>
            <a:off x="10151280" y="262800"/>
            <a:ext cx="48240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0000"/>
                </a:solidFill>
                <a:latin typeface="Meiryo"/>
              </a:rPr>
              <a:t>秘</a:t>
            </a:r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（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1173" name="TextShape 7"/>
          <p:cNvSpPr txBox="1"/>
          <p:nvPr/>
        </p:nvSpPr>
        <p:spPr>
          <a:xfrm>
            <a:off x="10671120" y="391320"/>
            <a:ext cx="10188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700" spc="-1" strike="noStrike">
                <a:solidFill>
                  <a:srgbClr val="ff0000"/>
                </a:solidFill>
                <a:latin typeface="Meiryo"/>
              </a:rPr>
              <a:t> </a:t>
            </a:r>
            <a:endParaRPr b="0" lang="en-US" sz="700" spc="-1" strike="noStrike">
              <a:latin typeface="Times New Roman"/>
            </a:endParaRPr>
          </a:p>
        </p:txBody>
      </p:sp>
      <p:sp>
        <p:nvSpPr>
          <p:cNvPr id="1174" name="TextShape 8"/>
          <p:cNvSpPr txBox="1"/>
          <p:nvPr/>
        </p:nvSpPr>
        <p:spPr>
          <a:xfrm>
            <a:off x="10707480" y="249840"/>
            <a:ext cx="2541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0000"/>
                </a:solidFill>
                <a:latin typeface="Meiryo"/>
              </a:rPr>
              <a:t>B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175" name="TextShape 9"/>
          <p:cNvSpPr txBox="1"/>
          <p:nvPr/>
        </p:nvSpPr>
        <p:spPr>
          <a:xfrm>
            <a:off x="10925640" y="262800"/>
            <a:ext cx="24156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）</a:t>
            </a:r>
            <a:endParaRPr b="0" lang="en-US" sz="1600" spc="-1" strike="noStrike">
              <a:latin typeface="Times New Roman"/>
            </a:endParaRPr>
          </a:p>
        </p:txBody>
      </p:sp>
      <p:pic>
        <p:nvPicPr>
          <p:cNvPr id="1176" name="" descr=""/>
          <p:cNvPicPr/>
          <p:nvPr/>
        </p:nvPicPr>
        <p:blipFill>
          <a:blip r:embed="rId4"/>
          <a:stretch/>
        </p:blipFill>
        <p:spPr>
          <a:xfrm>
            <a:off x="4960800" y="6669000"/>
            <a:ext cx="2221560" cy="121680"/>
          </a:xfrm>
          <a:prstGeom prst="rect">
            <a:avLst/>
          </a:prstGeom>
          <a:ln w="0">
            <a:noFill/>
          </a:ln>
        </p:spPr>
      </p:pic>
      <p:sp>
        <p:nvSpPr>
          <p:cNvPr id="1177" name="TextShape 10"/>
          <p:cNvSpPr txBox="1"/>
          <p:nvPr/>
        </p:nvSpPr>
        <p:spPr>
          <a:xfrm>
            <a:off x="8179200" y="303480"/>
            <a:ext cx="15246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100" spc="-1" strike="noStrike">
                <a:solidFill>
                  <a:srgbClr val="000000"/>
                </a:solidFill>
                <a:latin typeface="Meiryo"/>
              </a:rPr>
              <a:t>フィールドサポート部</a:t>
            </a:r>
            <a:endParaRPr b="0" lang="en-US" sz="1100" spc="-1" strike="noStrike">
              <a:latin typeface="Times New Roman"/>
            </a:endParaRPr>
          </a:p>
        </p:txBody>
      </p:sp>
      <p:pic>
        <p:nvPicPr>
          <p:cNvPr id="1178" name="" descr=""/>
          <p:cNvPicPr/>
          <p:nvPr/>
        </p:nvPicPr>
        <p:blipFill>
          <a:blip r:embed="rId5"/>
          <a:stretch/>
        </p:blipFill>
        <p:spPr>
          <a:xfrm>
            <a:off x="1010520" y="1173600"/>
            <a:ext cx="1092240" cy="1136520"/>
          </a:xfrm>
          <a:prstGeom prst="rect">
            <a:avLst/>
          </a:prstGeom>
          <a:ln w="0">
            <a:noFill/>
          </a:ln>
        </p:spPr>
      </p:pic>
      <p:sp>
        <p:nvSpPr>
          <p:cNvPr id="1179" name="Freeform 11"/>
          <p:cNvSpPr/>
          <p:nvPr/>
        </p:nvSpPr>
        <p:spPr>
          <a:xfrm>
            <a:off x="844200" y="2305800"/>
            <a:ext cx="1728720" cy="357120"/>
          </a:xfrm>
          <a:custGeom>
            <a:avLst/>
            <a:gdLst/>
            <a:ahLst/>
            <a:rect l="0" t="0" r="r" b="b"/>
            <a:pathLst>
              <a:path w="4802" h="992">
                <a:moveTo>
                  <a:pt x="0" y="991"/>
                </a:moveTo>
                <a:lnTo>
                  <a:pt x="4801" y="991"/>
                </a:lnTo>
                <a:lnTo>
                  <a:pt x="4801" y="0"/>
                </a:lnTo>
                <a:lnTo>
                  <a:pt x="0" y="0"/>
                </a:lnTo>
                <a:lnTo>
                  <a:pt x="0" y="991"/>
                </a:lnTo>
                <a:close/>
              </a:path>
            </a:pathLst>
          </a:custGeom>
          <a:solidFill>
            <a:srgbClr val="dbeef4"/>
          </a:solidFill>
          <a:ln w="0">
            <a:noFill/>
          </a:ln>
        </p:spPr>
      </p:sp>
      <p:sp>
        <p:nvSpPr>
          <p:cNvPr id="1180" name="TextShape 12"/>
          <p:cNvSpPr txBox="1"/>
          <p:nvPr/>
        </p:nvSpPr>
        <p:spPr>
          <a:xfrm>
            <a:off x="183600" y="160560"/>
            <a:ext cx="775440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４．</a:t>
            </a:r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TS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提供＋</a:t>
            </a:r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ZO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・</a:t>
            </a:r>
            <a:r>
              <a:rPr b="1" lang="en-US" sz="2800" spc="-1" strike="noStrike">
                <a:solidFill>
                  <a:srgbClr val="262626"/>
                </a:solidFill>
                <a:latin typeface="Meiryo UI"/>
              </a:rPr>
              <a:t>DO</a:t>
            </a:r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個別対応の中止</a:t>
            </a:r>
            <a:endParaRPr b="0" lang="en-US" sz="2800" spc="-1" strike="noStrike">
              <a:latin typeface="Times New Roman"/>
            </a:endParaRPr>
          </a:p>
        </p:txBody>
      </p:sp>
      <p:pic>
        <p:nvPicPr>
          <p:cNvPr id="1181" name="" descr=""/>
          <p:cNvPicPr/>
          <p:nvPr/>
        </p:nvPicPr>
        <p:blipFill>
          <a:blip r:embed="rId6"/>
          <a:stretch/>
        </p:blipFill>
        <p:spPr>
          <a:xfrm>
            <a:off x="2894040" y="1240560"/>
            <a:ext cx="1232640" cy="985680"/>
          </a:xfrm>
          <a:prstGeom prst="rect">
            <a:avLst/>
          </a:prstGeom>
          <a:ln w="0">
            <a:noFill/>
          </a:ln>
        </p:spPr>
      </p:pic>
      <p:sp>
        <p:nvSpPr>
          <p:cNvPr id="1182" name="Freeform 13"/>
          <p:cNvSpPr/>
          <p:nvPr/>
        </p:nvSpPr>
        <p:spPr>
          <a:xfrm>
            <a:off x="2813040" y="2305800"/>
            <a:ext cx="1727640" cy="357120"/>
          </a:xfrm>
          <a:custGeom>
            <a:avLst/>
            <a:gdLst/>
            <a:ahLst/>
            <a:rect l="0" t="0" r="r" b="b"/>
            <a:pathLst>
              <a:path w="4799" h="992">
                <a:moveTo>
                  <a:pt x="0" y="991"/>
                </a:moveTo>
                <a:lnTo>
                  <a:pt x="4798" y="991"/>
                </a:lnTo>
                <a:lnTo>
                  <a:pt x="4798" y="0"/>
                </a:lnTo>
                <a:lnTo>
                  <a:pt x="0" y="0"/>
                </a:lnTo>
                <a:lnTo>
                  <a:pt x="0" y="991"/>
                </a:lnTo>
                <a:close/>
              </a:path>
            </a:pathLst>
          </a:custGeom>
          <a:solidFill>
            <a:srgbClr val="dbeef4"/>
          </a:solidFill>
          <a:ln w="0">
            <a:noFill/>
          </a:ln>
        </p:spPr>
      </p:sp>
      <p:sp>
        <p:nvSpPr>
          <p:cNvPr id="1183" name="TextShape 14"/>
          <p:cNvSpPr txBox="1"/>
          <p:nvPr/>
        </p:nvSpPr>
        <p:spPr>
          <a:xfrm>
            <a:off x="1359360" y="2323080"/>
            <a:ext cx="80496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000" spc="-1" strike="noStrike">
                <a:solidFill>
                  <a:srgbClr val="002060"/>
                </a:solidFill>
                <a:latin typeface="Meiryo UI"/>
              </a:rPr>
              <a:t>FS</a:t>
            </a:r>
            <a:r>
              <a:rPr b="1" lang="zh-CN" sz="2000" spc="-1" strike="noStrike">
                <a:solidFill>
                  <a:srgbClr val="002060"/>
                </a:solidFill>
                <a:latin typeface="MeiryoUI"/>
              </a:rPr>
              <a:t>部</a:t>
            </a:r>
            <a:endParaRPr b="0" lang="en-US" sz="2000" spc="-1" strike="noStrike">
              <a:latin typeface="Times New Roman"/>
            </a:endParaRPr>
          </a:p>
        </p:txBody>
      </p:sp>
      <p:pic>
        <p:nvPicPr>
          <p:cNvPr id="1184" name="" descr=""/>
          <p:cNvPicPr/>
          <p:nvPr/>
        </p:nvPicPr>
        <p:blipFill>
          <a:blip r:embed="rId7"/>
          <a:stretch/>
        </p:blipFill>
        <p:spPr>
          <a:xfrm>
            <a:off x="2624400" y="2735640"/>
            <a:ext cx="1351440" cy="1074240"/>
          </a:xfrm>
          <a:prstGeom prst="rect">
            <a:avLst/>
          </a:prstGeom>
          <a:ln w="0">
            <a:noFill/>
          </a:ln>
        </p:spPr>
      </p:pic>
      <p:sp>
        <p:nvSpPr>
          <p:cNvPr id="1185" name="Freeform 15"/>
          <p:cNvSpPr/>
          <p:nvPr/>
        </p:nvSpPr>
        <p:spPr>
          <a:xfrm>
            <a:off x="772560" y="3768840"/>
            <a:ext cx="1472760" cy="357120"/>
          </a:xfrm>
          <a:custGeom>
            <a:avLst/>
            <a:gdLst/>
            <a:ahLst/>
            <a:rect l="0" t="0" r="r" b="b"/>
            <a:pathLst>
              <a:path w="4091" h="992">
                <a:moveTo>
                  <a:pt x="0" y="991"/>
                </a:moveTo>
                <a:lnTo>
                  <a:pt x="4090" y="991"/>
                </a:lnTo>
                <a:lnTo>
                  <a:pt x="4090" y="0"/>
                </a:lnTo>
                <a:lnTo>
                  <a:pt x="0" y="0"/>
                </a:lnTo>
                <a:lnTo>
                  <a:pt x="0" y="991"/>
                </a:lnTo>
                <a:close/>
              </a:path>
            </a:pathLst>
          </a:custGeom>
          <a:solidFill>
            <a:srgbClr val="dbeef4"/>
          </a:solidFill>
          <a:ln w="0">
            <a:noFill/>
          </a:ln>
        </p:spPr>
      </p:sp>
      <p:sp>
        <p:nvSpPr>
          <p:cNvPr id="1186" name="TextShape 16"/>
          <p:cNvSpPr txBox="1"/>
          <p:nvPr/>
        </p:nvSpPr>
        <p:spPr>
          <a:xfrm>
            <a:off x="3219120" y="2323080"/>
            <a:ext cx="91512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002060"/>
                </a:solidFill>
                <a:latin typeface="MeiryoUI"/>
              </a:rPr>
              <a:t>直営店</a:t>
            </a:r>
            <a:endParaRPr b="0" lang="en-US" sz="2000" spc="-1" strike="noStrike">
              <a:latin typeface="Times New Roman"/>
            </a:endParaRPr>
          </a:p>
        </p:txBody>
      </p:sp>
      <p:pic>
        <p:nvPicPr>
          <p:cNvPr id="1187" name="" descr=""/>
          <p:cNvPicPr/>
          <p:nvPr/>
        </p:nvPicPr>
        <p:blipFill>
          <a:blip r:embed="rId8"/>
          <a:stretch/>
        </p:blipFill>
        <p:spPr>
          <a:xfrm>
            <a:off x="4495680" y="2735640"/>
            <a:ext cx="1232640" cy="984240"/>
          </a:xfrm>
          <a:prstGeom prst="rect">
            <a:avLst/>
          </a:prstGeom>
          <a:ln w="0">
            <a:noFill/>
          </a:ln>
        </p:spPr>
      </p:pic>
      <p:sp>
        <p:nvSpPr>
          <p:cNvPr id="1188" name="Freeform 17"/>
          <p:cNvSpPr/>
          <p:nvPr/>
        </p:nvSpPr>
        <p:spPr>
          <a:xfrm>
            <a:off x="2395440" y="3768840"/>
            <a:ext cx="1729080" cy="357120"/>
          </a:xfrm>
          <a:custGeom>
            <a:avLst/>
            <a:gdLst/>
            <a:ahLst/>
            <a:rect l="0" t="0" r="r" b="b"/>
            <a:pathLst>
              <a:path w="4803" h="992">
                <a:moveTo>
                  <a:pt x="0" y="991"/>
                </a:moveTo>
                <a:lnTo>
                  <a:pt x="4802" y="991"/>
                </a:lnTo>
                <a:lnTo>
                  <a:pt x="4802" y="0"/>
                </a:lnTo>
                <a:lnTo>
                  <a:pt x="0" y="0"/>
                </a:lnTo>
                <a:lnTo>
                  <a:pt x="0" y="991"/>
                </a:lnTo>
                <a:close/>
              </a:path>
            </a:pathLst>
          </a:custGeom>
          <a:solidFill>
            <a:srgbClr val="dbeef4"/>
          </a:solidFill>
          <a:ln w="0">
            <a:noFill/>
          </a:ln>
        </p:spPr>
      </p:sp>
      <p:sp>
        <p:nvSpPr>
          <p:cNvPr id="1189" name="TextShape 18"/>
          <p:cNvSpPr txBox="1"/>
          <p:nvPr/>
        </p:nvSpPr>
        <p:spPr>
          <a:xfrm>
            <a:off x="1031400" y="3787560"/>
            <a:ext cx="116424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000" spc="-1" strike="noStrike">
                <a:solidFill>
                  <a:srgbClr val="002060"/>
                </a:solidFill>
                <a:latin typeface="Meiryo UI"/>
              </a:rPr>
              <a:t>OP</a:t>
            </a:r>
            <a:r>
              <a:rPr b="1" lang="zh-CN" sz="2000" spc="-1" strike="noStrike">
                <a:solidFill>
                  <a:srgbClr val="002060"/>
                </a:solidFill>
                <a:latin typeface="MeiryoUI"/>
              </a:rPr>
              <a:t>サポ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1190" name="TextShape 19"/>
          <p:cNvSpPr txBox="1"/>
          <p:nvPr/>
        </p:nvSpPr>
        <p:spPr>
          <a:xfrm>
            <a:off x="2751120" y="3787560"/>
            <a:ext cx="69264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000" spc="-1" strike="noStrike">
                <a:solidFill>
                  <a:srgbClr val="002060"/>
                </a:solidFill>
                <a:latin typeface="Meiryo UI"/>
              </a:rPr>
              <a:t>OFC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1191" name="Freeform 20"/>
          <p:cNvSpPr/>
          <p:nvPr/>
        </p:nvSpPr>
        <p:spPr>
          <a:xfrm>
            <a:off x="4248720" y="3768840"/>
            <a:ext cx="1729080" cy="357120"/>
          </a:xfrm>
          <a:custGeom>
            <a:avLst/>
            <a:gdLst/>
            <a:ahLst/>
            <a:rect l="0" t="0" r="r" b="b"/>
            <a:pathLst>
              <a:path w="4803" h="992">
                <a:moveTo>
                  <a:pt x="0" y="991"/>
                </a:moveTo>
                <a:lnTo>
                  <a:pt x="4802" y="991"/>
                </a:lnTo>
                <a:lnTo>
                  <a:pt x="4802" y="0"/>
                </a:lnTo>
                <a:lnTo>
                  <a:pt x="0" y="0"/>
                </a:lnTo>
                <a:lnTo>
                  <a:pt x="0" y="991"/>
                </a:lnTo>
                <a:close/>
              </a:path>
            </a:pathLst>
          </a:custGeom>
          <a:solidFill>
            <a:srgbClr val="dbeef4"/>
          </a:solidFill>
          <a:ln w="0">
            <a:noFill/>
          </a:ln>
        </p:spPr>
      </p:sp>
      <p:sp>
        <p:nvSpPr>
          <p:cNvPr id="1192" name="TextShape 21"/>
          <p:cNvSpPr txBox="1"/>
          <p:nvPr/>
        </p:nvSpPr>
        <p:spPr>
          <a:xfrm>
            <a:off x="3392640" y="3858120"/>
            <a:ext cx="4579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002060"/>
                </a:solidFill>
                <a:latin typeface="MeiryoUI"/>
              </a:rPr>
              <a:t>さん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1193" name="Freeform 22"/>
          <p:cNvSpPr/>
          <p:nvPr/>
        </p:nvSpPr>
        <p:spPr>
          <a:xfrm>
            <a:off x="2433600" y="1661040"/>
            <a:ext cx="392400" cy="579960"/>
          </a:xfrm>
          <a:custGeom>
            <a:avLst/>
            <a:gdLst/>
            <a:ahLst/>
            <a:rect l="0" t="0" r="r" b="b"/>
            <a:pathLst>
              <a:path w="1090" h="1611">
                <a:moveTo>
                  <a:pt x="0" y="0"/>
                </a:moveTo>
                <a:lnTo>
                  <a:pt x="1089" y="804"/>
                </a:lnTo>
                <a:lnTo>
                  <a:pt x="0" y="1610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 w="0">
            <a:noFill/>
          </a:ln>
        </p:spPr>
      </p:sp>
      <p:sp>
        <p:nvSpPr>
          <p:cNvPr id="1194" name="Freeform 23"/>
          <p:cNvSpPr/>
          <p:nvPr/>
        </p:nvSpPr>
        <p:spPr>
          <a:xfrm>
            <a:off x="2299680" y="3070800"/>
            <a:ext cx="392400" cy="579600"/>
          </a:xfrm>
          <a:custGeom>
            <a:avLst/>
            <a:gdLst/>
            <a:ahLst/>
            <a:rect l="0" t="0" r="r" b="b"/>
            <a:pathLst>
              <a:path w="1090" h="1610">
                <a:moveTo>
                  <a:pt x="0" y="0"/>
                </a:moveTo>
                <a:lnTo>
                  <a:pt x="1089" y="805"/>
                </a:lnTo>
                <a:lnTo>
                  <a:pt x="0" y="1609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 w="0">
            <a:noFill/>
          </a:ln>
        </p:spPr>
      </p:sp>
      <p:sp>
        <p:nvSpPr>
          <p:cNvPr id="1195" name="Freeform 24"/>
          <p:cNvSpPr/>
          <p:nvPr/>
        </p:nvSpPr>
        <p:spPr>
          <a:xfrm>
            <a:off x="4116240" y="3085920"/>
            <a:ext cx="392400" cy="579960"/>
          </a:xfrm>
          <a:custGeom>
            <a:avLst/>
            <a:gdLst/>
            <a:ahLst/>
            <a:rect l="0" t="0" r="r" b="b"/>
            <a:pathLst>
              <a:path w="1090" h="1611">
                <a:moveTo>
                  <a:pt x="0" y="0"/>
                </a:moveTo>
                <a:lnTo>
                  <a:pt x="1089" y="805"/>
                </a:lnTo>
                <a:lnTo>
                  <a:pt x="0" y="1610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 w="0">
            <a:noFill/>
          </a:ln>
        </p:spPr>
      </p:sp>
      <p:pic>
        <p:nvPicPr>
          <p:cNvPr id="1196" name="" descr=""/>
          <p:cNvPicPr/>
          <p:nvPr/>
        </p:nvPicPr>
        <p:blipFill>
          <a:blip r:embed="rId9"/>
          <a:stretch/>
        </p:blipFill>
        <p:spPr>
          <a:xfrm>
            <a:off x="1591200" y="3086280"/>
            <a:ext cx="569520" cy="619920"/>
          </a:xfrm>
          <a:prstGeom prst="rect">
            <a:avLst/>
          </a:prstGeom>
          <a:ln w="0">
            <a:noFill/>
          </a:ln>
        </p:spPr>
      </p:pic>
      <p:pic>
        <p:nvPicPr>
          <p:cNvPr id="1197" name="" descr=""/>
          <p:cNvPicPr/>
          <p:nvPr/>
        </p:nvPicPr>
        <p:blipFill>
          <a:blip r:embed="rId10"/>
          <a:stretch/>
        </p:blipFill>
        <p:spPr>
          <a:xfrm>
            <a:off x="642960" y="2654640"/>
            <a:ext cx="947520" cy="743400"/>
          </a:xfrm>
          <a:prstGeom prst="rect">
            <a:avLst/>
          </a:prstGeom>
          <a:ln w="0">
            <a:noFill/>
          </a:ln>
        </p:spPr>
      </p:pic>
      <p:sp>
        <p:nvSpPr>
          <p:cNvPr id="1198" name="Freeform 25"/>
          <p:cNvSpPr/>
          <p:nvPr/>
        </p:nvSpPr>
        <p:spPr>
          <a:xfrm>
            <a:off x="231480" y="1293840"/>
            <a:ext cx="436680" cy="1373760"/>
          </a:xfrm>
          <a:custGeom>
            <a:avLst/>
            <a:gdLst/>
            <a:ahLst/>
            <a:rect l="0" t="0" r="r" b="b"/>
            <a:pathLst>
              <a:path w="1213" h="3816">
                <a:moveTo>
                  <a:pt x="0" y="3815"/>
                </a:moveTo>
                <a:lnTo>
                  <a:pt x="1212" y="3815"/>
                </a:lnTo>
                <a:lnTo>
                  <a:pt x="1212" y="0"/>
                </a:lnTo>
                <a:lnTo>
                  <a:pt x="0" y="0"/>
                </a:lnTo>
                <a:lnTo>
                  <a:pt x="0" y="3815"/>
                </a:lnTo>
                <a:close/>
              </a:path>
            </a:pathLst>
          </a:custGeom>
          <a:solidFill>
            <a:srgbClr val="002060"/>
          </a:solidFill>
          <a:ln w="0">
            <a:noFill/>
          </a:ln>
        </p:spPr>
      </p:sp>
      <p:sp>
        <p:nvSpPr>
          <p:cNvPr id="1199" name="TextShape 26"/>
          <p:cNvSpPr txBox="1"/>
          <p:nvPr/>
        </p:nvSpPr>
        <p:spPr>
          <a:xfrm>
            <a:off x="4655880" y="3787560"/>
            <a:ext cx="91512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002060"/>
                </a:solidFill>
                <a:latin typeface="MeiryoUI"/>
              </a:rPr>
              <a:t>直営店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1200" name="TextShape 27"/>
          <p:cNvSpPr txBox="1"/>
          <p:nvPr/>
        </p:nvSpPr>
        <p:spPr>
          <a:xfrm>
            <a:off x="276840" y="1436040"/>
            <a:ext cx="35424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ffff"/>
                </a:solidFill>
                <a:latin typeface="Meiryo UI"/>
              </a:rPr>
              <a:t>25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201" name="TextShape 28"/>
          <p:cNvSpPr txBox="1"/>
          <p:nvPr/>
        </p:nvSpPr>
        <p:spPr>
          <a:xfrm>
            <a:off x="287280" y="1758960"/>
            <a:ext cx="25524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ffffff"/>
                </a:solidFill>
                <a:latin typeface="MeiryoUI"/>
              </a:rPr>
              <a:t>年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202" name="TextShape 29"/>
          <p:cNvSpPr txBox="1"/>
          <p:nvPr/>
        </p:nvSpPr>
        <p:spPr>
          <a:xfrm>
            <a:off x="362160" y="2013840"/>
            <a:ext cx="2541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ffff"/>
                </a:solidFill>
                <a:latin typeface="Meiryo UI"/>
              </a:rPr>
              <a:t>2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203" name="Freeform 30"/>
          <p:cNvSpPr/>
          <p:nvPr/>
        </p:nvSpPr>
        <p:spPr>
          <a:xfrm>
            <a:off x="216360" y="2735280"/>
            <a:ext cx="436320" cy="1374120"/>
          </a:xfrm>
          <a:custGeom>
            <a:avLst/>
            <a:gdLst/>
            <a:ahLst/>
            <a:rect l="0" t="0" r="r" b="b"/>
            <a:pathLst>
              <a:path w="1212" h="3817">
                <a:moveTo>
                  <a:pt x="0" y="3816"/>
                </a:moveTo>
                <a:lnTo>
                  <a:pt x="1211" y="3816"/>
                </a:lnTo>
                <a:lnTo>
                  <a:pt x="1211" y="0"/>
                </a:lnTo>
                <a:lnTo>
                  <a:pt x="0" y="0"/>
                </a:lnTo>
                <a:lnTo>
                  <a:pt x="0" y="3816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1204" name="TextShape 31"/>
          <p:cNvSpPr txBox="1"/>
          <p:nvPr/>
        </p:nvSpPr>
        <p:spPr>
          <a:xfrm>
            <a:off x="287280" y="2337120"/>
            <a:ext cx="25524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ffffff"/>
                </a:solidFill>
                <a:latin typeface="MeiryoUI"/>
              </a:rPr>
              <a:t>月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205" name="TextShape 32"/>
          <p:cNvSpPr txBox="1"/>
          <p:nvPr/>
        </p:nvSpPr>
        <p:spPr>
          <a:xfrm>
            <a:off x="261360" y="2877840"/>
            <a:ext cx="35424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ffff"/>
                </a:solidFill>
                <a:latin typeface="Meiryo UI"/>
              </a:rPr>
              <a:t>25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206" name="TextShape 33"/>
          <p:cNvSpPr txBox="1"/>
          <p:nvPr/>
        </p:nvSpPr>
        <p:spPr>
          <a:xfrm>
            <a:off x="272160" y="3201120"/>
            <a:ext cx="25524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ffffff"/>
                </a:solidFill>
                <a:latin typeface="MeiryoUI"/>
              </a:rPr>
              <a:t>年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207" name="TextShape 34"/>
          <p:cNvSpPr txBox="1"/>
          <p:nvPr/>
        </p:nvSpPr>
        <p:spPr>
          <a:xfrm>
            <a:off x="347040" y="3455280"/>
            <a:ext cx="25452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ffff"/>
                </a:solidFill>
                <a:latin typeface="Meiryo UI"/>
              </a:rPr>
              <a:t>3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208" name="Freeform 35"/>
          <p:cNvSpPr/>
          <p:nvPr/>
        </p:nvSpPr>
        <p:spPr>
          <a:xfrm>
            <a:off x="242280" y="4169520"/>
            <a:ext cx="5771880" cy="957600"/>
          </a:xfrm>
          <a:custGeom>
            <a:avLst/>
            <a:gdLst/>
            <a:ahLst/>
            <a:rect l="0" t="0" r="r" b="b"/>
            <a:pathLst>
              <a:path w="16033" h="2660">
                <a:moveTo>
                  <a:pt x="0" y="2659"/>
                </a:moveTo>
                <a:lnTo>
                  <a:pt x="16032" y="2659"/>
                </a:lnTo>
                <a:lnTo>
                  <a:pt x="16032" y="0"/>
                </a:lnTo>
                <a:lnTo>
                  <a:pt x="0" y="0"/>
                </a:lnTo>
                <a:lnTo>
                  <a:pt x="0" y="2659"/>
                </a:lnTo>
                <a:close/>
              </a:path>
            </a:pathLst>
          </a:custGeom>
          <a:solidFill>
            <a:srgbClr val="c6d9f1">
              <a:alpha val="70000"/>
            </a:srgbClr>
          </a:solidFill>
          <a:ln w="0">
            <a:noFill/>
          </a:ln>
        </p:spPr>
      </p:sp>
      <p:sp>
        <p:nvSpPr>
          <p:cNvPr id="1209" name="TextShape 36"/>
          <p:cNvSpPr txBox="1"/>
          <p:nvPr/>
        </p:nvSpPr>
        <p:spPr>
          <a:xfrm>
            <a:off x="272160" y="3778920"/>
            <a:ext cx="25524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ffffff"/>
                </a:solidFill>
                <a:latin typeface="MeiryoUI"/>
              </a:rPr>
              <a:t>月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210" name="TextShape 37"/>
          <p:cNvSpPr txBox="1"/>
          <p:nvPr/>
        </p:nvSpPr>
        <p:spPr>
          <a:xfrm>
            <a:off x="2086200" y="4250160"/>
            <a:ext cx="234504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2400" spc="-1" strike="noStrike">
                <a:solidFill>
                  <a:srgbClr val="000000"/>
                </a:solidFill>
                <a:latin typeface="Meiryo UI"/>
              </a:rPr>
              <a:t>25</a:t>
            </a:r>
            <a:r>
              <a:rPr b="0" lang="zh-CN" sz="2400" spc="-1" strike="noStrike">
                <a:solidFill>
                  <a:srgbClr val="000000"/>
                </a:solidFill>
                <a:latin typeface="MeiryoUI"/>
              </a:rPr>
              <a:t>年</a:t>
            </a:r>
            <a:r>
              <a:rPr b="0" lang="en-US" sz="2400" spc="-1" strike="noStrike">
                <a:solidFill>
                  <a:srgbClr val="000000"/>
                </a:solidFill>
                <a:latin typeface="Meiryo UI"/>
              </a:rPr>
              <a:t>3</a:t>
            </a:r>
            <a:r>
              <a:rPr b="0" lang="zh-CN" sz="2400" spc="-1" strike="noStrike">
                <a:solidFill>
                  <a:srgbClr val="000000"/>
                </a:solidFill>
                <a:latin typeface="MeiryoUI"/>
              </a:rPr>
              <a:t>月以降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211" name="TextShape 38"/>
          <p:cNvSpPr txBox="1"/>
          <p:nvPr/>
        </p:nvSpPr>
        <p:spPr>
          <a:xfrm>
            <a:off x="714600" y="4676400"/>
            <a:ext cx="53272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400" spc="-1" strike="noStrike">
                <a:solidFill>
                  <a:srgbClr val="000000"/>
                </a:solidFill>
                <a:latin typeface="MeiryoUI"/>
              </a:rPr>
              <a:t>直営社員の方へ共有お願いします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212" name="TextShape 39"/>
          <p:cNvSpPr txBox="1"/>
          <p:nvPr/>
        </p:nvSpPr>
        <p:spPr>
          <a:xfrm>
            <a:off x="183600" y="810000"/>
            <a:ext cx="355176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400" spc="-1" strike="noStrike">
                <a:solidFill>
                  <a:srgbClr val="262626"/>
                </a:solidFill>
                <a:latin typeface="MeiryoUI"/>
              </a:rPr>
              <a:t>▼</a:t>
            </a:r>
            <a:r>
              <a:rPr b="1" lang="zh-CN" sz="2400" spc="-1" strike="noStrike">
                <a:solidFill>
                  <a:srgbClr val="262626"/>
                </a:solidFill>
                <a:latin typeface="MeiryoUI"/>
              </a:rPr>
              <a:t>直営店への提供中止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213" name="Freeform 40"/>
          <p:cNvSpPr/>
          <p:nvPr/>
        </p:nvSpPr>
        <p:spPr>
          <a:xfrm>
            <a:off x="6190920" y="1323000"/>
            <a:ext cx="2665080" cy="648720"/>
          </a:xfrm>
          <a:custGeom>
            <a:avLst/>
            <a:gdLst/>
            <a:ahLst/>
            <a:rect l="0" t="0" r="r" b="b"/>
            <a:pathLst>
              <a:path w="7403" h="1802">
                <a:moveTo>
                  <a:pt x="0" y="1801"/>
                </a:moveTo>
                <a:lnTo>
                  <a:pt x="7402" y="1801"/>
                </a:lnTo>
                <a:lnTo>
                  <a:pt x="7402" y="0"/>
                </a:lnTo>
                <a:lnTo>
                  <a:pt x="0" y="0"/>
                </a:lnTo>
                <a:lnTo>
                  <a:pt x="0" y="1801"/>
                </a:lnTo>
                <a:close/>
              </a:path>
            </a:pathLst>
          </a:custGeom>
          <a:solidFill>
            <a:srgbClr val="e2efda"/>
          </a:solidFill>
          <a:ln w="0">
            <a:noFill/>
          </a:ln>
        </p:spPr>
      </p:sp>
      <p:sp>
        <p:nvSpPr>
          <p:cNvPr id="1214" name="Freeform 41"/>
          <p:cNvSpPr/>
          <p:nvPr/>
        </p:nvSpPr>
        <p:spPr>
          <a:xfrm>
            <a:off x="8854920" y="1323000"/>
            <a:ext cx="3162240" cy="648720"/>
          </a:xfrm>
          <a:custGeom>
            <a:avLst/>
            <a:gdLst/>
            <a:ahLst/>
            <a:rect l="0" t="0" r="r" b="b"/>
            <a:pathLst>
              <a:path w="8784" h="1802">
                <a:moveTo>
                  <a:pt x="0" y="1801"/>
                </a:moveTo>
                <a:lnTo>
                  <a:pt x="8783" y="1801"/>
                </a:lnTo>
                <a:lnTo>
                  <a:pt x="8783" y="0"/>
                </a:lnTo>
                <a:lnTo>
                  <a:pt x="0" y="0"/>
                </a:lnTo>
                <a:lnTo>
                  <a:pt x="0" y="1801"/>
                </a:lnTo>
                <a:close/>
              </a:path>
            </a:pathLst>
          </a:custGeom>
          <a:solidFill>
            <a:srgbClr val="e2efda"/>
          </a:solidFill>
          <a:ln w="0">
            <a:noFill/>
          </a:ln>
        </p:spPr>
      </p:sp>
      <p:sp>
        <p:nvSpPr>
          <p:cNvPr id="1215" name="Line 42"/>
          <p:cNvSpPr/>
          <p:nvPr/>
        </p:nvSpPr>
        <p:spPr>
          <a:xfrm>
            <a:off x="8854920" y="1320120"/>
            <a:ext cx="0" cy="3244680"/>
          </a:xfrm>
          <a:prstGeom prst="line">
            <a:avLst/>
          </a:prstGeom>
          <a:ln w="612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6" name="Line 43"/>
          <p:cNvSpPr/>
          <p:nvPr/>
        </p:nvSpPr>
        <p:spPr>
          <a:xfrm>
            <a:off x="6188040" y="1971000"/>
            <a:ext cx="5831280" cy="0"/>
          </a:xfrm>
          <a:prstGeom prst="line">
            <a:avLst/>
          </a:prstGeom>
          <a:ln w="612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7" name="Line 44"/>
          <p:cNvSpPr/>
          <p:nvPr/>
        </p:nvSpPr>
        <p:spPr>
          <a:xfrm>
            <a:off x="6188040" y="2618640"/>
            <a:ext cx="5831280" cy="0"/>
          </a:xfrm>
          <a:prstGeom prst="line">
            <a:avLst/>
          </a:prstGeom>
          <a:ln w="612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8" name="Line 45"/>
          <p:cNvSpPr/>
          <p:nvPr/>
        </p:nvSpPr>
        <p:spPr>
          <a:xfrm>
            <a:off x="6188040" y="3266280"/>
            <a:ext cx="5831280" cy="0"/>
          </a:xfrm>
          <a:prstGeom prst="line">
            <a:avLst/>
          </a:prstGeom>
          <a:ln w="612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9" name="Line 46"/>
          <p:cNvSpPr/>
          <p:nvPr/>
        </p:nvSpPr>
        <p:spPr>
          <a:xfrm>
            <a:off x="6188040" y="3913920"/>
            <a:ext cx="5831280" cy="0"/>
          </a:xfrm>
          <a:prstGeom prst="line">
            <a:avLst/>
          </a:prstGeom>
          <a:ln w="612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0" name="Line 47"/>
          <p:cNvSpPr/>
          <p:nvPr/>
        </p:nvSpPr>
        <p:spPr>
          <a:xfrm>
            <a:off x="6190920" y="1320120"/>
            <a:ext cx="0" cy="3244680"/>
          </a:xfrm>
          <a:prstGeom prst="line">
            <a:avLst/>
          </a:prstGeom>
          <a:ln w="612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1" name="Line 48"/>
          <p:cNvSpPr/>
          <p:nvPr/>
        </p:nvSpPr>
        <p:spPr>
          <a:xfrm>
            <a:off x="12016440" y="1320120"/>
            <a:ext cx="0" cy="3244680"/>
          </a:xfrm>
          <a:prstGeom prst="line">
            <a:avLst/>
          </a:prstGeom>
          <a:ln w="612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2" name="Line 49"/>
          <p:cNvSpPr/>
          <p:nvPr/>
        </p:nvSpPr>
        <p:spPr>
          <a:xfrm>
            <a:off x="6188040" y="1323000"/>
            <a:ext cx="5831280" cy="0"/>
          </a:xfrm>
          <a:prstGeom prst="line">
            <a:avLst/>
          </a:prstGeom>
          <a:ln w="612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3" name="Line 50"/>
          <p:cNvSpPr/>
          <p:nvPr/>
        </p:nvSpPr>
        <p:spPr>
          <a:xfrm>
            <a:off x="6188040" y="4561560"/>
            <a:ext cx="5831280" cy="0"/>
          </a:xfrm>
          <a:prstGeom prst="line">
            <a:avLst/>
          </a:prstGeom>
          <a:ln w="6120">
            <a:solidFill>
              <a:srgbClr val="59595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4" name="TextShape 51"/>
          <p:cNvSpPr txBox="1"/>
          <p:nvPr/>
        </p:nvSpPr>
        <p:spPr>
          <a:xfrm>
            <a:off x="6212880" y="810000"/>
            <a:ext cx="451692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400" spc="-1" strike="noStrike">
                <a:solidFill>
                  <a:srgbClr val="262626"/>
                </a:solidFill>
                <a:latin typeface="MeiryoUI"/>
              </a:rPr>
              <a:t>▼</a:t>
            </a:r>
            <a:r>
              <a:rPr b="1" lang="en-US" sz="2400" spc="-1" strike="noStrike">
                <a:solidFill>
                  <a:srgbClr val="262626"/>
                </a:solidFill>
                <a:latin typeface="Meiryo UI"/>
              </a:rPr>
              <a:t>ZO</a:t>
            </a:r>
            <a:r>
              <a:rPr b="1" lang="zh-CN" sz="2400" spc="-1" strike="noStrike">
                <a:solidFill>
                  <a:srgbClr val="262626"/>
                </a:solidFill>
                <a:latin typeface="MeiryoUI"/>
              </a:rPr>
              <a:t>・</a:t>
            </a:r>
            <a:r>
              <a:rPr b="1" lang="en-US" sz="2400" spc="-1" strike="noStrike">
                <a:solidFill>
                  <a:srgbClr val="262626"/>
                </a:solidFill>
                <a:latin typeface="Meiryo UI"/>
              </a:rPr>
              <a:t>DO</a:t>
            </a:r>
            <a:r>
              <a:rPr b="1" lang="zh-CN" sz="2400" spc="-1" strike="noStrike">
                <a:solidFill>
                  <a:srgbClr val="262626"/>
                </a:solidFill>
                <a:latin typeface="MeiryoUI"/>
              </a:rPr>
              <a:t>個別対応の中止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225" name="TextShape 52"/>
          <p:cNvSpPr txBox="1"/>
          <p:nvPr/>
        </p:nvSpPr>
        <p:spPr>
          <a:xfrm>
            <a:off x="6913440" y="1446840"/>
            <a:ext cx="122148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800" spc="-1" strike="noStrike">
                <a:solidFill>
                  <a:srgbClr val="000000"/>
                </a:solidFill>
                <a:latin typeface="MeiryoUI"/>
              </a:rPr>
              <a:t>資料名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1226" name="TextShape 53"/>
          <p:cNvSpPr txBox="1"/>
          <p:nvPr/>
        </p:nvSpPr>
        <p:spPr>
          <a:xfrm>
            <a:off x="10029240" y="1446840"/>
            <a:ext cx="81468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800" spc="-1" strike="noStrike">
                <a:solidFill>
                  <a:srgbClr val="000000"/>
                </a:solidFill>
                <a:latin typeface="MeiryoUI"/>
              </a:rPr>
              <a:t>内容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1227" name="TextShape 54"/>
          <p:cNvSpPr txBox="1"/>
          <p:nvPr/>
        </p:nvSpPr>
        <p:spPr>
          <a:xfrm>
            <a:off x="6374160" y="2121840"/>
            <a:ext cx="142092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400" spc="-1" strike="noStrike">
                <a:solidFill>
                  <a:srgbClr val="000000"/>
                </a:solidFill>
                <a:latin typeface="MeiryoUI"/>
              </a:rPr>
              <a:t>月間資料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228" name="TextShape 55"/>
          <p:cNvSpPr txBox="1"/>
          <p:nvPr/>
        </p:nvSpPr>
        <p:spPr>
          <a:xfrm>
            <a:off x="7794720" y="2172240"/>
            <a:ext cx="98748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Meiryo UI"/>
              </a:rPr>
              <a:t>(DM</a:t>
            </a:r>
            <a:r>
              <a:rPr b="0" lang="zh-CN" sz="1800" spc="-1" strike="noStrike">
                <a:solidFill>
                  <a:srgbClr val="000000"/>
                </a:solidFill>
                <a:latin typeface="MeiryoUI"/>
              </a:rPr>
              <a:t>版</a:t>
            </a:r>
            <a:r>
              <a:rPr b="0" lang="en-US" sz="1800" spc="-1" strike="noStrike">
                <a:solidFill>
                  <a:srgbClr val="000000"/>
                </a:solidFill>
                <a:latin typeface="Meiryo UI"/>
              </a:rPr>
              <a:t>)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229" name="TextShape 56"/>
          <p:cNvSpPr txBox="1"/>
          <p:nvPr/>
        </p:nvSpPr>
        <p:spPr>
          <a:xfrm>
            <a:off x="8968320" y="2121840"/>
            <a:ext cx="32104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2400" spc="-1" strike="noStrike">
                <a:solidFill>
                  <a:srgbClr val="000000"/>
                </a:solidFill>
                <a:latin typeface="Meiryo UI"/>
              </a:rPr>
              <a:t>ZO</a:t>
            </a:r>
            <a:r>
              <a:rPr b="0" lang="zh-CN" sz="2400" spc="-1" strike="noStrike">
                <a:solidFill>
                  <a:srgbClr val="000000"/>
                </a:solidFill>
                <a:latin typeface="MeiryoUI"/>
              </a:rPr>
              <a:t>＞</a:t>
            </a:r>
            <a:r>
              <a:rPr b="0" lang="en-US" sz="2400" spc="-1" strike="noStrike">
                <a:solidFill>
                  <a:srgbClr val="000000"/>
                </a:solidFill>
                <a:latin typeface="Meiryo UI"/>
              </a:rPr>
              <a:t>DO </a:t>
            </a:r>
            <a:r>
              <a:rPr b="0" lang="zh-CN" sz="2400" spc="-1" strike="noStrike">
                <a:solidFill>
                  <a:srgbClr val="000000"/>
                </a:solidFill>
                <a:latin typeface="MeiryoUI"/>
              </a:rPr>
              <a:t>月間資料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230" name="TextShape 57"/>
          <p:cNvSpPr txBox="1"/>
          <p:nvPr/>
        </p:nvSpPr>
        <p:spPr>
          <a:xfrm>
            <a:off x="6544800" y="2769480"/>
            <a:ext cx="20548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2400" spc="-1" strike="noStrike">
                <a:solidFill>
                  <a:srgbClr val="000000"/>
                </a:solidFill>
                <a:latin typeface="Meiryo UI"/>
              </a:rPr>
              <a:t>DO</a:t>
            </a:r>
            <a:r>
              <a:rPr b="0" lang="zh-CN" sz="2400" spc="-1" strike="noStrike">
                <a:solidFill>
                  <a:srgbClr val="000000"/>
                </a:solidFill>
                <a:latin typeface="MeiryoUI"/>
              </a:rPr>
              <a:t>個別対応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231" name="TextShape 58"/>
          <p:cNvSpPr txBox="1"/>
          <p:nvPr/>
        </p:nvSpPr>
        <p:spPr>
          <a:xfrm>
            <a:off x="9136080" y="2769480"/>
            <a:ext cx="28414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400" spc="-1" strike="noStrike">
                <a:solidFill>
                  <a:srgbClr val="000000"/>
                </a:solidFill>
                <a:latin typeface="MeiryoUI"/>
              </a:rPr>
              <a:t>各種データ提供等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232" name="TextShape 59"/>
          <p:cNvSpPr txBox="1"/>
          <p:nvPr/>
        </p:nvSpPr>
        <p:spPr>
          <a:xfrm>
            <a:off x="6813000" y="3417480"/>
            <a:ext cx="142092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400" spc="-1" strike="noStrike">
                <a:solidFill>
                  <a:srgbClr val="000000"/>
                </a:solidFill>
                <a:latin typeface="MeiryoUI"/>
              </a:rPr>
              <a:t>予実検証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233" name="TextShape 60"/>
          <p:cNvSpPr txBox="1"/>
          <p:nvPr/>
        </p:nvSpPr>
        <p:spPr>
          <a:xfrm>
            <a:off x="9081360" y="3417480"/>
            <a:ext cx="28414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400" spc="-1" strike="noStrike">
                <a:solidFill>
                  <a:srgbClr val="000000"/>
                </a:solidFill>
                <a:latin typeface="MeiryoUI"/>
              </a:rPr>
              <a:t>予算ー実績の確認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234" name="TextShape 61"/>
          <p:cNvSpPr txBox="1"/>
          <p:nvPr/>
        </p:nvSpPr>
        <p:spPr>
          <a:xfrm>
            <a:off x="7497360" y="4065120"/>
            <a:ext cx="3556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400" spc="-1" strike="noStrike">
                <a:solidFill>
                  <a:srgbClr val="000000"/>
                </a:solidFill>
                <a:latin typeface="MeiryoUI"/>
              </a:rPr>
              <a:t>ー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235" name="Freeform 62"/>
          <p:cNvSpPr/>
          <p:nvPr/>
        </p:nvSpPr>
        <p:spPr>
          <a:xfrm>
            <a:off x="182880" y="5231880"/>
            <a:ext cx="11834280" cy="957600"/>
          </a:xfrm>
          <a:custGeom>
            <a:avLst/>
            <a:gdLst/>
            <a:ahLst/>
            <a:rect l="0" t="0" r="r" b="b"/>
            <a:pathLst>
              <a:path w="32873" h="2660">
                <a:moveTo>
                  <a:pt x="0" y="2659"/>
                </a:moveTo>
                <a:lnTo>
                  <a:pt x="32872" y="2659"/>
                </a:lnTo>
                <a:lnTo>
                  <a:pt x="32872" y="0"/>
                </a:lnTo>
                <a:lnTo>
                  <a:pt x="0" y="0"/>
                </a:lnTo>
                <a:lnTo>
                  <a:pt x="0" y="2659"/>
                </a:lnTo>
                <a:close/>
              </a:path>
            </a:pathLst>
          </a:custGeom>
          <a:solidFill>
            <a:srgbClr val="ffffcc"/>
          </a:solidFill>
          <a:ln w="0">
            <a:noFill/>
          </a:ln>
        </p:spPr>
      </p:sp>
      <p:sp>
        <p:nvSpPr>
          <p:cNvPr id="1236" name="TextShape 63"/>
          <p:cNvSpPr txBox="1"/>
          <p:nvPr/>
        </p:nvSpPr>
        <p:spPr>
          <a:xfrm>
            <a:off x="10291320" y="4065120"/>
            <a:ext cx="3556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400" spc="-1" strike="noStrike">
                <a:solidFill>
                  <a:srgbClr val="000000"/>
                </a:solidFill>
                <a:latin typeface="MeiryoUI"/>
              </a:rPr>
              <a:t>ー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237" name="TextShape 64"/>
          <p:cNvSpPr txBox="1"/>
          <p:nvPr/>
        </p:nvSpPr>
        <p:spPr>
          <a:xfrm>
            <a:off x="275040" y="5312520"/>
            <a:ext cx="564912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400" spc="-1" strike="noStrike">
                <a:solidFill>
                  <a:srgbClr val="c00000"/>
                </a:solidFill>
                <a:latin typeface="MeiryoUI"/>
              </a:rPr>
              <a:t>※</a:t>
            </a:r>
            <a:r>
              <a:rPr b="1" lang="zh-CN" sz="2400" spc="-1" strike="noStrike">
                <a:solidFill>
                  <a:srgbClr val="c00000"/>
                </a:solidFill>
                <a:latin typeface="MeiryoUI"/>
              </a:rPr>
              <a:t>移転などで店番が変更した場合※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238" name="TextShape 65"/>
          <p:cNvSpPr txBox="1"/>
          <p:nvPr/>
        </p:nvSpPr>
        <p:spPr>
          <a:xfrm>
            <a:off x="275040" y="5739480"/>
            <a:ext cx="603720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c00000"/>
                </a:solidFill>
                <a:latin typeface="MeiryoUI"/>
              </a:rPr>
              <a:t>旧店データの引き継ぎ＋数値（前年比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239" name="TextShape 66"/>
          <p:cNvSpPr txBox="1"/>
          <p:nvPr/>
        </p:nvSpPr>
        <p:spPr>
          <a:xfrm>
            <a:off x="5960520" y="5856840"/>
            <a:ext cx="2293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c00000"/>
                </a:solidFill>
                <a:latin typeface="MeiryoUI"/>
              </a:rPr>
              <a:t>等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1240" name="TextShape 67"/>
          <p:cNvSpPr txBox="1"/>
          <p:nvPr/>
        </p:nvSpPr>
        <p:spPr>
          <a:xfrm>
            <a:off x="6190560" y="5739480"/>
            <a:ext cx="5327280" cy="41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c00000"/>
                </a:solidFill>
                <a:latin typeface="MeiryoUI"/>
              </a:rPr>
              <a:t>）反映が出来ない場合があります</a:t>
            </a:r>
            <a:endParaRPr b="0" lang="en-US" sz="24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Freeform 1"/>
          <p:cNvSpPr/>
          <p:nvPr/>
        </p:nvSpPr>
        <p:spPr>
          <a:xfrm>
            <a:off x="0" y="-360"/>
            <a:ext cx="12192480" cy="6858720"/>
          </a:xfrm>
          <a:custGeom>
            <a:avLst/>
            <a:gdLst/>
            <a:ahLst/>
            <a:rect l="0" t="0" r="r" b="b"/>
            <a:pathLst>
              <a:path w="33868" h="19052">
                <a:moveTo>
                  <a:pt x="0" y="19051"/>
                </a:moveTo>
                <a:lnTo>
                  <a:pt x="33867" y="19051"/>
                </a:lnTo>
                <a:lnTo>
                  <a:pt x="33867" y="0"/>
                </a:lnTo>
                <a:lnTo>
                  <a:pt x="0" y="0"/>
                </a:lnTo>
                <a:lnTo>
                  <a:pt x="0" y="1905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pic>
        <p:nvPicPr>
          <p:cNvPr id="1242" name="" descr=""/>
          <p:cNvPicPr/>
          <p:nvPr/>
        </p:nvPicPr>
        <p:blipFill>
          <a:blip r:embed="rId1"/>
          <a:stretch/>
        </p:blipFill>
        <p:spPr>
          <a:xfrm>
            <a:off x="175320" y="586800"/>
            <a:ext cx="11841120" cy="209880"/>
          </a:xfrm>
          <a:prstGeom prst="rect">
            <a:avLst/>
          </a:prstGeom>
          <a:ln w="0">
            <a:noFill/>
          </a:ln>
        </p:spPr>
      </p:pic>
      <p:pic>
        <p:nvPicPr>
          <p:cNvPr id="1243" name="" descr=""/>
          <p:cNvPicPr/>
          <p:nvPr/>
        </p:nvPicPr>
        <p:blipFill>
          <a:blip r:embed="rId2"/>
          <a:stretch/>
        </p:blipFill>
        <p:spPr>
          <a:xfrm>
            <a:off x="5122080" y="6681240"/>
            <a:ext cx="1947240" cy="115560"/>
          </a:xfrm>
          <a:prstGeom prst="rect">
            <a:avLst/>
          </a:prstGeom>
          <a:ln w="0">
            <a:noFill/>
          </a:ln>
        </p:spPr>
      </p:pic>
      <p:sp>
        <p:nvSpPr>
          <p:cNvPr id="1244" name="Freeform 2"/>
          <p:cNvSpPr/>
          <p:nvPr/>
        </p:nvSpPr>
        <p:spPr>
          <a:xfrm>
            <a:off x="151560" y="6209280"/>
            <a:ext cx="1620720" cy="360360"/>
          </a:xfrm>
          <a:custGeom>
            <a:avLst/>
            <a:gdLst/>
            <a:ahLst/>
            <a:rect l="0" t="0" r="r" b="b"/>
            <a:pathLst>
              <a:path w="4502" h="1001">
                <a:moveTo>
                  <a:pt x="0" y="1000"/>
                </a:moveTo>
                <a:lnTo>
                  <a:pt x="4501" y="1000"/>
                </a:lnTo>
                <a:lnTo>
                  <a:pt x="4501" y="0"/>
                </a:lnTo>
                <a:lnTo>
                  <a:pt x="0" y="0"/>
                </a:lnTo>
                <a:lnTo>
                  <a:pt x="0" y="1000"/>
                </a:lnTo>
                <a:close/>
              </a:path>
            </a:pathLst>
          </a:custGeom>
          <a:solidFill>
            <a:srgbClr val="ffffff"/>
          </a:solidFill>
          <a:ln w="31680">
            <a:solidFill>
              <a:srgbClr val="ff0000"/>
            </a:solidFill>
            <a:round/>
          </a:ln>
        </p:spPr>
      </p:sp>
      <p:sp>
        <p:nvSpPr>
          <p:cNvPr id="1245" name="TextShape 3"/>
          <p:cNvSpPr txBox="1"/>
          <p:nvPr/>
        </p:nvSpPr>
        <p:spPr>
          <a:xfrm>
            <a:off x="555840" y="627012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ff0000"/>
                </a:solidFill>
                <a:latin typeface="Meiryo"/>
              </a:rPr>
              <a:t>社内限り</a:t>
            </a:r>
            <a:endParaRPr b="0" lang="en-US" sz="1400" spc="-1" strike="noStrike">
              <a:latin typeface="Times New Roman"/>
            </a:endParaRPr>
          </a:p>
        </p:txBody>
      </p:sp>
      <p:pic>
        <p:nvPicPr>
          <p:cNvPr id="1246" name="" descr=""/>
          <p:cNvPicPr/>
          <p:nvPr/>
        </p:nvPicPr>
        <p:blipFill>
          <a:blip r:embed="rId3"/>
          <a:stretch/>
        </p:blipFill>
        <p:spPr>
          <a:xfrm>
            <a:off x="11428560" y="149400"/>
            <a:ext cx="411120" cy="432360"/>
          </a:xfrm>
          <a:prstGeom prst="rect">
            <a:avLst/>
          </a:prstGeom>
          <a:ln w="0">
            <a:noFill/>
          </a:ln>
        </p:spPr>
      </p:pic>
      <p:sp>
        <p:nvSpPr>
          <p:cNvPr id="1247" name="Freeform 4"/>
          <p:cNvSpPr/>
          <p:nvPr/>
        </p:nvSpPr>
        <p:spPr>
          <a:xfrm>
            <a:off x="9806040" y="204840"/>
            <a:ext cx="1497240" cy="361800"/>
          </a:xfrm>
          <a:custGeom>
            <a:avLst/>
            <a:gdLst/>
            <a:ahLst/>
            <a:rect l="0" t="0" r="r" b="b"/>
            <a:pathLst>
              <a:path w="4159" h="1005">
                <a:moveTo>
                  <a:pt x="0" y="1004"/>
                </a:moveTo>
                <a:lnTo>
                  <a:pt x="4158" y="1004"/>
                </a:lnTo>
                <a:lnTo>
                  <a:pt x="4158" y="0"/>
                </a:lnTo>
                <a:lnTo>
                  <a:pt x="0" y="0"/>
                </a:lnTo>
                <a:lnTo>
                  <a:pt x="0" y="1004"/>
                </a:lnTo>
                <a:close/>
              </a:path>
            </a:pathLst>
          </a:custGeom>
          <a:solidFill>
            <a:srgbClr val="ffffff"/>
          </a:solidFill>
          <a:ln w="18720">
            <a:solidFill>
              <a:srgbClr val="ff0000"/>
            </a:solidFill>
            <a:round/>
          </a:ln>
        </p:spPr>
      </p:sp>
      <p:sp>
        <p:nvSpPr>
          <p:cNvPr id="1248" name="TextShape 5"/>
          <p:cNvSpPr txBox="1"/>
          <p:nvPr/>
        </p:nvSpPr>
        <p:spPr>
          <a:xfrm>
            <a:off x="9143280" y="6356520"/>
            <a:ext cx="23598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明日の笑顔を</a:t>
            </a:r>
            <a:r>
              <a:rPr b="0" lang="en-US" sz="1600" spc="-1" strike="noStrike">
                <a:solidFill>
                  <a:srgbClr val="000000"/>
                </a:solidFill>
                <a:latin typeface="UD Digi Kyokasho NPR"/>
              </a:rPr>
              <a:t> </a:t>
            </a:r>
            <a:r>
              <a:rPr b="0" lang="zh-CN" sz="1600" spc="-1" strike="noStrike">
                <a:solidFill>
                  <a:srgbClr val="000000"/>
                </a:solidFill>
                <a:latin typeface="UDDigiKyokashoNPR"/>
              </a:rPr>
              <a:t>共に創る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1249" name="TextShape 6"/>
          <p:cNvSpPr txBox="1"/>
          <p:nvPr/>
        </p:nvSpPr>
        <p:spPr>
          <a:xfrm>
            <a:off x="10151280" y="262800"/>
            <a:ext cx="48240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ff0000"/>
                </a:solidFill>
                <a:latin typeface="Meiryo"/>
              </a:rPr>
              <a:t>秘</a:t>
            </a:r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（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1250" name="TextShape 7"/>
          <p:cNvSpPr txBox="1"/>
          <p:nvPr/>
        </p:nvSpPr>
        <p:spPr>
          <a:xfrm>
            <a:off x="10671120" y="391320"/>
            <a:ext cx="101880" cy="11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700" spc="-1" strike="noStrike">
                <a:solidFill>
                  <a:srgbClr val="ff0000"/>
                </a:solidFill>
                <a:latin typeface="Meiryo"/>
              </a:rPr>
              <a:t> </a:t>
            </a:r>
            <a:endParaRPr b="0" lang="en-US" sz="700" spc="-1" strike="noStrike">
              <a:latin typeface="Times New Roman"/>
            </a:endParaRPr>
          </a:p>
        </p:txBody>
      </p:sp>
      <p:sp>
        <p:nvSpPr>
          <p:cNvPr id="1251" name="TextShape 8"/>
          <p:cNvSpPr txBox="1"/>
          <p:nvPr/>
        </p:nvSpPr>
        <p:spPr>
          <a:xfrm>
            <a:off x="10707480" y="249840"/>
            <a:ext cx="25416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800" spc="-1" strike="noStrike">
                <a:solidFill>
                  <a:srgbClr val="ff0000"/>
                </a:solidFill>
                <a:latin typeface="Meiryo"/>
              </a:rPr>
              <a:t>B</a:t>
            </a:r>
            <a:endParaRPr b="0" lang="en-US" sz="1800" spc="-1" strike="noStrike">
              <a:latin typeface="Times New Roman"/>
            </a:endParaRPr>
          </a:p>
        </p:txBody>
      </p:sp>
      <p:sp>
        <p:nvSpPr>
          <p:cNvPr id="1252" name="TextShape 9"/>
          <p:cNvSpPr txBox="1"/>
          <p:nvPr/>
        </p:nvSpPr>
        <p:spPr>
          <a:xfrm>
            <a:off x="10925640" y="262800"/>
            <a:ext cx="241560" cy="2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600" spc="-1" strike="noStrike">
                <a:solidFill>
                  <a:srgbClr val="ff0000"/>
                </a:solidFill>
                <a:latin typeface="Meiryo"/>
              </a:rPr>
              <a:t>）</a:t>
            </a:r>
            <a:endParaRPr b="0" lang="en-US" sz="1600" spc="-1" strike="noStrike">
              <a:latin typeface="Times New Roman"/>
            </a:endParaRPr>
          </a:p>
        </p:txBody>
      </p:sp>
      <p:pic>
        <p:nvPicPr>
          <p:cNvPr id="1253" name="" descr=""/>
          <p:cNvPicPr/>
          <p:nvPr/>
        </p:nvPicPr>
        <p:blipFill>
          <a:blip r:embed="rId4"/>
          <a:stretch/>
        </p:blipFill>
        <p:spPr>
          <a:xfrm>
            <a:off x="4960800" y="6669000"/>
            <a:ext cx="2221560" cy="121680"/>
          </a:xfrm>
          <a:prstGeom prst="rect">
            <a:avLst/>
          </a:prstGeom>
          <a:ln w="0">
            <a:noFill/>
          </a:ln>
        </p:spPr>
      </p:pic>
      <p:sp>
        <p:nvSpPr>
          <p:cNvPr id="1254" name="Freeform 10"/>
          <p:cNvSpPr/>
          <p:nvPr/>
        </p:nvSpPr>
        <p:spPr>
          <a:xfrm>
            <a:off x="182880" y="2093040"/>
            <a:ext cx="1097640" cy="203040"/>
          </a:xfrm>
          <a:custGeom>
            <a:avLst/>
            <a:gdLst/>
            <a:ahLst/>
            <a:rect l="0" t="0" r="r" b="b"/>
            <a:pathLst>
              <a:path w="3049" h="564">
                <a:moveTo>
                  <a:pt x="0" y="563"/>
                </a:moveTo>
                <a:lnTo>
                  <a:pt x="3048" y="563"/>
                </a:lnTo>
                <a:lnTo>
                  <a:pt x="3048" y="0"/>
                </a:lnTo>
                <a:lnTo>
                  <a:pt x="0" y="0"/>
                </a:lnTo>
                <a:lnTo>
                  <a:pt x="0" y="563"/>
                </a:lnTo>
                <a:close/>
              </a:path>
            </a:pathLst>
          </a:custGeom>
          <a:solidFill>
            <a:srgbClr val="d9d9d9"/>
          </a:solidFill>
          <a:ln w="0">
            <a:noFill/>
          </a:ln>
        </p:spPr>
      </p:sp>
      <p:sp>
        <p:nvSpPr>
          <p:cNvPr id="1255" name="Freeform 11"/>
          <p:cNvSpPr/>
          <p:nvPr/>
        </p:nvSpPr>
        <p:spPr>
          <a:xfrm>
            <a:off x="182880" y="2288880"/>
            <a:ext cx="1097640" cy="203400"/>
          </a:xfrm>
          <a:custGeom>
            <a:avLst/>
            <a:gdLst/>
            <a:ahLst/>
            <a:rect l="0" t="0" r="r" b="b"/>
            <a:pathLst>
              <a:path w="3049" h="565">
                <a:moveTo>
                  <a:pt x="0" y="564"/>
                </a:moveTo>
                <a:lnTo>
                  <a:pt x="3048" y="564"/>
                </a:lnTo>
                <a:lnTo>
                  <a:pt x="3048" y="0"/>
                </a:lnTo>
                <a:lnTo>
                  <a:pt x="0" y="0"/>
                </a:lnTo>
                <a:lnTo>
                  <a:pt x="0" y="564"/>
                </a:lnTo>
                <a:close/>
              </a:path>
            </a:pathLst>
          </a:custGeom>
          <a:solidFill>
            <a:srgbClr val="d9d9d9"/>
          </a:solidFill>
          <a:ln w="0">
            <a:noFill/>
          </a:ln>
        </p:spPr>
      </p:sp>
      <p:sp>
        <p:nvSpPr>
          <p:cNvPr id="1256" name="Freeform 12"/>
          <p:cNvSpPr/>
          <p:nvPr/>
        </p:nvSpPr>
        <p:spPr>
          <a:xfrm>
            <a:off x="3454200" y="2288880"/>
            <a:ext cx="1098000" cy="203400"/>
          </a:xfrm>
          <a:custGeom>
            <a:avLst/>
            <a:gdLst/>
            <a:ahLst/>
            <a:rect l="0" t="0" r="r" b="b"/>
            <a:pathLst>
              <a:path w="3050" h="565">
                <a:moveTo>
                  <a:pt x="0" y="564"/>
                </a:moveTo>
                <a:lnTo>
                  <a:pt x="3049" y="564"/>
                </a:lnTo>
                <a:lnTo>
                  <a:pt x="3049" y="0"/>
                </a:lnTo>
                <a:lnTo>
                  <a:pt x="0" y="0"/>
                </a:lnTo>
                <a:lnTo>
                  <a:pt x="0" y="56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57" name="Freeform 13"/>
          <p:cNvSpPr/>
          <p:nvPr/>
        </p:nvSpPr>
        <p:spPr>
          <a:xfrm>
            <a:off x="182880" y="2485080"/>
            <a:ext cx="1097640" cy="660240"/>
          </a:xfrm>
          <a:custGeom>
            <a:avLst/>
            <a:gdLst/>
            <a:ahLst/>
            <a:rect l="0" t="0" r="r" b="b"/>
            <a:pathLst>
              <a:path w="3049" h="1834">
                <a:moveTo>
                  <a:pt x="0" y="1833"/>
                </a:moveTo>
                <a:lnTo>
                  <a:pt x="3048" y="1833"/>
                </a:lnTo>
                <a:lnTo>
                  <a:pt x="3048" y="0"/>
                </a:lnTo>
                <a:lnTo>
                  <a:pt x="0" y="0"/>
                </a:lnTo>
                <a:lnTo>
                  <a:pt x="0" y="1833"/>
                </a:lnTo>
                <a:close/>
              </a:path>
            </a:pathLst>
          </a:custGeom>
          <a:solidFill>
            <a:srgbClr val="d9d9d9"/>
          </a:solidFill>
          <a:ln w="0">
            <a:noFill/>
          </a:ln>
        </p:spPr>
      </p:sp>
      <p:sp>
        <p:nvSpPr>
          <p:cNvPr id="1258" name="Freeform 14"/>
          <p:cNvSpPr/>
          <p:nvPr/>
        </p:nvSpPr>
        <p:spPr>
          <a:xfrm>
            <a:off x="1273320" y="3138120"/>
            <a:ext cx="1097640" cy="203400"/>
          </a:xfrm>
          <a:custGeom>
            <a:avLst/>
            <a:gdLst/>
            <a:ahLst/>
            <a:rect l="0" t="0" r="r" b="b"/>
            <a:pathLst>
              <a:path w="3049" h="565">
                <a:moveTo>
                  <a:pt x="0" y="564"/>
                </a:moveTo>
                <a:lnTo>
                  <a:pt x="3048" y="564"/>
                </a:lnTo>
                <a:lnTo>
                  <a:pt x="3048" y="0"/>
                </a:lnTo>
                <a:lnTo>
                  <a:pt x="0" y="0"/>
                </a:lnTo>
                <a:lnTo>
                  <a:pt x="0" y="56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59" name="Freeform 15"/>
          <p:cNvSpPr/>
          <p:nvPr/>
        </p:nvSpPr>
        <p:spPr>
          <a:xfrm>
            <a:off x="1273320" y="3334320"/>
            <a:ext cx="1097640" cy="203040"/>
          </a:xfrm>
          <a:custGeom>
            <a:avLst/>
            <a:gdLst/>
            <a:ahLst/>
            <a:rect l="0" t="0" r="r" b="b"/>
            <a:pathLst>
              <a:path w="3049" h="564">
                <a:moveTo>
                  <a:pt x="0" y="563"/>
                </a:moveTo>
                <a:lnTo>
                  <a:pt x="3048" y="563"/>
                </a:lnTo>
                <a:lnTo>
                  <a:pt x="3048" y="0"/>
                </a:lnTo>
                <a:lnTo>
                  <a:pt x="0" y="0"/>
                </a:lnTo>
                <a:lnTo>
                  <a:pt x="0" y="56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60" name="Freeform 16"/>
          <p:cNvSpPr/>
          <p:nvPr/>
        </p:nvSpPr>
        <p:spPr>
          <a:xfrm>
            <a:off x="1273320" y="3530160"/>
            <a:ext cx="1097640" cy="660240"/>
          </a:xfrm>
          <a:custGeom>
            <a:avLst/>
            <a:gdLst/>
            <a:ahLst/>
            <a:rect l="0" t="0" r="r" b="b"/>
            <a:pathLst>
              <a:path w="3049" h="1834">
                <a:moveTo>
                  <a:pt x="0" y="1833"/>
                </a:moveTo>
                <a:lnTo>
                  <a:pt x="3048" y="1833"/>
                </a:lnTo>
                <a:lnTo>
                  <a:pt x="3048" y="0"/>
                </a:lnTo>
                <a:lnTo>
                  <a:pt x="0" y="0"/>
                </a:lnTo>
                <a:lnTo>
                  <a:pt x="0" y="183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</p:sp>
      <p:sp>
        <p:nvSpPr>
          <p:cNvPr id="1261" name="Freeform 17"/>
          <p:cNvSpPr/>
          <p:nvPr/>
        </p:nvSpPr>
        <p:spPr>
          <a:xfrm>
            <a:off x="1273320" y="5228640"/>
            <a:ext cx="4369680" cy="203040"/>
          </a:xfrm>
          <a:custGeom>
            <a:avLst/>
            <a:gdLst/>
            <a:ahLst/>
            <a:rect l="0" t="0" r="r" b="b"/>
            <a:pathLst>
              <a:path w="12138" h="564">
                <a:moveTo>
                  <a:pt x="0" y="563"/>
                </a:moveTo>
                <a:lnTo>
                  <a:pt x="12137" y="563"/>
                </a:lnTo>
                <a:lnTo>
                  <a:pt x="12137" y="0"/>
                </a:lnTo>
                <a:lnTo>
                  <a:pt x="0" y="0"/>
                </a:lnTo>
                <a:lnTo>
                  <a:pt x="0" y="563"/>
                </a:lnTo>
                <a:close/>
              </a:path>
            </a:pathLst>
          </a:custGeom>
          <a:solidFill>
            <a:srgbClr val="d9d9d9"/>
          </a:solidFill>
          <a:ln w="0">
            <a:noFill/>
          </a:ln>
        </p:spPr>
      </p:sp>
      <p:sp>
        <p:nvSpPr>
          <p:cNvPr id="1262" name="TextShape 18"/>
          <p:cNvSpPr txBox="1"/>
          <p:nvPr/>
        </p:nvSpPr>
        <p:spPr>
          <a:xfrm>
            <a:off x="8179200" y="303480"/>
            <a:ext cx="15246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100" spc="-1" strike="noStrike">
                <a:solidFill>
                  <a:srgbClr val="000000"/>
                </a:solidFill>
                <a:latin typeface="Meiryo"/>
              </a:rPr>
              <a:t>フィールドサポート部</a:t>
            </a:r>
            <a:endParaRPr b="0" lang="en-US" sz="1100" spc="-1" strike="noStrike">
              <a:latin typeface="Times New Roman"/>
            </a:endParaRPr>
          </a:p>
        </p:txBody>
      </p:sp>
      <p:sp>
        <p:nvSpPr>
          <p:cNvPr id="1263" name="TextShape 19"/>
          <p:cNvSpPr txBox="1"/>
          <p:nvPr/>
        </p:nvSpPr>
        <p:spPr>
          <a:xfrm>
            <a:off x="215640" y="855360"/>
            <a:ext cx="4122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050" spc="-1" strike="noStrike">
                <a:solidFill>
                  <a:srgbClr val="000000"/>
                </a:solidFill>
                <a:latin typeface="MeiryoUI"/>
              </a:rPr>
              <a:t>月曜日</a:t>
            </a:r>
            <a:endParaRPr b="0" lang="en-US" sz="1050" spc="-1" strike="noStrike">
              <a:latin typeface="Times New Roman"/>
            </a:endParaRPr>
          </a:p>
        </p:txBody>
      </p:sp>
      <p:sp>
        <p:nvSpPr>
          <p:cNvPr id="1264" name="TextShape 20"/>
          <p:cNvSpPr txBox="1"/>
          <p:nvPr/>
        </p:nvSpPr>
        <p:spPr>
          <a:xfrm>
            <a:off x="1306080" y="855360"/>
            <a:ext cx="4122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050" spc="-1" strike="noStrike">
                <a:solidFill>
                  <a:srgbClr val="000000"/>
                </a:solidFill>
                <a:latin typeface="MeiryoUI"/>
              </a:rPr>
              <a:t>火曜日</a:t>
            </a:r>
            <a:endParaRPr b="0" lang="en-US" sz="1050" spc="-1" strike="noStrike">
              <a:latin typeface="Times New Roman"/>
            </a:endParaRPr>
          </a:p>
        </p:txBody>
      </p:sp>
      <p:sp>
        <p:nvSpPr>
          <p:cNvPr id="1265" name="TextShape 21"/>
          <p:cNvSpPr txBox="1"/>
          <p:nvPr/>
        </p:nvSpPr>
        <p:spPr>
          <a:xfrm>
            <a:off x="2396520" y="855360"/>
            <a:ext cx="4122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050" spc="-1" strike="noStrike">
                <a:solidFill>
                  <a:srgbClr val="000000"/>
                </a:solidFill>
                <a:latin typeface="MeiryoUI"/>
              </a:rPr>
              <a:t>水曜日</a:t>
            </a:r>
            <a:endParaRPr b="0" lang="en-US" sz="1050" spc="-1" strike="noStrike">
              <a:latin typeface="Times New Roman"/>
            </a:endParaRPr>
          </a:p>
        </p:txBody>
      </p:sp>
      <p:sp>
        <p:nvSpPr>
          <p:cNvPr id="1266" name="TextShape 22"/>
          <p:cNvSpPr txBox="1"/>
          <p:nvPr/>
        </p:nvSpPr>
        <p:spPr>
          <a:xfrm>
            <a:off x="3486960" y="855360"/>
            <a:ext cx="4122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050" spc="-1" strike="noStrike">
                <a:solidFill>
                  <a:srgbClr val="000000"/>
                </a:solidFill>
                <a:latin typeface="MeiryoUI"/>
              </a:rPr>
              <a:t>木曜日</a:t>
            </a:r>
            <a:endParaRPr b="0" lang="en-US" sz="1050" spc="-1" strike="noStrike">
              <a:latin typeface="Times New Roman"/>
            </a:endParaRPr>
          </a:p>
        </p:txBody>
      </p:sp>
      <p:sp>
        <p:nvSpPr>
          <p:cNvPr id="1267" name="TextShape 23"/>
          <p:cNvSpPr txBox="1"/>
          <p:nvPr/>
        </p:nvSpPr>
        <p:spPr>
          <a:xfrm>
            <a:off x="4577760" y="855360"/>
            <a:ext cx="4122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050" spc="-1" strike="noStrike">
                <a:solidFill>
                  <a:srgbClr val="000000"/>
                </a:solidFill>
                <a:latin typeface="MeiryoUI"/>
              </a:rPr>
              <a:t>金曜日</a:t>
            </a:r>
            <a:endParaRPr b="0" lang="en-US" sz="1050" spc="-1" strike="noStrike">
              <a:latin typeface="Times New Roman"/>
            </a:endParaRPr>
          </a:p>
        </p:txBody>
      </p:sp>
      <p:sp>
        <p:nvSpPr>
          <p:cNvPr id="1268" name="TextShape 24"/>
          <p:cNvSpPr txBox="1"/>
          <p:nvPr/>
        </p:nvSpPr>
        <p:spPr>
          <a:xfrm>
            <a:off x="222120" y="1054080"/>
            <a:ext cx="176040" cy="20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Meiryo UI"/>
              </a:rPr>
              <a:t>3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269" name="TextShape 25"/>
          <p:cNvSpPr txBox="1"/>
          <p:nvPr/>
        </p:nvSpPr>
        <p:spPr>
          <a:xfrm>
            <a:off x="1312560" y="1054080"/>
            <a:ext cx="176040" cy="20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Meiryo UI"/>
              </a:rPr>
              <a:t>4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270" name="TextShape 26"/>
          <p:cNvSpPr txBox="1"/>
          <p:nvPr/>
        </p:nvSpPr>
        <p:spPr>
          <a:xfrm>
            <a:off x="2403000" y="1054080"/>
            <a:ext cx="176040" cy="20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Meiryo UI"/>
              </a:rPr>
              <a:t>5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271" name="TextShape 27"/>
          <p:cNvSpPr txBox="1"/>
          <p:nvPr/>
        </p:nvSpPr>
        <p:spPr>
          <a:xfrm>
            <a:off x="3493800" y="1054080"/>
            <a:ext cx="176040" cy="20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Meiryo UI"/>
              </a:rPr>
              <a:t>6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272" name="TextShape 28"/>
          <p:cNvSpPr txBox="1"/>
          <p:nvPr/>
        </p:nvSpPr>
        <p:spPr>
          <a:xfrm>
            <a:off x="4584240" y="1054080"/>
            <a:ext cx="176040" cy="20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Meiryo UI"/>
              </a:rPr>
              <a:t>7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273" name="TextShape 29"/>
          <p:cNvSpPr txBox="1"/>
          <p:nvPr/>
        </p:nvSpPr>
        <p:spPr>
          <a:xfrm>
            <a:off x="1312560" y="1249920"/>
            <a:ext cx="707760" cy="20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1200" spc="-1" strike="noStrike">
                <a:solidFill>
                  <a:srgbClr val="000000"/>
                </a:solidFill>
                <a:latin typeface="MeiryoUI"/>
              </a:rPr>
              <a:t>営業会議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274" name="TextShape 30"/>
          <p:cNvSpPr txBox="1"/>
          <p:nvPr/>
        </p:nvSpPr>
        <p:spPr>
          <a:xfrm>
            <a:off x="2390040" y="1461600"/>
            <a:ext cx="73368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Meiryo UI"/>
              </a:rPr>
              <a:t>2</a:t>
            </a:r>
            <a:r>
              <a:rPr b="0" lang="zh-CN" sz="900" spc="-1" strike="noStrike">
                <a:solidFill>
                  <a:srgbClr val="000000"/>
                </a:solidFill>
                <a:latin typeface="MeiryoUI"/>
              </a:rPr>
              <a:t>月度締め日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1275" name="TextShape 31"/>
          <p:cNvSpPr txBox="1"/>
          <p:nvPr/>
        </p:nvSpPr>
        <p:spPr>
          <a:xfrm>
            <a:off x="3480480" y="1461600"/>
            <a:ext cx="6966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900" spc="-1" strike="noStrike">
                <a:solidFill>
                  <a:srgbClr val="000000"/>
                </a:solidFill>
                <a:latin typeface="Meiryo UI"/>
              </a:rPr>
              <a:t>2</a:t>
            </a:r>
            <a:r>
              <a:rPr b="0" lang="zh-CN" sz="900" spc="-1" strike="noStrike">
                <a:solidFill>
                  <a:srgbClr val="000000"/>
                </a:solidFill>
                <a:latin typeface="MeiryoUI"/>
              </a:rPr>
              <a:t>月度</a:t>
            </a:r>
            <a:r>
              <a:rPr b="0" lang="en-US" sz="900" spc="-1" strike="noStrike">
                <a:solidFill>
                  <a:srgbClr val="000000"/>
                </a:solidFill>
                <a:latin typeface="Meiryo UI"/>
              </a:rPr>
              <a:t>PLBS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1276" name="TextShape 32"/>
          <p:cNvSpPr txBox="1"/>
          <p:nvPr/>
        </p:nvSpPr>
        <p:spPr>
          <a:xfrm>
            <a:off x="222120" y="2099160"/>
            <a:ext cx="226440" cy="20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Meiryo UI"/>
              </a:rPr>
              <a:t>10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277" name="TextShape 33"/>
          <p:cNvSpPr txBox="1"/>
          <p:nvPr/>
        </p:nvSpPr>
        <p:spPr>
          <a:xfrm>
            <a:off x="1312560" y="2099160"/>
            <a:ext cx="226440" cy="20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Meiryo UI"/>
              </a:rPr>
              <a:t>11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278" name="TextShape 34"/>
          <p:cNvSpPr txBox="1"/>
          <p:nvPr/>
        </p:nvSpPr>
        <p:spPr>
          <a:xfrm>
            <a:off x="2403000" y="2099160"/>
            <a:ext cx="226440" cy="20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Meiryo UI"/>
              </a:rPr>
              <a:t>12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279" name="TextShape 35"/>
          <p:cNvSpPr txBox="1"/>
          <p:nvPr/>
        </p:nvSpPr>
        <p:spPr>
          <a:xfrm>
            <a:off x="3493800" y="2099160"/>
            <a:ext cx="226440" cy="20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Meiryo UI"/>
              </a:rPr>
              <a:t>13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280" name="TextShape 36"/>
          <p:cNvSpPr txBox="1"/>
          <p:nvPr/>
        </p:nvSpPr>
        <p:spPr>
          <a:xfrm>
            <a:off x="4584240" y="2099160"/>
            <a:ext cx="226440" cy="20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Meiryo UI"/>
              </a:rPr>
              <a:t>14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281" name="TextShape 37"/>
          <p:cNvSpPr txBox="1"/>
          <p:nvPr/>
        </p:nvSpPr>
        <p:spPr>
          <a:xfrm>
            <a:off x="208800" y="2507040"/>
            <a:ext cx="37548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900" spc="-1" strike="noStrike">
                <a:solidFill>
                  <a:srgbClr val="ff0000"/>
                </a:solidFill>
                <a:latin typeface="MeiryoUI"/>
              </a:rPr>
              <a:t>特休日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1282" name="TextShape 38"/>
          <p:cNvSpPr txBox="1"/>
          <p:nvPr/>
        </p:nvSpPr>
        <p:spPr>
          <a:xfrm>
            <a:off x="222120" y="3144600"/>
            <a:ext cx="226440" cy="20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Meiryo UI"/>
              </a:rPr>
              <a:t>17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283" name="TextShape 39"/>
          <p:cNvSpPr txBox="1"/>
          <p:nvPr/>
        </p:nvSpPr>
        <p:spPr>
          <a:xfrm>
            <a:off x="1312560" y="3144600"/>
            <a:ext cx="226440" cy="20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Meiryo UI"/>
              </a:rPr>
              <a:t>18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284" name="TextShape 40"/>
          <p:cNvSpPr txBox="1"/>
          <p:nvPr/>
        </p:nvSpPr>
        <p:spPr>
          <a:xfrm>
            <a:off x="2403000" y="3144600"/>
            <a:ext cx="226440" cy="20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Meiryo UI"/>
              </a:rPr>
              <a:t>19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285" name="TextShape 41"/>
          <p:cNvSpPr txBox="1"/>
          <p:nvPr/>
        </p:nvSpPr>
        <p:spPr>
          <a:xfrm>
            <a:off x="3493800" y="3144600"/>
            <a:ext cx="226440" cy="20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Meiryo UI"/>
              </a:rPr>
              <a:t>20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286" name="TextShape 42"/>
          <p:cNvSpPr txBox="1"/>
          <p:nvPr/>
        </p:nvSpPr>
        <p:spPr>
          <a:xfrm>
            <a:off x="4584240" y="3144600"/>
            <a:ext cx="226440" cy="20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Meiryo UI"/>
              </a:rPr>
              <a:t>21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287" name="TextShape 43"/>
          <p:cNvSpPr txBox="1"/>
          <p:nvPr/>
        </p:nvSpPr>
        <p:spPr>
          <a:xfrm>
            <a:off x="222120" y="3340440"/>
            <a:ext cx="621000" cy="20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Meiryo UI"/>
              </a:rPr>
              <a:t>FC</a:t>
            </a:r>
            <a:r>
              <a:rPr b="0" lang="zh-CN" sz="1200" spc="-1" strike="noStrike">
                <a:solidFill>
                  <a:srgbClr val="000000"/>
                </a:solidFill>
                <a:latin typeface="MeiryoUI"/>
              </a:rPr>
              <a:t>会議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288" name="TextShape 44"/>
          <p:cNvSpPr txBox="1"/>
          <p:nvPr/>
        </p:nvSpPr>
        <p:spPr>
          <a:xfrm>
            <a:off x="222120" y="4189680"/>
            <a:ext cx="226440" cy="20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Meiryo UI"/>
              </a:rPr>
              <a:t>24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289" name="TextShape 45"/>
          <p:cNvSpPr txBox="1"/>
          <p:nvPr/>
        </p:nvSpPr>
        <p:spPr>
          <a:xfrm>
            <a:off x="1312560" y="4189680"/>
            <a:ext cx="226440" cy="20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Meiryo UI"/>
              </a:rPr>
              <a:t>25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290" name="TextShape 46"/>
          <p:cNvSpPr txBox="1"/>
          <p:nvPr/>
        </p:nvSpPr>
        <p:spPr>
          <a:xfrm>
            <a:off x="2403000" y="4189680"/>
            <a:ext cx="226440" cy="20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Meiryo UI"/>
              </a:rPr>
              <a:t>26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291" name="TextShape 47"/>
          <p:cNvSpPr txBox="1"/>
          <p:nvPr/>
        </p:nvSpPr>
        <p:spPr>
          <a:xfrm>
            <a:off x="3493800" y="4189680"/>
            <a:ext cx="226440" cy="20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Meiryo UI"/>
              </a:rPr>
              <a:t>27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292" name="Freeform 48"/>
          <p:cNvSpPr/>
          <p:nvPr/>
        </p:nvSpPr>
        <p:spPr>
          <a:xfrm>
            <a:off x="176040" y="799560"/>
            <a:ext cx="5466960" cy="20160"/>
          </a:xfrm>
          <a:custGeom>
            <a:avLst/>
            <a:gdLst/>
            <a:ahLst/>
            <a:rect l="0" t="0" r="r" b="b"/>
            <a:pathLst>
              <a:path w="15186" h="56">
                <a:moveTo>
                  <a:pt x="0" y="55"/>
                </a:moveTo>
                <a:lnTo>
                  <a:pt x="15185" y="55"/>
                </a:lnTo>
                <a:lnTo>
                  <a:pt x="15185" y="0"/>
                </a:lnTo>
                <a:lnTo>
                  <a:pt x="0" y="0"/>
                </a:lnTo>
                <a:lnTo>
                  <a:pt x="0" y="55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</p:sp>
      <p:sp>
        <p:nvSpPr>
          <p:cNvPr id="1293" name="Freeform 49"/>
          <p:cNvSpPr/>
          <p:nvPr/>
        </p:nvSpPr>
        <p:spPr>
          <a:xfrm>
            <a:off x="186120" y="8092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</a:path>
            </a:pathLst>
          </a:custGeom>
          <a:ln cap="sq" w="6480">
            <a:solidFill>
              <a:srgbClr val="d4d4d4"/>
            </a:solidFill>
            <a:round/>
          </a:ln>
        </p:spPr>
      </p:sp>
      <p:sp>
        <p:nvSpPr>
          <p:cNvPr id="1294" name="Freeform 50"/>
          <p:cNvSpPr/>
          <p:nvPr/>
        </p:nvSpPr>
        <p:spPr>
          <a:xfrm>
            <a:off x="1276560" y="8092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</a:path>
            </a:pathLst>
          </a:custGeom>
          <a:ln cap="sq" w="6480">
            <a:solidFill>
              <a:srgbClr val="d4d4d4"/>
            </a:solidFill>
            <a:round/>
          </a:ln>
        </p:spPr>
      </p:sp>
      <p:sp>
        <p:nvSpPr>
          <p:cNvPr id="1295" name="Freeform 51"/>
          <p:cNvSpPr/>
          <p:nvPr/>
        </p:nvSpPr>
        <p:spPr>
          <a:xfrm>
            <a:off x="2367000" y="8092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</a:path>
            </a:pathLst>
          </a:custGeom>
          <a:ln cap="sq" w="6480">
            <a:solidFill>
              <a:srgbClr val="d4d4d4"/>
            </a:solidFill>
            <a:round/>
          </a:ln>
        </p:spPr>
      </p:sp>
      <p:sp>
        <p:nvSpPr>
          <p:cNvPr id="1296" name="Freeform 52"/>
          <p:cNvSpPr/>
          <p:nvPr/>
        </p:nvSpPr>
        <p:spPr>
          <a:xfrm>
            <a:off x="3457440" y="8092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</a:path>
            </a:pathLst>
          </a:custGeom>
          <a:ln cap="sq" w="6480">
            <a:solidFill>
              <a:srgbClr val="d4d4d4"/>
            </a:solidFill>
            <a:round/>
          </a:ln>
        </p:spPr>
      </p:sp>
      <p:sp>
        <p:nvSpPr>
          <p:cNvPr id="1297" name="Freeform 53"/>
          <p:cNvSpPr/>
          <p:nvPr/>
        </p:nvSpPr>
        <p:spPr>
          <a:xfrm>
            <a:off x="4548240" y="8092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</a:path>
            </a:pathLst>
          </a:custGeom>
          <a:ln cap="sq" w="6480">
            <a:solidFill>
              <a:srgbClr val="d4d4d4"/>
            </a:solidFill>
            <a:round/>
          </a:ln>
        </p:spPr>
      </p:sp>
      <p:sp>
        <p:nvSpPr>
          <p:cNvPr id="1298" name="Freeform 54"/>
          <p:cNvSpPr/>
          <p:nvPr/>
        </p:nvSpPr>
        <p:spPr>
          <a:xfrm>
            <a:off x="189360" y="1041120"/>
            <a:ext cx="5453640" cy="14040"/>
          </a:xfrm>
          <a:custGeom>
            <a:avLst/>
            <a:gdLst/>
            <a:ahLst/>
            <a:rect l="0" t="0" r="r" b="b"/>
            <a:pathLst>
              <a:path w="15149" h="39">
                <a:moveTo>
                  <a:pt x="0" y="38"/>
                </a:moveTo>
                <a:lnTo>
                  <a:pt x="15148" y="38"/>
                </a:lnTo>
                <a:lnTo>
                  <a:pt x="15148" y="0"/>
                </a:lnTo>
                <a:lnTo>
                  <a:pt x="0" y="0"/>
                </a:lnTo>
                <a:lnTo>
                  <a:pt x="0" y="38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</p:sp>
      <p:sp>
        <p:nvSpPr>
          <p:cNvPr id="1299" name="Freeform 55"/>
          <p:cNvSpPr/>
          <p:nvPr/>
        </p:nvSpPr>
        <p:spPr>
          <a:xfrm>
            <a:off x="5638680" y="8092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</a:path>
            </a:pathLst>
          </a:custGeom>
          <a:ln cap="sq" w="6480">
            <a:solidFill>
              <a:srgbClr val="d4d4d4"/>
            </a:solidFill>
            <a:round/>
          </a:ln>
        </p:spPr>
      </p:sp>
      <p:sp>
        <p:nvSpPr>
          <p:cNvPr id="1300" name="Freeform 56"/>
          <p:cNvSpPr/>
          <p:nvPr/>
        </p:nvSpPr>
        <p:spPr>
          <a:xfrm>
            <a:off x="189360" y="1237320"/>
            <a:ext cx="5453640" cy="13680"/>
          </a:xfrm>
          <a:custGeom>
            <a:avLst/>
            <a:gdLst/>
            <a:ahLst/>
            <a:rect l="0" t="0" r="r" b="b"/>
            <a:pathLst>
              <a:path w="15149" h="38">
                <a:moveTo>
                  <a:pt x="0" y="37"/>
                </a:moveTo>
                <a:lnTo>
                  <a:pt x="15148" y="37"/>
                </a:lnTo>
                <a:lnTo>
                  <a:pt x="15148" y="0"/>
                </a:lnTo>
                <a:lnTo>
                  <a:pt x="0" y="0"/>
                </a:lnTo>
                <a:lnTo>
                  <a:pt x="0" y="37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</p:sp>
      <p:sp>
        <p:nvSpPr>
          <p:cNvPr id="1301" name="Freeform 57"/>
          <p:cNvSpPr/>
          <p:nvPr/>
        </p:nvSpPr>
        <p:spPr>
          <a:xfrm>
            <a:off x="189360" y="1433160"/>
            <a:ext cx="5453640" cy="13680"/>
          </a:xfrm>
          <a:custGeom>
            <a:avLst/>
            <a:gdLst/>
            <a:ahLst/>
            <a:rect l="0" t="0" r="r" b="b"/>
            <a:pathLst>
              <a:path w="15149" h="38">
                <a:moveTo>
                  <a:pt x="0" y="37"/>
                </a:moveTo>
                <a:lnTo>
                  <a:pt x="15148" y="37"/>
                </a:lnTo>
                <a:lnTo>
                  <a:pt x="15148" y="0"/>
                </a:lnTo>
                <a:lnTo>
                  <a:pt x="0" y="0"/>
                </a:lnTo>
                <a:lnTo>
                  <a:pt x="0" y="37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</p:sp>
      <p:sp>
        <p:nvSpPr>
          <p:cNvPr id="1302" name="Freeform 58"/>
          <p:cNvSpPr/>
          <p:nvPr/>
        </p:nvSpPr>
        <p:spPr>
          <a:xfrm>
            <a:off x="189360" y="2086560"/>
            <a:ext cx="5453640" cy="13680"/>
          </a:xfrm>
          <a:custGeom>
            <a:avLst/>
            <a:gdLst/>
            <a:ahLst/>
            <a:rect l="0" t="0" r="r" b="b"/>
            <a:pathLst>
              <a:path w="15149" h="38">
                <a:moveTo>
                  <a:pt x="0" y="37"/>
                </a:moveTo>
                <a:lnTo>
                  <a:pt x="15148" y="37"/>
                </a:lnTo>
                <a:lnTo>
                  <a:pt x="15148" y="0"/>
                </a:lnTo>
                <a:lnTo>
                  <a:pt x="0" y="0"/>
                </a:lnTo>
                <a:lnTo>
                  <a:pt x="0" y="37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</p:sp>
      <p:sp>
        <p:nvSpPr>
          <p:cNvPr id="1303" name="Freeform 59"/>
          <p:cNvSpPr/>
          <p:nvPr/>
        </p:nvSpPr>
        <p:spPr>
          <a:xfrm>
            <a:off x="189360" y="2282400"/>
            <a:ext cx="5453640" cy="13680"/>
          </a:xfrm>
          <a:custGeom>
            <a:avLst/>
            <a:gdLst/>
            <a:ahLst/>
            <a:rect l="0" t="0" r="r" b="b"/>
            <a:pathLst>
              <a:path w="15149" h="38">
                <a:moveTo>
                  <a:pt x="0" y="37"/>
                </a:moveTo>
                <a:lnTo>
                  <a:pt x="15148" y="37"/>
                </a:lnTo>
                <a:lnTo>
                  <a:pt x="15148" y="0"/>
                </a:lnTo>
                <a:lnTo>
                  <a:pt x="0" y="0"/>
                </a:lnTo>
                <a:lnTo>
                  <a:pt x="0" y="37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</p:sp>
      <p:sp>
        <p:nvSpPr>
          <p:cNvPr id="1304" name="Freeform 60"/>
          <p:cNvSpPr/>
          <p:nvPr/>
        </p:nvSpPr>
        <p:spPr>
          <a:xfrm>
            <a:off x="189360" y="2478600"/>
            <a:ext cx="5453640" cy="13680"/>
          </a:xfrm>
          <a:custGeom>
            <a:avLst/>
            <a:gdLst/>
            <a:ahLst/>
            <a:rect l="0" t="0" r="r" b="b"/>
            <a:pathLst>
              <a:path w="15149" h="38">
                <a:moveTo>
                  <a:pt x="0" y="37"/>
                </a:moveTo>
                <a:lnTo>
                  <a:pt x="15148" y="37"/>
                </a:lnTo>
                <a:lnTo>
                  <a:pt x="15148" y="0"/>
                </a:lnTo>
                <a:lnTo>
                  <a:pt x="0" y="0"/>
                </a:lnTo>
                <a:lnTo>
                  <a:pt x="0" y="37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</p:sp>
      <p:sp>
        <p:nvSpPr>
          <p:cNvPr id="1305" name="Freeform 61"/>
          <p:cNvSpPr/>
          <p:nvPr/>
        </p:nvSpPr>
        <p:spPr>
          <a:xfrm>
            <a:off x="189360" y="3131640"/>
            <a:ext cx="5453640" cy="13680"/>
          </a:xfrm>
          <a:custGeom>
            <a:avLst/>
            <a:gdLst/>
            <a:ahLst/>
            <a:rect l="0" t="0" r="r" b="b"/>
            <a:pathLst>
              <a:path w="15149" h="38">
                <a:moveTo>
                  <a:pt x="0" y="37"/>
                </a:moveTo>
                <a:lnTo>
                  <a:pt x="15148" y="37"/>
                </a:lnTo>
                <a:lnTo>
                  <a:pt x="15148" y="0"/>
                </a:lnTo>
                <a:lnTo>
                  <a:pt x="0" y="0"/>
                </a:lnTo>
                <a:lnTo>
                  <a:pt x="0" y="37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</p:sp>
      <p:sp>
        <p:nvSpPr>
          <p:cNvPr id="1306" name="Freeform 62"/>
          <p:cNvSpPr/>
          <p:nvPr/>
        </p:nvSpPr>
        <p:spPr>
          <a:xfrm>
            <a:off x="189360" y="3327480"/>
            <a:ext cx="5453640" cy="14040"/>
          </a:xfrm>
          <a:custGeom>
            <a:avLst/>
            <a:gdLst/>
            <a:ahLst/>
            <a:rect l="0" t="0" r="r" b="b"/>
            <a:pathLst>
              <a:path w="15149" h="39">
                <a:moveTo>
                  <a:pt x="0" y="38"/>
                </a:moveTo>
                <a:lnTo>
                  <a:pt x="15148" y="38"/>
                </a:lnTo>
                <a:lnTo>
                  <a:pt x="15148" y="0"/>
                </a:lnTo>
                <a:lnTo>
                  <a:pt x="0" y="0"/>
                </a:lnTo>
                <a:lnTo>
                  <a:pt x="0" y="38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</p:sp>
      <p:sp>
        <p:nvSpPr>
          <p:cNvPr id="1307" name="Freeform 63"/>
          <p:cNvSpPr/>
          <p:nvPr/>
        </p:nvSpPr>
        <p:spPr>
          <a:xfrm>
            <a:off x="189360" y="3523680"/>
            <a:ext cx="5453640" cy="13680"/>
          </a:xfrm>
          <a:custGeom>
            <a:avLst/>
            <a:gdLst/>
            <a:ahLst/>
            <a:rect l="0" t="0" r="r" b="b"/>
            <a:pathLst>
              <a:path w="15149" h="38">
                <a:moveTo>
                  <a:pt x="0" y="37"/>
                </a:moveTo>
                <a:lnTo>
                  <a:pt x="15148" y="37"/>
                </a:lnTo>
                <a:lnTo>
                  <a:pt x="15148" y="0"/>
                </a:lnTo>
                <a:lnTo>
                  <a:pt x="0" y="0"/>
                </a:lnTo>
                <a:lnTo>
                  <a:pt x="0" y="37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</p:sp>
      <p:sp>
        <p:nvSpPr>
          <p:cNvPr id="1308" name="Freeform 64"/>
          <p:cNvSpPr/>
          <p:nvPr/>
        </p:nvSpPr>
        <p:spPr>
          <a:xfrm>
            <a:off x="189360" y="4176720"/>
            <a:ext cx="5453640" cy="13680"/>
          </a:xfrm>
          <a:custGeom>
            <a:avLst/>
            <a:gdLst/>
            <a:ahLst/>
            <a:rect l="0" t="0" r="r" b="b"/>
            <a:pathLst>
              <a:path w="15149" h="38">
                <a:moveTo>
                  <a:pt x="0" y="37"/>
                </a:moveTo>
                <a:lnTo>
                  <a:pt x="15148" y="37"/>
                </a:lnTo>
                <a:lnTo>
                  <a:pt x="15148" y="0"/>
                </a:lnTo>
                <a:lnTo>
                  <a:pt x="0" y="0"/>
                </a:lnTo>
                <a:lnTo>
                  <a:pt x="0" y="37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</p:sp>
      <p:sp>
        <p:nvSpPr>
          <p:cNvPr id="1309" name="Freeform 65"/>
          <p:cNvSpPr/>
          <p:nvPr/>
        </p:nvSpPr>
        <p:spPr>
          <a:xfrm>
            <a:off x="189360" y="4372920"/>
            <a:ext cx="5453640" cy="13680"/>
          </a:xfrm>
          <a:custGeom>
            <a:avLst/>
            <a:gdLst/>
            <a:ahLst/>
            <a:rect l="0" t="0" r="r" b="b"/>
            <a:pathLst>
              <a:path w="15149" h="38">
                <a:moveTo>
                  <a:pt x="0" y="37"/>
                </a:moveTo>
                <a:lnTo>
                  <a:pt x="15148" y="37"/>
                </a:lnTo>
                <a:lnTo>
                  <a:pt x="15148" y="0"/>
                </a:lnTo>
                <a:lnTo>
                  <a:pt x="0" y="0"/>
                </a:lnTo>
                <a:lnTo>
                  <a:pt x="0" y="37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</p:sp>
      <p:sp>
        <p:nvSpPr>
          <p:cNvPr id="1310" name="Freeform 66"/>
          <p:cNvSpPr/>
          <p:nvPr/>
        </p:nvSpPr>
        <p:spPr>
          <a:xfrm>
            <a:off x="189360" y="4568760"/>
            <a:ext cx="5453640" cy="13680"/>
          </a:xfrm>
          <a:custGeom>
            <a:avLst/>
            <a:gdLst/>
            <a:ahLst/>
            <a:rect l="0" t="0" r="r" b="b"/>
            <a:pathLst>
              <a:path w="15149" h="38">
                <a:moveTo>
                  <a:pt x="0" y="37"/>
                </a:moveTo>
                <a:lnTo>
                  <a:pt x="15148" y="37"/>
                </a:lnTo>
                <a:lnTo>
                  <a:pt x="15148" y="0"/>
                </a:lnTo>
                <a:lnTo>
                  <a:pt x="0" y="0"/>
                </a:lnTo>
                <a:lnTo>
                  <a:pt x="0" y="37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</p:sp>
      <p:sp>
        <p:nvSpPr>
          <p:cNvPr id="1311" name="Freeform 67"/>
          <p:cNvSpPr/>
          <p:nvPr/>
        </p:nvSpPr>
        <p:spPr>
          <a:xfrm>
            <a:off x="189360" y="5222160"/>
            <a:ext cx="5453640" cy="13680"/>
          </a:xfrm>
          <a:custGeom>
            <a:avLst/>
            <a:gdLst/>
            <a:ahLst/>
            <a:rect l="0" t="0" r="r" b="b"/>
            <a:pathLst>
              <a:path w="15149" h="38">
                <a:moveTo>
                  <a:pt x="0" y="37"/>
                </a:moveTo>
                <a:lnTo>
                  <a:pt x="15148" y="37"/>
                </a:lnTo>
                <a:lnTo>
                  <a:pt x="15148" y="0"/>
                </a:lnTo>
                <a:lnTo>
                  <a:pt x="0" y="0"/>
                </a:lnTo>
                <a:lnTo>
                  <a:pt x="0" y="37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</p:sp>
      <p:sp>
        <p:nvSpPr>
          <p:cNvPr id="1312" name="Freeform 68"/>
          <p:cNvSpPr/>
          <p:nvPr/>
        </p:nvSpPr>
        <p:spPr>
          <a:xfrm>
            <a:off x="176040" y="819000"/>
            <a:ext cx="14040" cy="4423320"/>
          </a:xfrm>
          <a:custGeom>
            <a:avLst/>
            <a:gdLst/>
            <a:ahLst/>
            <a:rect l="0" t="0" r="r" b="b"/>
            <a:pathLst>
              <a:path w="39" h="12287">
                <a:moveTo>
                  <a:pt x="0" y="12286"/>
                </a:moveTo>
                <a:lnTo>
                  <a:pt x="38" y="12286"/>
                </a:lnTo>
                <a:lnTo>
                  <a:pt x="38" y="0"/>
                </a:lnTo>
                <a:lnTo>
                  <a:pt x="0" y="0"/>
                </a:lnTo>
                <a:lnTo>
                  <a:pt x="0" y="12286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</p:sp>
      <p:sp>
        <p:nvSpPr>
          <p:cNvPr id="1313" name="Freeform 69"/>
          <p:cNvSpPr/>
          <p:nvPr/>
        </p:nvSpPr>
        <p:spPr>
          <a:xfrm>
            <a:off x="1266840" y="819000"/>
            <a:ext cx="13680" cy="4423320"/>
          </a:xfrm>
          <a:custGeom>
            <a:avLst/>
            <a:gdLst/>
            <a:ahLst/>
            <a:rect l="0" t="0" r="r" b="b"/>
            <a:pathLst>
              <a:path w="38" h="12287">
                <a:moveTo>
                  <a:pt x="0" y="12286"/>
                </a:moveTo>
                <a:lnTo>
                  <a:pt x="37" y="12286"/>
                </a:lnTo>
                <a:lnTo>
                  <a:pt x="37" y="0"/>
                </a:lnTo>
                <a:lnTo>
                  <a:pt x="0" y="0"/>
                </a:lnTo>
                <a:lnTo>
                  <a:pt x="0" y="12286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</p:sp>
      <p:sp>
        <p:nvSpPr>
          <p:cNvPr id="1314" name="Freeform 70"/>
          <p:cNvSpPr/>
          <p:nvPr/>
        </p:nvSpPr>
        <p:spPr>
          <a:xfrm>
            <a:off x="2357280" y="819000"/>
            <a:ext cx="13680" cy="4423320"/>
          </a:xfrm>
          <a:custGeom>
            <a:avLst/>
            <a:gdLst/>
            <a:ahLst/>
            <a:rect l="0" t="0" r="r" b="b"/>
            <a:pathLst>
              <a:path w="38" h="12287">
                <a:moveTo>
                  <a:pt x="0" y="12286"/>
                </a:moveTo>
                <a:lnTo>
                  <a:pt x="37" y="12286"/>
                </a:lnTo>
                <a:lnTo>
                  <a:pt x="37" y="0"/>
                </a:lnTo>
                <a:lnTo>
                  <a:pt x="0" y="0"/>
                </a:lnTo>
                <a:lnTo>
                  <a:pt x="0" y="12286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</p:sp>
      <p:sp>
        <p:nvSpPr>
          <p:cNvPr id="1315" name="Freeform 71"/>
          <p:cNvSpPr/>
          <p:nvPr/>
        </p:nvSpPr>
        <p:spPr>
          <a:xfrm>
            <a:off x="3447720" y="819000"/>
            <a:ext cx="13680" cy="4423320"/>
          </a:xfrm>
          <a:custGeom>
            <a:avLst/>
            <a:gdLst/>
            <a:ahLst/>
            <a:rect l="0" t="0" r="r" b="b"/>
            <a:pathLst>
              <a:path w="38" h="12287">
                <a:moveTo>
                  <a:pt x="0" y="12286"/>
                </a:moveTo>
                <a:lnTo>
                  <a:pt x="37" y="12286"/>
                </a:lnTo>
                <a:lnTo>
                  <a:pt x="37" y="0"/>
                </a:lnTo>
                <a:lnTo>
                  <a:pt x="0" y="0"/>
                </a:lnTo>
                <a:lnTo>
                  <a:pt x="0" y="12286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</p:sp>
      <p:sp>
        <p:nvSpPr>
          <p:cNvPr id="1316" name="Freeform 72"/>
          <p:cNvSpPr/>
          <p:nvPr/>
        </p:nvSpPr>
        <p:spPr>
          <a:xfrm>
            <a:off x="4538160" y="819000"/>
            <a:ext cx="14040" cy="4423320"/>
          </a:xfrm>
          <a:custGeom>
            <a:avLst/>
            <a:gdLst/>
            <a:ahLst/>
            <a:rect l="0" t="0" r="r" b="b"/>
            <a:pathLst>
              <a:path w="39" h="12287">
                <a:moveTo>
                  <a:pt x="0" y="12286"/>
                </a:moveTo>
                <a:lnTo>
                  <a:pt x="38" y="12286"/>
                </a:lnTo>
                <a:lnTo>
                  <a:pt x="38" y="0"/>
                </a:lnTo>
                <a:lnTo>
                  <a:pt x="0" y="0"/>
                </a:lnTo>
                <a:lnTo>
                  <a:pt x="0" y="12286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</p:sp>
      <p:sp>
        <p:nvSpPr>
          <p:cNvPr id="1317" name="Freeform 73"/>
          <p:cNvSpPr/>
          <p:nvPr/>
        </p:nvSpPr>
        <p:spPr>
          <a:xfrm>
            <a:off x="5628960" y="819000"/>
            <a:ext cx="14040" cy="4423320"/>
          </a:xfrm>
          <a:custGeom>
            <a:avLst/>
            <a:gdLst/>
            <a:ahLst/>
            <a:rect l="0" t="0" r="r" b="b"/>
            <a:pathLst>
              <a:path w="39" h="12287">
                <a:moveTo>
                  <a:pt x="0" y="12286"/>
                </a:moveTo>
                <a:lnTo>
                  <a:pt x="38" y="12286"/>
                </a:lnTo>
                <a:lnTo>
                  <a:pt x="38" y="0"/>
                </a:lnTo>
                <a:lnTo>
                  <a:pt x="0" y="0"/>
                </a:lnTo>
                <a:lnTo>
                  <a:pt x="0" y="12286"/>
                </a:lnTo>
                <a:close/>
              </a:path>
            </a:pathLst>
          </a:custGeom>
          <a:solidFill>
            <a:srgbClr val="5b9bd5"/>
          </a:solidFill>
          <a:ln w="0">
            <a:noFill/>
          </a:ln>
        </p:spPr>
      </p:sp>
      <p:sp>
        <p:nvSpPr>
          <p:cNvPr id="1318" name="Freeform 74"/>
          <p:cNvSpPr/>
          <p:nvPr/>
        </p:nvSpPr>
        <p:spPr>
          <a:xfrm>
            <a:off x="5645520" y="8092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</a:path>
            </a:pathLst>
          </a:custGeom>
          <a:ln cap="sq" w="6480">
            <a:solidFill>
              <a:srgbClr val="d4d4d4"/>
            </a:solidFill>
            <a:round/>
          </a:ln>
        </p:spPr>
      </p:sp>
      <p:sp>
        <p:nvSpPr>
          <p:cNvPr id="1319" name="Freeform 75"/>
          <p:cNvSpPr/>
          <p:nvPr/>
        </p:nvSpPr>
        <p:spPr>
          <a:xfrm>
            <a:off x="5645520" y="10512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</a:path>
            </a:pathLst>
          </a:custGeom>
          <a:ln cap="sq" w="6480">
            <a:solidFill>
              <a:srgbClr val="d4d4d4"/>
            </a:solidFill>
            <a:round/>
          </a:ln>
        </p:spPr>
      </p:sp>
      <p:sp>
        <p:nvSpPr>
          <p:cNvPr id="1320" name="Freeform 76"/>
          <p:cNvSpPr/>
          <p:nvPr/>
        </p:nvSpPr>
        <p:spPr>
          <a:xfrm>
            <a:off x="5645520" y="12470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</a:path>
            </a:pathLst>
          </a:custGeom>
          <a:ln cap="sq" w="6480">
            <a:solidFill>
              <a:srgbClr val="d4d4d4"/>
            </a:solidFill>
            <a:round/>
          </a:ln>
        </p:spPr>
      </p:sp>
      <p:sp>
        <p:nvSpPr>
          <p:cNvPr id="1321" name="Freeform 77"/>
          <p:cNvSpPr/>
          <p:nvPr/>
        </p:nvSpPr>
        <p:spPr>
          <a:xfrm>
            <a:off x="5645520" y="14428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</a:path>
            </a:pathLst>
          </a:custGeom>
          <a:ln cap="sq" w="6480">
            <a:solidFill>
              <a:srgbClr val="d4d4d4"/>
            </a:solidFill>
            <a:round/>
          </a:ln>
        </p:spPr>
      </p:sp>
      <p:sp>
        <p:nvSpPr>
          <p:cNvPr id="1322" name="Freeform 78"/>
          <p:cNvSpPr/>
          <p:nvPr/>
        </p:nvSpPr>
        <p:spPr>
          <a:xfrm>
            <a:off x="5645520" y="20962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</a:path>
            </a:pathLst>
          </a:custGeom>
          <a:ln cap="sq" w="6480">
            <a:solidFill>
              <a:srgbClr val="d4d4d4"/>
            </a:solidFill>
            <a:round/>
          </a:ln>
        </p:spPr>
      </p:sp>
      <p:sp>
        <p:nvSpPr>
          <p:cNvPr id="1323" name="Freeform 79"/>
          <p:cNvSpPr/>
          <p:nvPr/>
        </p:nvSpPr>
        <p:spPr>
          <a:xfrm>
            <a:off x="5645520" y="22921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</a:path>
            </a:pathLst>
          </a:custGeom>
          <a:ln cap="sq" w="6480">
            <a:solidFill>
              <a:srgbClr val="d4d4d4"/>
            </a:solidFill>
            <a:round/>
          </a:ln>
        </p:spPr>
      </p:sp>
      <p:sp>
        <p:nvSpPr>
          <p:cNvPr id="1324" name="Freeform 80"/>
          <p:cNvSpPr/>
          <p:nvPr/>
        </p:nvSpPr>
        <p:spPr>
          <a:xfrm>
            <a:off x="5645520" y="24883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</a:path>
            </a:pathLst>
          </a:custGeom>
          <a:ln cap="sq" w="6480">
            <a:solidFill>
              <a:srgbClr val="d4d4d4"/>
            </a:solidFill>
            <a:round/>
          </a:ln>
        </p:spPr>
      </p:sp>
      <p:sp>
        <p:nvSpPr>
          <p:cNvPr id="1325" name="Freeform 81"/>
          <p:cNvSpPr/>
          <p:nvPr/>
        </p:nvSpPr>
        <p:spPr>
          <a:xfrm>
            <a:off x="5645520" y="31413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</a:path>
            </a:pathLst>
          </a:custGeom>
          <a:ln cap="sq" w="6480">
            <a:solidFill>
              <a:srgbClr val="d4d4d4"/>
            </a:solidFill>
            <a:round/>
          </a:ln>
        </p:spPr>
      </p:sp>
      <p:sp>
        <p:nvSpPr>
          <p:cNvPr id="1326" name="Freeform 82"/>
          <p:cNvSpPr/>
          <p:nvPr/>
        </p:nvSpPr>
        <p:spPr>
          <a:xfrm>
            <a:off x="5645520" y="3337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</a:path>
            </a:pathLst>
          </a:custGeom>
          <a:ln cap="sq" w="6480">
            <a:solidFill>
              <a:srgbClr val="d4d4d4"/>
            </a:solidFill>
            <a:round/>
          </a:ln>
        </p:spPr>
      </p:sp>
      <p:sp>
        <p:nvSpPr>
          <p:cNvPr id="1327" name="Freeform 83"/>
          <p:cNvSpPr/>
          <p:nvPr/>
        </p:nvSpPr>
        <p:spPr>
          <a:xfrm>
            <a:off x="5645520" y="35334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</a:path>
            </a:pathLst>
          </a:custGeom>
          <a:ln cap="sq" w="6480">
            <a:solidFill>
              <a:srgbClr val="d4d4d4"/>
            </a:solidFill>
            <a:round/>
          </a:ln>
        </p:spPr>
      </p:sp>
      <p:sp>
        <p:nvSpPr>
          <p:cNvPr id="1328" name="Freeform 84"/>
          <p:cNvSpPr/>
          <p:nvPr/>
        </p:nvSpPr>
        <p:spPr>
          <a:xfrm>
            <a:off x="5645520" y="41864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</a:path>
            </a:pathLst>
          </a:custGeom>
          <a:ln cap="sq" w="6480">
            <a:solidFill>
              <a:srgbClr val="d4d4d4"/>
            </a:solidFill>
            <a:round/>
          </a:ln>
        </p:spPr>
      </p:sp>
      <p:sp>
        <p:nvSpPr>
          <p:cNvPr id="1329" name="Freeform 85"/>
          <p:cNvSpPr/>
          <p:nvPr/>
        </p:nvSpPr>
        <p:spPr>
          <a:xfrm>
            <a:off x="5645520" y="43826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</a:path>
            </a:pathLst>
          </a:custGeom>
          <a:ln cap="sq" w="6480">
            <a:solidFill>
              <a:srgbClr val="d4d4d4"/>
            </a:solidFill>
            <a:round/>
          </a:ln>
        </p:spPr>
      </p:sp>
      <p:sp>
        <p:nvSpPr>
          <p:cNvPr id="1330" name="Freeform 86"/>
          <p:cNvSpPr/>
          <p:nvPr/>
        </p:nvSpPr>
        <p:spPr>
          <a:xfrm>
            <a:off x="5645520" y="45784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</a:path>
            </a:pathLst>
          </a:custGeom>
          <a:ln cap="sq" w="6480">
            <a:solidFill>
              <a:srgbClr val="d4d4d4"/>
            </a:solidFill>
            <a:round/>
          </a:ln>
        </p:spPr>
      </p:sp>
      <p:sp>
        <p:nvSpPr>
          <p:cNvPr id="1331" name="Freeform 87"/>
          <p:cNvSpPr/>
          <p:nvPr/>
        </p:nvSpPr>
        <p:spPr>
          <a:xfrm>
            <a:off x="5645520" y="52318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</a:path>
            </a:pathLst>
          </a:custGeom>
          <a:ln cap="sq" w="6480">
            <a:solidFill>
              <a:srgbClr val="d4d4d4"/>
            </a:solidFill>
            <a:round/>
          </a:ln>
        </p:spPr>
      </p:sp>
      <p:sp>
        <p:nvSpPr>
          <p:cNvPr id="1332" name="Freeform 88"/>
          <p:cNvSpPr/>
          <p:nvPr/>
        </p:nvSpPr>
        <p:spPr>
          <a:xfrm>
            <a:off x="182880" y="5289480"/>
            <a:ext cx="2268360" cy="712440"/>
          </a:xfrm>
          <a:custGeom>
            <a:avLst/>
            <a:gdLst/>
            <a:ahLst/>
            <a:rect l="0" t="0" r="r" b="b"/>
            <a:pathLst>
              <a:path w="6301" h="1979">
                <a:moveTo>
                  <a:pt x="0" y="1978"/>
                </a:moveTo>
                <a:lnTo>
                  <a:pt x="6300" y="1978"/>
                </a:lnTo>
                <a:lnTo>
                  <a:pt x="6300" y="0"/>
                </a:lnTo>
                <a:lnTo>
                  <a:pt x="0" y="0"/>
                </a:lnTo>
                <a:lnTo>
                  <a:pt x="0" y="1978"/>
                </a:lnTo>
                <a:close/>
              </a:path>
            </a:pathLst>
          </a:custGeom>
          <a:solidFill>
            <a:srgbClr val="008080"/>
          </a:solidFill>
          <a:ln w="0">
            <a:noFill/>
          </a:ln>
        </p:spPr>
      </p:sp>
      <p:sp>
        <p:nvSpPr>
          <p:cNvPr id="1333" name="TextShape 89"/>
          <p:cNvSpPr txBox="1"/>
          <p:nvPr/>
        </p:nvSpPr>
        <p:spPr>
          <a:xfrm>
            <a:off x="4584240" y="4189680"/>
            <a:ext cx="226440" cy="20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Meiryo UI"/>
              </a:rPr>
              <a:t>28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334" name="TextShape 90"/>
          <p:cNvSpPr txBox="1"/>
          <p:nvPr/>
        </p:nvSpPr>
        <p:spPr>
          <a:xfrm>
            <a:off x="706680" y="5303880"/>
            <a:ext cx="122004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ffffff"/>
                </a:solidFill>
                <a:latin typeface="MeiryoUI"/>
              </a:rPr>
              <a:t>改訂資料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1335" name="Freeform 91"/>
          <p:cNvSpPr/>
          <p:nvPr/>
        </p:nvSpPr>
        <p:spPr>
          <a:xfrm>
            <a:off x="2555640" y="5289480"/>
            <a:ext cx="9423720" cy="712440"/>
          </a:xfrm>
          <a:custGeom>
            <a:avLst/>
            <a:gdLst/>
            <a:ahLst/>
            <a:rect l="0" t="0" r="r" b="b"/>
            <a:pathLst>
              <a:path w="26177" h="1979">
                <a:moveTo>
                  <a:pt x="0" y="1978"/>
                </a:moveTo>
                <a:lnTo>
                  <a:pt x="26176" y="1978"/>
                </a:lnTo>
                <a:lnTo>
                  <a:pt x="26176" y="0"/>
                </a:lnTo>
                <a:lnTo>
                  <a:pt x="0" y="0"/>
                </a:lnTo>
                <a:lnTo>
                  <a:pt x="0" y="1978"/>
                </a:lnTo>
                <a:close/>
              </a:path>
            </a:pathLst>
          </a:custGeom>
          <a:solidFill>
            <a:srgbClr val="d7e4bd"/>
          </a:solidFill>
          <a:ln w="0">
            <a:noFill/>
          </a:ln>
        </p:spPr>
      </p:sp>
      <p:sp>
        <p:nvSpPr>
          <p:cNvPr id="1336" name="TextShape 92"/>
          <p:cNvSpPr txBox="1"/>
          <p:nvPr/>
        </p:nvSpPr>
        <p:spPr>
          <a:xfrm>
            <a:off x="529920" y="5669640"/>
            <a:ext cx="182952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ffffff"/>
                </a:solidFill>
                <a:latin typeface="MeiryoUI"/>
              </a:rPr>
              <a:t>新パスワード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1337" name="Freeform 93"/>
          <p:cNvSpPr/>
          <p:nvPr/>
        </p:nvSpPr>
        <p:spPr>
          <a:xfrm>
            <a:off x="5826960" y="780840"/>
            <a:ext cx="6153120" cy="4455360"/>
          </a:xfrm>
          <a:custGeom>
            <a:avLst/>
            <a:gdLst/>
            <a:ahLst/>
            <a:rect l="0" t="0" r="r" b="b"/>
            <a:pathLst>
              <a:path w="17092" h="12376">
                <a:moveTo>
                  <a:pt x="0" y="12375"/>
                </a:moveTo>
                <a:lnTo>
                  <a:pt x="17091" y="12375"/>
                </a:lnTo>
                <a:lnTo>
                  <a:pt x="17091" y="0"/>
                </a:lnTo>
                <a:lnTo>
                  <a:pt x="0" y="0"/>
                </a:lnTo>
                <a:lnTo>
                  <a:pt x="0" y="12375"/>
                </a:lnTo>
                <a:close/>
              </a:path>
            </a:pathLst>
          </a:custGeom>
          <a:noFill/>
          <a:ln w="25200">
            <a:solidFill>
              <a:srgbClr val="92d050"/>
            </a:solidFill>
            <a:round/>
          </a:ln>
        </p:spPr>
      </p:sp>
      <p:sp>
        <p:nvSpPr>
          <p:cNvPr id="1338" name="TextShape 94"/>
          <p:cNvSpPr txBox="1"/>
          <p:nvPr/>
        </p:nvSpPr>
        <p:spPr>
          <a:xfrm>
            <a:off x="5117040" y="5352480"/>
            <a:ext cx="5347800" cy="65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4000" spc="-1" strike="noStrike">
                <a:solidFill>
                  <a:srgbClr val="404040"/>
                </a:solidFill>
                <a:latin typeface="Meiryo UI"/>
              </a:rPr>
              <a:t>25</a:t>
            </a:r>
            <a:r>
              <a:rPr b="1" lang="zh-CN" sz="4000" spc="-1" strike="noStrike">
                <a:solidFill>
                  <a:srgbClr val="404040"/>
                </a:solidFill>
                <a:latin typeface="MeiryoUI"/>
              </a:rPr>
              <a:t>年</a:t>
            </a:r>
            <a:r>
              <a:rPr b="1" lang="en-US" sz="4000" spc="-1" strike="noStrike">
                <a:solidFill>
                  <a:srgbClr val="404040"/>
                </a:solidFill>
                <a:latin typeface="Meiryo UI"/>
              </a:rPr>
              <a:t>3</a:t>
            </a:r>
            <a:r>
              <a:rPr b="1" lang="zh-CN" sz="4000" spc="-1" strike="noStrike">
                <a:solidFill>
                  <a:srgbClr val="404040"/>
                </a:solidFill>
                <a:latin typeface="MeiryoUI"/>
              </a:rPr>
              <a:t>月</a:t>
            </a:r>
            <a:r>
              <a:rPr b="1" lang="en-US" sz="4000" spc="-1" strike="noStrike">
                <a:solidFill>
                  <a:srgbClr val="404040"/>
                </a:solidFill>
                <a:latin typeface="Meiryo UI"/>
              </a:rPr>
              <a:t>3</a:t>
            </a:r>
            <a:r>
              <a:rPr b="1" lang="zh-CN" sz="4000" spc="-1" strike="noStrike">
                <a:solidFill>
                  <a:srgbClr val="404040"/>
                </a:solidFill>
                <a:latin typeface="MeiryoUI"/>
              </a:rPr>
              <a:t>日</a:t>
            </a:r>
            <a:r>
              <a:rPr b="1" lang="en-US" sz="4000" spc="-1" strike="noStrike">
                <a:solidFill>
                  <a:srgbClr val="404040"/>
                </a:solidFill>
                <a:latin typeface="Meiryo UI"/>
              </a:rPr>
              <a:t>(</a:t>
            </a:r>
            <a:r>
              <a:rPr b="1" lang="zh-CN" sz="4000" spc="-1" strike="noStrike">
                <a:solidFill>
                  <a:srgbClr val="404040"/>
                </a:solidFill>
                <a:latin typeface="MeiryoUI"/>
              </a:rPr>
              <a:t>月</a:t>
            </a:r>
            <a:r>
              <a:rPr b="1" lang="en-US" sz="4000" spc="-1" strike="noStrike">
                <a:solidFill>
                  <a:srgbClr val="404040"/>
                </a:solidFill>
                <a:latin typeface="Meiryo UI"/>
              </a:rPr>
              <a:t>)</a:t>
            </a:r>
            <a:endParaRPr b="0" lang="en-US" sz="4000" spc="-1" strike="noStrike">
              <a:latin typeface="Times New Roman"/>
            </a:endParaRPr>
          </a:p>
        </p:txBody>
      </p:sp>
      <p:sp>
        <p:nvSpPr>
          <p:cNvPr id="1339" name="TextShape 95"/>
          <p:cNvSpPr txBox="1"/>
          <p:nvPr/>
        </p:nvSpPr>
        <p:spPr>
          <a:xfrm>
            <a:off x="5918400" y="941760"/>
            <a:ext cx="250992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000" spc="-1" strike="noStrike">
                <a:solidFill>
                  <a:srgbClr val="404040"/>
                </a:solidFill>
                <a:latin typeface="MeiryoUI"/>
              </a:rPr>
              <a:t>※</a:t>
            </a:r>
            <a:r>
              <a:rPr b="1" lang="zh-CN" sz="2000" spc="-1" strike="noStrike">
                <a:solidFill>
                  <a:srgbClr val="404040"/>
                </a:solidFill>
                <a:latin typeface="MeiryoUI"/>
              </a:rPr>
              <a:t>現行資料</a:t>
            </a:r>
            <a:r>
              <a:rPr b="1" lang="en-US" sz="2000" spc="-1" strike="noStrike">
                <a:solidFill>
                  <a:srgbClr val="404040"/>
                </a:solidFill>
                <a:latin typeface="Meiryo UI"/>
              </a:rPr>
              <a:t>2</a:t>
            </a:r>
            <a:r>
              <a:rPr b="1" lang="zh-CN" sz="2000" spc="-1" strike="noStrike">
                <a:solidFill>
                  <a:srgbClr val="404040"/>
                </a:solidFill>
                <a:latin typeface="MeiryoUI"/>
              </a:rPr>
              <a:t>月末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1340" name="TextShape 96"/>
          <p:cNvSpPr txBox="1"/>
          <p:nvPr/>
        </p:nvSpPr>
        <p:spPr>
          <a:xfrm>
            <a:off x="8258040" y="1012680"/>
            <a:ext cx="45792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600" spc="-1" strike="noStrike">
                <a:solidFill>
                  <a:srgbClr val="404040"/>
                </a:solidFill>
                <a:latin typeface="MeiryoUI"/>
              </a:rPr>
              <a:t>まで</a:t>
            </a:r>
            <a:endParaRPr b="0" lang="en-US" sz="1600" spc="-1" strike="noStrike">
              <a:latin typeface="Times New Roman"/>
            </a:endParaRPr>
          </a:p>
        </p:txBody>
      </p:sp>
      <p:sp>
        <p:nvSpPr>
          <p:cNvPr id="1341" name="TextShape 97"/>
          <p:cNvSpPr txBox="1"/>
          <p:nvPr/>
        </p:nvSpPr>
        <p:spPr>
          <a:xfrm>
            <a:off x="8643600" y="941760"/>
            <a:ext cx="361728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404040"/>
                </a:solidFill>
                <a:latin typeface="MeiryoUI"/>
              </a:rPr>
              <a:t>提供</a:t>
            </a:r>
            <a:r>
              <a:rPr b="1" lang="en-US" sz="2000" spc="-1" strike="noStrike">
                <a:solidFill>
                  <a:srgbClr val="404040"/>
                </a:solidFill>
                <a:latin typeface="Meiryo UI"/>
              </a:rPr>
              <a:t>:</a:t>
            </a:r>
            <a:r>
              <a:rPr b="1" lang="zh-CN" sz="2000" spc="-1" strike="noStrike">
                <a:solidFill>
                  <a:srgbClr val="404040"/>
                </a:solidFill>
                <a:latin typeface="MeiryoUI"/>
              </a:rPr>
              <a:t>現行パスワード使用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1342" name="TextShape 98"/>
          <p:cNvSpPr txBox="1"/>
          <p:nvPr/>
        </p:nvSpPr>
        <p:spPr>
          <a:xfrm>
            <a:off x="5918400" y="1307520"/>
            <a:ext cx="502380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404040"/>
                </a:solidFill>
                <a:latin typeface="MeiryoUI"/>
              </a:rPr>
              <a:t>・</a:t>
            </a:r>
            <a:r>
              <a:rPr b="1" lang="en-US" sz="2000" spc="-1" strike="noStrike">
                <a:solidFill>
                  <a:srgbClr val="404040"/>
                </a:solidFill>
                <a:latin typeface="Meiryo UI"/>
              </a:rPr>
              <a:t>2</a:t>
            </a:r>
            <a:r>
              <a:rPr b="1" lang="zh-CN" sz="2000" spc="-1" strike="noStrike">
                <a:solidFill>
                  <a:srgbClr val="404040"/>
                </a:solidFill>
                <a:latin typeface="MeiryoUI"/>
              </a:rPr>
              <a:t>月中に順次</a:t>
            </a:r>
            <a:r>
              <a:rPr b="1" lang="en-US" sz="2000" spc="-1" strike="noStrike">
                <a:solidFill>
                  <a:srgbClr val="404040"/>
                </a:solidFill>
                <a:latin typeface="Meiryo UI"/>
              </a:rPr>
              <a:t> </a:t>
            </a:r>
            <a:r>
              <a:rPr b="1" lang="zh-CN" sz="2000" spc="-1" strike="noStrike">
                <a:solidFill>
                  <a:srgbClr val="404040"/>
                </a:solidFill>
                <a:latin typeface="MeiryoUI"/>
              </a:rPr>
              <a:t>新パスワードを送付</a:t>
            </a:r>
            <a:endParaRPr b="0" lang="en-US" sz="2000" spc="-1" strike="noStrike">
              <a:latin typeface="Times New Roman"/>
            </a:endParaRPr>
          </a:p>
        </p:txBody>
      </p:sp>
      <p:pic>
        <p:nvPicPr>
          <p:cNvPr id="1343" name="" descr=""/>
          <p:cNvPicPr/>
          <p:nvPr/>
        </p:nvPicPr>
        <p:blipFill>
          <a:blip r:embed="rId5"/>
          <a:stretch/>
        </p:blipFill>
        <p:spPr>
          <a:xfrm>
            <a:off x="5835240" y="1560600"/>
            <a:ext cx="779040" cy="640440"/>
          </a:xfrm>
          <a:prstGeom prst="rect">
            <a:avLst/>
          </a:prstGeom>
          <a:ln w="0">
            <a:noFill/>
          </a:ln>
        </p:spPr>
      </p:pic>
      <p:sp>
        <p:nvSpPr>
          <p:cNvPr id="1344" name="TextShape 99"/>
          <p:cNvSpPr txBox="1"/>
          <p:nvPr/>
        </p:nvSpPr>
        <p:spPr>
          <a:xfrm>
            <a:off x="5918400" y="1666800"/>
            <a:ext cx="30492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000" spc="-1" strike="noStrike">
                <a:solidFill>
                  <a:srgbClr val="404040"/>
                </a:solidFill>
                <a:latin typeface="Meiryo UI"/>
              </a:rPr>
              <a:t> 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1345" name="TextShape 100"/>
          <p:cNvSpPr txBox="1"/>
          <p:nvPr/>
        </p:nvSpPr>
        <p:spPr>
          <a:xfrm>
            <a:off x="6433560" y="1666800"/>
            <a:ext cx="539784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000" spc="-1" strike="noStrike">
                <a:solidFill>
                  <a:srgbClr val="404040"/>
                </a:solidFill>
                <a:latin typeface="Meiryo UI"/>
              </a:rPr>
              <a:t> </a:t>
            </a:r>
            <a:r>
              <a:rPr b="1" lang="en-US" sz="2000" spc="-1" strike="noStrike">
                <a:solidFill>
                  <a:srgbClr val="404040"/>
                </a:solidFill>
                <a:latin typeface="Meiryo UI"/>
              </a:rPr>
              <a:t>3/3</a:t>
            </a:r>
            <a:r>
              <a:rPr b="1" lang="zh-CN" sz="2000" spc="-1" strike="noStrike">
                <a:solidFill>
                  <a:srgbClr val="404040"/>
                </a:solidFill>
                <a:latin typeface="MeiryoUI"/>
              </a:rPr>
              <a:t>㈪～</a:t>
            </a:r>
            <a:r>
              <a:rPr b="1" lang="en-US" sz="2000" spc="-1" strike="noStrike">
                <a:solidFill>
                  <a:srgbClr val="404040"/>
                </a:solidFill>
                <a:latin typeface="Meiryo UI"/>
              </a:rPr>
              <a:t>OP</a:t>
            </a:r>
            <a:r>
              <a:rPr b="1" lang="zh-CN" sz="2000" spc="-1" strike="noStrike">
                <a:solidFill>
                  <a:srgbClr val="404040"/>
                </a:solidFill>
                <a:latin typeface="MeiryoUI"/>
              </a:rPr>
              <a:t>サポート部</a:t>
            </a:r>
            <a:r>
              <a:rPr b="1" lang="en-US" sz="2000" spc="-1" strike="noStrike">
                <a:solidFill>
                  <a:srgbClr val="404040"/>
                </a:solidFill>
                <a:latin typeface="Meiryo UI"/>
              </a:rPr>
              <a:t> </a:t>
            </a:r>
            <a:r>
              <a:rPr b="1" lang="zh-CN" sz="2000" spc="-1" strike="noStrike">
                <a:solidFill>
                  <a:srgbClr val="404040"/>
                </a:solidFill>
                <a:latin typeface="MeiryoUI"/>
              </a:rPr>
              <a:t>資料提供開始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1346" name="TextShape 101"/>
          <p:cNvSpPr txBox="1"/>
          <p:nvPr/>
        </p:nvSpPr>
        <p:spPr>
          <a:xfrm>
            <a:off x="5918400" y="3868560"/>
            <a:ext cx="525312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2000" spc="-1" strike="noStrike">
                <a:solidFill>
                  <a:srgbClr val="404040"/>
                </a:solidFill>
                <a:latin typeface="MeiryoUI"/>
              </a:rPr>
              <a:t>※</a:t>
            </a:r>
            <a:r>
              <a:rPr b="1" lang="zh-CN" sz="2000" spc="-1" strike="noStrike">
                <a:solidFill>
                  <a:srgbClr val="404040"/>
                </a:solidFill>
                <a:latin typeface="MeiryoUI"/>
              </a:rPr>
              <a:t>同一日に格納資料が</a:t>
            </a:r>
            <a:r>
              <a:rPr b="1" lang="en-US" sz="2000" spc="-1" strike="noStrike">
                <a:solidFill>
                  <a:srgbClr val="404040"/>
                </a:solidFill>
                <a:latin typeface="Meiryo UI"/>
              </a:rPr>
              <a:t>3</a:t>
            </a:r>
            <a:r>
              <a:rPr b="1" lang="zh-CN" sz="2000" spc="-1" strike="noStrike">
                <a:solidFill>
                  <a:srgbClr val="404040"/>
                </a:solidFill>
                <a:latin typeface="MeiryoUI"/>
              </a:rPr>
              <a:t>つ以上の場合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1347" name="TextShape 102"/>
          <p:cNvSpPr txBox="1"/>
          <p:nvPr/>
        </p:nvSpPr>
        <p:spPr>
          <a:xfrm>
            <a:off x="6121080" y="4233960"/>
            <a:ext cx="424656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404040"/>
                </a:solidFill>
                <a:latin typeface="MeiryoUI"/>
              </a:rPr>
              <a:t>週間＞月間＞</a:t>
            </a:r>
            <a:r>
              <a:rPr b="1" lang="en-US" sz="2000" spc="-1" strike="noStrike">
                <a:solidFill>
                  <a:srgbClr val="404040"/>
                </a:solidFill>
                <a:latin typeface="Meiryo UI"/>
              </a:rPr>
              <a:t>AI</a:t>
            </a:r>
            <a:r>
              <a:rPr b="1" lang="zh-CN" sz="2000" spc="-1" strike="noStrike">
                <a:solidFill>
                  <a:srgbClr val="404040"/>
                </a:solidFill>
                <a:latin typeface="MeiryoUI"/>
              </a:rPr>
              <a:t>＞中間 で格納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1348" name="Freeform 103"/>
          <p:cNvSpPr/>
          <p:nvPr/>
        </p:nvSpPr>
        <p:spPr>
          <a:xfrm>
            <a:off x="7736760" y="5063040"/>
            <a:ext cx="1323720" cy="17640"/>
          </a:xfrm>
          <a:custGeom>
            <a:avLst/>
            <a:gdLst/>
            <a:ahLst/>
            <a:rect l="0" t="0" r="r" b="b"/>
            <a:pathLst>
              <a:path w="3677" h="49">
                <a:moveTo>
                  <a:pt x="0" y="48"/>
                </a:moveTo>
                <a:lnTo>
                  <a:pt x="3676" y="48"/>
                </a:lnTo>
                <a:lnTo>
                  <a:pt x="3676" y="0"/>
                </a:lnTo>
                <a:lnTo>
                  <a:pt x="0" y="0"/>
                </a:lnTo>
                <a:lnTo>
                  <a:pt x="0" y="48"/>
                </a:lnTo>
                <a:close/>
              </a:path>
            </a:pathLst>
          </a:custGeom>
          <a:solidFill>
            <a:srgbClr val="c00000"/>
          </a:solidFill>
          <a:ln w="0">
            <a:noFill/>
          </a:ln>
        </p:spPr>
      </p:sp>
      <p:sp>
        <p:nvSpPr>
          <p:cNvPr id="1349" name="Freeform 104"/>
          <p:cNvSpPr/>
          <p:nvPr/>
        </p:nvSpPr>
        <p:spPr>
          <a:xfrm>
            <a:off x="213120" y="1516320"/>
            <a:ext cx="1067760" cy="215640"/>
          </a:xfrm>
          <a:custGeom>
            <a:avLst/>
            <a:gdLst/>
            <a:ahLst/>
            <a:rect l="0" t="0" r="r" b="b"/>
            <a:pathLst>
              <a:path w="2966" h="599">
                <a:moveTo>
                  <a:pt x="0" y="598"/>
                </a:moveTo>
                <a:lnTo>
                  <a:pt x="2965" y="598"/>
                </a:lnTo>
                <a:lnTo>
                  <a:pt x="2965" y="0"/>
                </a:lnTo>
                <a:lnTo>
                  <a:pt x="0" y="0"/>
                </a:lnTo>
                <a:lnTo>
                  <a:pt x="0" y="598"/>
                </a:lnTo>
                <a:close/>
              </a:path>
            </a:pathLst>
          </a:custGeom>
          <a:solidFill>
            <a:srgbClr val="fcd5b5"/>
          </a:solidFill>
          <a:ln w="0">
            <a:noFill/>
          </a:ln>
        </p:spPr>
      </p:sp>
      <p:sp>
        <p:nvSpPr>
          <p:cNvPr id="1350" name="TextShape 105"/>
          <p:cNvSpPr txBox="1"/>
          <p:nvPr/>
        </p:nvSpPr>
        <p:spPr>
          <a:xfrm>
            <a:off x="6121080" y="4723920"/>
            <a:ext cx="6284160" cy="38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400" spc="-1" strike="noStrike">
                <a:solidFill>
                  <a:srgbClr val="c00000"/>
                </a:solidFill>
                <a:latin typeface="MeiryoUI"/>
              </a:rPr>
              <a:t>格納時間は格納日中とさせていただきます</a:t>
            </a:r>
            <a:endParaRPr b="0" lang="en-US" sz="2400" spc="-1" strike="noStrike">
              <a:latin typeface="Times New Roman"/>
            </a:endParaRPr>
          </a:p>
        </p:txBody>
      </p:sp>
      <p:sp>
        <p:nvSpPr>
          <p:cNvPr id="1351" name="Freeform 106"/>
          <p:cNvSpPr/>
          <p:nvPr/>
        </p:nvSpPr>
        <p:spPr>
          <a:xfrm>
            <a:off x="1280160" y="2915280"/>
            <a:ext cx="1067400" cy="215640"/>
          </a:xfrm>
          <a:custGeom>
            <a:avLst/>
            <a:gdLst/>
            <a:ahLst/>
            <a:rect l="0" t="0" r="r" b="b"/>
            <a:pathLst>
              <a:path w="2965" h="599">
                <a:moveTo>
                  <a:pt x="0" y="598"/>
                </a:moveTo>
                <a:lnTo>
                  <a:pt x="2964" y="598"/>
                </a:lnTo>
                <a:lnTo>
                  <a:pt x="2964" y="0"/>
                </a:lnTo>
                <a:lnTo>
                  <a:pt x="0" y="0"/>
                </a:lnTo>
                <a:lnTo>
                  <a:pt x="0" y="598"/>
                </a:lnTo>
                <a:close/>
              </a:path>
            </a:pathLst>
          </a:custGeom>
          <a:solidFill>
            <a:srgbClr val="dbeef4"/>
          </a:solidFill>
          <a:ln w="0">
            <a:noFill/>
          </a:ln>
        </p:spPr>
      </p:sp>
      <p:sp>
        <p:nvSpPr>
          <p:cNvPr id="1352" name="TextShape 107"/>
          <p:cNvSpPr txBox="1"/>
          <p:nvPr/>
        </p:nvSpPr>
        <p:spPr>
          <a:xfrm>
            <a:off x="340560" y="151812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000000"/>
                </a:solidFill>
                <a:latin typeface="MeiryoUI"/>
              </a:rPr>
              <a:t>週間資料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53" name="Freeform 108"/>
          <p:cNvSpPr/>
          <p:nvPr/>
        </p:nvSpPr>
        <p:spPr>
          <a:xfrm>
            <a:off x="4546080" y="1514520"/>
            <a:ext cx="1067400" cy="214200"/>
          </a:xfrm>
          <a:custGeom>
            <a:avLst/>
            <a:gdLst/>
            <a:ahLst/>
            <a:rect l="0" t="0" r="r" b="b"/>
            <a:pathLst>
              <a:path w="2965" h="595">
                <a:moveTo>
                  <a:pt x="0" y="594"/>
                </a:moveTo>
                <a:lnTo>
                  <a:pt x="2964" y="594"/>
                </a:lnTo>
                <a:lnTo>
                  <a:pt x="2964" y="0"/>
                </a:lnTo>
                <a:lnTo>
                  <a:pt x="0" y="0"/>
                </a:lnTo>
                <a:lnTo>
                  <a:pt x="0" y="594"/>
                </a:lnTo>
                <a:close/>
              </a:path>
            </a:pathLst>
          </a:custGeom>
          <a:solidFill>
            <a:srgbClr val="e6b9b8"/>
          </a:solidFill>
          <a:ln w="0">
            <a:noFill/>
          </a:ln>
        </p:spPr>
      </p:sp>
      <p:sp>
        <p:nvSpPr>
          <p:cNvPr id="1354" name="TextShape 109"/>
          <p:cNvSpPr txBox="1"/>
          <p:nvPr/>
        </p:nvSpPr>
        <p:spPr>
          <a:xfrm>
            <a:off x="1407240" y="291816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000000"/>
                </a:solidFill>
                <a:latin typeface="MeiryoUI"/>
              </a:rPr>
              <a:t>中間資料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55" name="Freeform 110"/>
          <p:cNvSpPr/>
          <p:nvPr/>
        </p:nvSpPr>
        <p:spPr>
          <a:xfrm>
            <a:off x="213120" y="1792080"/>
            <a:ext cx="1067760" cy="215640"/>
          </a:xfrm>
          <a:custGeom>
            <a:avLst/>
            <a:gdLst/>
            <a:ahLst/>
            <a:rect l="0" t="0" r="r" b="b"/>
            <a:pathLst>
              <a:path w="2966" h="599">
                <a:moveTo>
                  <a:pt x="0" y="598"/>
                </a:moveTo>
                <a:lnTo>
                  <a:pt x="2965" y="598"/>
                </a:lnTo>
                <a:lnTo>
                  <a:pt x="2965" y="0"/>
                </a:lnTo>
                <a:lnTo>
                  <a:pt x="0" y="0"/>
                </a:lnTo>
                <a:lnTo>
                  <a:pt x="0" y="598"/>
                </a:lnTo>
                <a:close/>
              </a:path>
            </a:pathLst>
          </a:custGeom>
          <a:solidFill>
            <a:srgbClr val="d7e4bd"/>
          </a:solidFill>
          <a:ln w="0">
            <a:noFill/>
          </a:ln>
        </p:spPr>
      </p:sp>
      <p:sp>
        <p:nvSpPr>
          <p:cNvPr id="1356" name="TextShape 111"/>
          <p:cNvSpPr txBox="1"/>
          <p:nvPr/>
        </p:nvSpPr>
        <p:spPr>
          <a:xfrm>
            <a:off x="4674240" y="151596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000000"/>
                </a:solidFill>
                <a:latin typeface="MeiryoUI"/>
              </a:rPr>
              <a:t>月間資料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57" name="Freeform 112"/>
          <p:cNvSpPr/>
          <p:nvPr/>
        </p:nvSpPr>
        <p:spPr>
          <a:xfrm>
            <a:off x="1280160" y="2436840"/>
            <a:ext cx="1067400" cy="213840"/>
          </a:xfrm>
          <a:custGeom>
            <a:avLst/>
            <a:gdLst/>
            <a:ahLst/>
            <a:rect l="0" t="0" r="r" b="b"/>
            <a:pathLst>
              <a:path w="2965" h="594">
                <a:moveTo>
                  <a:pt x="0" y="593"/>
                </a:moveTo>
                <a:lnTo>
                  <a:pt x="2964" y="593"/>
                </a:lnTo>
                <a:lnTo>
                  <a:pt x="2964" y="0"/>
                </a:lnTo>
                <a:lnTo>
                  <a:pt x="0" y="0"/>
                </a:lnTo>
                <a:lnTo>
                  <a:pt x="0" y="593"/>
                </a:lnTo>
                <a:close/>
              </a:path>
            </a:pathLst>
          </a:custGeom>
          <a:solidFill>
            <a:srgbClr val="fcd5b5"/>
          </a:solidFill>
          <a:ln w="0">
            <a:noFill/>
          </a:ln>
        </p:spPr>
      </p:sp>
      <p:sp>
        <p:nvSpPr>
          <p:cNvPr id="1358" name="TextShape 113"/>
          <p:cNvSpPr txBox="1"/>
          <p:nvPr/>
        </p:nvSpPr>
        <p:spPr>
          <a:xfrm>
            <a:off x="416520" y="1793880"/>
            <a:ext cx="68436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Meiryo UI"/>
              </a:rPr>
              <a:t>AI</a:t>
            </a:r>
            <a:r>
              <a:rPr b="1" lang="zh-CN" sz="1400" spc="-1" strike="noStrike">
                <a:solidFill>
                  <a:srgbClr val="000000"/>
                </a:solidFill>
                <a:latin typeface="MeiryoUI"/>
              </a:rPr>
              <a:t>資料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59" name="Freeform 114"/>
          <p:cNvSpPr/>
          <p:nvPr/>
        </p:nvSpPr>
        <p:spPr>
          <a:xfrm>
            <a:off x="1289160" y="2668320"/>
            <a:ext cx="1067400" cy="215640"/>
          </a:xfrm>
          <a:custGeom>
            <a:avLst/>
            <a:gdLst/>
            <a:ahLst/>
            <a:rect l="0" t="0" r="r" b="b"/>
            <a:pathLst>
              <a:path w="2965" h="599">
                <a:moveTo>
                  <a:pt x="0" y="598"/>
                </a:moveTo>
                <a:lnTo>
                  <a:pt x="2964" y="598"/>
                </a:lnTo>
                <a:lnTo>
                  <a:pt x="2964" y="0"/>
                </a:lnTo>
                <a:lnTo>
                  <a:pt x="0" y="0"/>
                </a:lnTo>
                <a:lnTo>
                  <a:pt x="0" y="598"/>
                </a:lnTo>
                <a:close/>
              </a:path>
            </a:pathLst>
          </a:custGeom>
          <a:solidFill>
            <a:srgbClr val="d7e4bd"/>
          </a:solidFill>
          <a:ln w="0">
            <a:noFill/>
          </a:ln>
        </p:spPr>
      </p:sp>
      <p:sp>
        <p:nvSpPr>
          <p:cNvPr id="1360" name="TextShape 115"/>
          <p:cNvSpPr txBox="1"/>
          <p:nvPr/>
        </p:nvSpPr>
        <p:spPr>
          <a:xfrm>
            <a:off x="1407240" y="243828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000000"/>
                </a:solidFill>
                <a:latin typeface="MeiryoUI"/>
              </a:rPr>
              <a:t>週間資料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61" name="Freeform 116"/>
          <p:cNvSpPr/>
          <p:nvPr/>
        </p:nvSpPr>
        <p:spPr>
          <a:xfrm>
            <a:off x="1304280" y="3613320"/>
            <a:ext cx="1067760" cy="215640"/>
          </a:xfrm>
          <a:custGeom>
            <a:avLst/>
            <a:gdLst/>
            <a:ahLst/>
            <a:rect l="0" t="0" r="r" b="b"/>
            <a:pathLst>
              <a:path w="2966" h="599">
                <a:moveTo>
                  <a:pt x="0" y="598"/>
                </a:moveTo>
                <a:lnTo>
                  <a:pt x="2965" y="598"/>
                </a:lnTo>
                <a:lnTo>
                  <a:pt x="2965" y="0"/>
                </a:lnTo>
                <a:lnTo>
                  <a:pt x="0" y="0"/>
                </a:lnTo>
                <a:lnTo>
                  <a:pt x="0" y="598"/>
                </a:lnTo>
                <a:close/>
              </a:path>
            </a:pathLst>
          </a:custGeom>
          <a:solidFill>
            <a:srgbClr val="dbeef4"/>
          </a:solidFill>
          <a:ln w="0">
            <a:noFill/>
          </a:ln>
        </p:spPr>
      </p:sp>
      <p:sp>
        <p:nvSpPr>
          <p:cNvPr id="1362" name="TextShape 117"/>
          <p:cNvSpPr txBox="1"/>
          <p:nvPr/>
        </p:nvSpPr>
        <p:spPr>
          <a:xfrm>
            <a:off x="1492920" y="2670480"/>
            <a:ext cx="68436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Meiryo UI"/>
              </a:rPr>
              <a:t>AI</a:t>
            </a:r>
            <a:r>
              <a:rPr b="1" lang="zh-CN" sz="1400" spc="-1" strike="noStrike">
                <a:solidFill>
                  <a:srgbClr val="000000"/>
                </a:solidFill>
                <a:latin typeface="MeiryoUI"/>
              </a:rPr>
              <a:t>資料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63" name="Freeform 118"/>
          <p:cNvSpPr/>
          <p:nvPr/>
        </p:nvSpPr>
        <p:spPr>
          <a:xfrm>
            <a:off x="210240" y="3614760"/>
            <a:ext cx="1067400" cy="214200"/>
          </a:xfrm>
          <a:custGeom>
            <a:avLst/>
            <a:gdLst/>
            <a:ahLst/>
            <a:rect l="0" t="0" r="r" b="b"/>
            <a:pathLst>
              <a:path w="2965" h="595">
                <a:moveTo>
                  <a:pt x="0" y="594"/>
                </a:moveTo>
                <a:lnTo>
                  <a:pt x="2964" y="594"/>
                </a:lnTo>
                <a:lnTo>
                  <a:pt x="2964" y="0"/>
                </a:lnTo>
                <a:lnTo>
                  <a:pt x="0" y="0"/>
                </a:lnTo>
                <a:lnTo>
                  <a:pt x="0" y="594"/>
                </a:lnTo>
                <a:close/>
              </a:path>
            </a:pathLst>
          </a:custGeom>
          <a:solidFill>
            <a:srgbClr val="fcd5b5"/>
          </a:solidFill>
          <a:ln w="0">
            <a:noFill/>
          </a:ln>
        </p:spPr>
      </p:sp>
      <p:sp>
        <p:nvSpPr>
          <p:cNvPr id="1364" name="TextShape 119"/>
          <p:cNvSpPr txBox="1"/>
          <p:nvPr/>
        </p:nvSpPr>
        <p:spPr>
          <a:xfrm>
            <a:off x="1431360" y="361620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000000"/>
                </a:solidFill>
                <a:latin typeface="MeiryoUI"/>
              </a:rPr>
              <a:t>中間資料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65" name="Freeform 120"/>
          <p:cNvSpPr/>
          <p:nvPr/>
        </p:nvSpPr>
        <p:spPr>
          <a:xfrm>
            <a:off x="210240" y="3890520"/>
            <a:ext cx="1067400" cy="214200"/>
          </a:xfrm>
          <a:custGeom>
            <a:avLst/>
            <a:gdLst/>
            <a:ahLst/>
            <a:rect l="0" t="0" r="r" b="b"/>
            <a:pathLst>
              <a:path w="2965" h="595">
                <a:moveTo>
                  <a:pt x="0" y="594"/>
                </a:moveTo>
                <a:lnTo>
                  <a:pt x="2964" y="594"/>
                </a:lnTo>
                <a:lnTo>
                  <a:pt x="2964" y="0"/>
                </a:lnTo>
                <a:lnTo>
                  <a:pt x="0" y="0"/>
                </a:lnTo>
                <a:lnTo>
                  <a:pt x="0" y="594"/>
                </a:lnTo>
                <a:close/>
              </a:path>
            </a:pathLst>
          </a:custGeom>
          <a:solidFill>
            <a:srgbClr val="d7e4bd"/>
          </a:solidFill>
          <a:ln w="0">
            <a:noFill/>
          </a:ln>
        </p:spPr>
      </p:sp>
      <p:sp>
        <p:nvSpPr>
          <p:cNvPr id="1366" name="TextShape 121"/>
          <p:cNvSpPr txBox="1"/>
          <p:nvPr/>
        </p:nvSpPr>
        <p:spPr>
          <a:xfrm>
            <a:off x="338040" y="361692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000000"/>
                </a:solidFill>
                <a:latin typeface="MeiryoUI"/>
              </a:rPr>
              <a:t>週間資料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67" name="Freeform 122"/>
          <p:cNvSpPr/>
          <p:nvPr/>
        </p:nvSpPr>
        <p:spPr>
          <a:xfrm>
            <a:off x="1272240" y="4579560"/>
            <a:ext cx="1067760" cy="213840"/>
          </a:xfrm>
          <a:custGeom>
            <a:avLst/>
            <a:gdLst/>
            <a:ahLst/>
            <a:rect l="0" t="0" r="r" b="b"/>
            <a:pathLst>
              <a:path w="2966" h="594">
                <a:moveTo>
                  <a:pt x="0" y="593"/>
                </a:moveTo>
                <a:lnTo>
                  <a:pt x="2965" y="593"/>
                </a:lnTo>
                <a:lnTo>
                  <a:pt x="2965" y="0"/>
                </a:lnTo>
                <a:lnTo>
                  <a:pt x="0" y="0"/>
                </a:lnTo>
                <a:lnTo>
                  <a:pt x="0" y="593"/>
                </a:lnTo>
                <a:close/>
              </a:path>
            </a:pathLst>
          </a:custGeom>
          <a:solidFill>
            <a:srgbClr val="dbeef4"/>
          </a:solidFill>
          <a:ln w="0">
            <a:noFill/>
          </a:ln>
        </p:spPr>
      </p:sp>
      <p:sp>
        <p:nvSpPr>
          <p:cNvPr id="1368" name="TextShape 123"/>
          <p:cNvSpPr txBox="1"/>
          <p:nvPr/>
        </p:nvSpPr>
        <p:spPr>
          <a:xfrm>
            <a:off x="414360" y="3892680"/>
            <a:ext cx="68436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Meiryo UI"/>
              </a:rPr>
              <a:t>AI</a:t>
            </a:r>
            <a:r>
              <a:rPr b="1" lang="zh-CN" sz="1400" spc="-1" strike="noStrike">
                <a:solidFill>
                  <a:srgbClr val="000000"/>
                </a:solidFill>
                <a:latin typeface="MeiryoUI"/>
              </a:rPr>
              <a:t>資料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69" name="Freeform 124"/>
          <p:cNvSpPr/>
          <p:nvPr/>
        </p:nvSpPr>
        <p:spPr>
          <a:xfrm>
            <a:off x="188640" y="4559760"/>
            <a:ext cx="1067760" cy="213840"/>
          </a:xfrm>
          <a:custGeom>
            <a:avLst/>
            <a:gdLst/>
            <a:ahLst/>
            <a:rect l="0" t="0" r="r" b="b"/>
            <a:pathLst>
              <a:path w="2966" h="594">
                <a:moveTo>
                  <a:pt x="0" y="593"/>
                </a:moveTo>
                <a:lnTo>
                  <a:pt x="2965" y="593"/>
                </a:lnTo>
                <a:lnTo>
                  <a:pt x="2965" y="0"/>
                </a:lnTo>
                <a:lnTo>
                  <a:pt x="0" y="0"/>
                </a:lnTo>
                <a:lnTo>
                  <a:pt x="0" y="593"/>
                </a:lnTo>
                <a:close/>
              </a:path>
            </a:pathLst>
          </a:custGeom>
          <a:solidFill>
            <a:srgbClr val="fcd5b5"/>
          </a:solidFill>
          <a:ln w="0">
            <a:noFill/>
          </a:ln>
        </p:spPr>
      </p:sp>
      <p:sp>
        <p:nvSpPr>
          <p:cNvPr id="1370" name="TextShape 125"/>
          <p:cNvSpPr txBox="1"/>
          <p:nvPr/>
        </p:nvSpPr>
        <p:spPr>
          <a:xfrm>
            <a:off x="1400400" y="458136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000000"/>
                </a:solidFill>
                <a:latin typeface="MeiryoUI"/>
              </a:rPr>
              <a:t>中間資料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71" name="Freeform 126"/>
          <p:cNvSpPr/>
          <p:nvPr/>
        </p:nvSpPr>
        <p:spPr>
          <a:xfrm>
            <a:off x="188640" y="4770000"/>
            <a:ext cx="1067760" cy="214200"/>
          </a:xfrm>
          <a:custGeom>
            <a:avLst/>
            <a:gdLst/>
            <a:ahLst/>
            <a:rect l="0" t="0" r="r" b="b"/>
            <a:pathLst>
              <a:path w="2966" h="595">
                <a:moveTo>
                  <a:pt x="0" y="594"/>
                </a:moveTo>
                <a:lnTo>
                  <a:pt x="2965" y="594"/>
                </a:lnTo>
                <a:lnTo>
                  <a:pt x="2965" y="0"/>
                </a:lnTo>
                <a:lnTo>
                  <a:pt x="0" y="0"/>
                </a:lnTo>
                <a:lnTo>
                  <a:pt x="0" y="594"/>
                </a:lnTo>
                <a:close/>
              </a:path>
            </a:pathLst>
          </a:custGeom>
          <a:solidFill>
            <a:srgbClr val="d7e4bd"/>
          </a:solidFill>
          <a:ln w="0">
            <a:noFill/>
          </a:ln>
        </p:spPr>
      </p:sp>
      <p:sp>
        <p:nvSpPr>
          <p:cNvPr id="1372" name="TextShape 127"/>
          <p:cNvSpPr txBox="1"/>
          <p:nvPr/>
        </p:nvSpPr>
        <p:spPr>
          <a:xfrm>
            <a:off x="317160" y="456192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000000"/>
                </a:solidFill>
                <a:latin typeface="MeiryoUI"/>
              </a:rPr>
              <a:t>週間資料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73" name="Freeform 128"/>
          <p:cNvSpPr/>
          <p:nvPr/>
        </p:nvSpPr>
        <p:spPr>
          <a:xfrm>
            <a:off x="2359080" y="3608640"/>
            <a:ext cx="1067400" cy="215640"/>
          </a:xfrm>
          <a:custGeom>
            <a:avLst/>
            <a:gdLst/>
            <a:ahLst/>
            <a:rect l="0" t="0" r="r" b="b"/>
            <a:pathLst>
              <a:path w="2965" h="599">
                <a:moveTo>
                  <a:pt x="0" y="598"/>
                </a:moveTo>
                <a:lnTo>
                  <a:pt x="2964" y="598"/>
                </a:lnTo>
                <a:lnTo>
                  <a:pt x="2964" y="0"/>
                </a:lnTo>
                <a:lnTo>
                  <a:pt x="0" y="0"/>
                </a:lnTo>
                <a:lnTo>
                  <a:pt x="0" y="598"/>
                </a:lnTo>
                <a:close/>
              </a:path>
            </a:pathLst>
          </a:custGeom>
          <a:solidFill>
            <a:srgbClr val="dbeef4"/>
          </a:solidFill>
          <a:ln w="0">
            <a:noFill/>
          </a:ln>
        </p:spPr>
      </p:sp>
      <p:sp>
        <p:nvSpPr>
          <p:cNvPr id="1374" name="TextShape 129"/>
          <p:cNvSpPr txBox="1"/>
          <p:nvPr/>
        </p:nvSpPr>
        <p:spPr>
          <a:xfrm>
            <a:off x="393120" y="4772520"/>
            <a:ext cx="68436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Meiryo UI"/>
              </a:rPr>
              <a:t>AI</a:t>
            </a:r>
            <a:r>
              <a:rPr b="1" lang="zh-CN" sz="1400" spc="-1" strike="noStrike">
                <a:solidFill>
                  <a:srgbClr val="000000"/>
                </a:solidFill>
                <a:latin typeface="MeiryoUI"/>
              </a:rPr>
              <a:t>資料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75" name="Freeform 130"/>
          <p:cNvSpPr/>
          <p:nvPr/>
        </p:nvSpPr>
        <p:spPr>
          <a:xfrm>
            <a:off x="6095880" y="2075760"/>
            <a:ext cx="1530720" cy="420120"/>
          </a:xfrm>
          <a:custGeom>
            <a:avLst/>
            <a:gdLst/>
            <a:ahLst/>
            <a:rect l="0" t="0" r="r" b="b"/>
            <a:pathLst>
              <a:path w="4252" h="1167">
                <a:moveTo>
                  <a:pt x="0" y="1166"/>
                </a:moveTo>
                <a:lnTo>
                  <a:pt x="4251" y="1166"/>
                </a:lnTo>
                <a:lnTo>
                  <a:pt x="4251" y="0"/>
                </a:lnTo>
                <a:lnTo>
                  <a:pt x="0" y="0"/>
                </a:lnTo>
                <a:lnTo>
                  <a:pt x="0" y="1166"/>
                </a:lnTo>
                <a:close/>
              </a:path>
            </a:pathLst>
          </a:custGeom>
          <a:solidFill>
            <a:srgbClr val="e2efda"/>
          </a:solidFill>
          <a:ln w="0">
            <a:noFill/>
          </a:ln>
        </p:spPr>
      </p:sp>
      <p:sp>
        <p:nvSpPr>
          <p:cNvPr id="1376" name="Freeform 131"/>
          <p:cNvSpPr/>
          <p:nvPr/>
        </p:nvSpPr>
        <p:spPr>
          <a:xfrm>
            <a:off x="7625880" y="2075760"/>
            <a:ext cx="4081320" cy="420120"/>
          </a:xfrm>
          <a:custGeom>
            <a:avLst/>
            <a:gdLst/>
            <a:ahLst/>
            <a:rect l="0" t="0" r="r" b="b"/>
            <a:pathLst>
              <a:path w="11337" h="1167">
                <a:moveTo>
                  <a:pt x="0" y="1166"/>
                </a:moveTo>
                <a:lnTo>
                  <a:pt x="11336" y="1166"/>
                </a:lnTo>
                <a:lnTo>
                  <a:pt x="11336" y="0"/>
                </a:lnTo>
                <a:lnTo>
                  <a:pt x="0" y="0"/>
                </a:lnTo>
                <a:lnTo>
                  <a:pt x="0" y="1166"/>
                </a:lnTo>
                <a:close/>
              </a:path>
            </a:pathLst>
          </a:custGeom>
          <a:solidFill>
            <a:srgbClr val="e2efda"/>
          </a:solidFill>
          <a:ln w="0">
            <a:noFill/>
          </a:ln>
        </p:spPr>
      </p:sp>
      <p:sp>
        <p:nvSpPr>
          <p:cNvPr id="1377" name="Line 132"/>
          <p:cNvSpPr/>
          <p:nvPr/>
        </p:nvSpPr>
        <p:spPr>
          <a:xfrm>
            <a:off x="7625880" y="2072520"/>
            <a:ext cx="0" cy="1684440"/>
          </a:xfrm>
          <a:prstGeom prst="line">
            <a:avLst/>
          </a:prstGeom>
          <a:ln w="612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8" name="Line 133"/>
          <p:cNvSpPr/>
          <p:nvPr/>
        </p:nvSpPr>
        <p:spPr>
          <a:xfrm>
            <a:off x="6092640" y="2495160"/>
            <a:ext cx="5617080" cy="0"/>
          </a:xfrm>
          <a:prstGeom prst="line">
            <a:avLst/>
          </a:prstGeom>
          <a:ln w="612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9" name="Line 134"/>
          <p:cNvSpPr/>
          <p:nvPr/>
        </p:nvSpPr>
        <p:spPr>
          <a:xfrm>
            <a:off x="6092640" y="2914560"/>
            <a:ext cx="5617080" cy="0"/>
          </a:xfrm>
          <a:prstGeom prst="line">
            <a:avLst/>
          </a:prstGeom>
          <a:ln w="612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0" name="Line 135"/>
          <p:cNvSpPr/>
          <p:nvPr/>
        </p:nvSpPr>
        <p:spPr>
          <a:xfrm>
            <a:off x="6092640" y="3334320"/>
            <a:ext cx="5617080" cy="0"/>
          </a:xfrm>
          <a:prstGeom prst="line">
            <a:avLst/>
          </a:prstGeom>
          <a:ln w="612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1" name="Line 136"/>
          <p:cNvSpPr/>
          <p:nvPr/>
        </p:nvSpPr>
        <p:spPr>
          <a:xfrm>
            <a:off x="6095880" y="2072520"/>
            <a:ext cx="0" cy="1684440"/>
          </a:xfrm>
          <a:prstGeom prst="line">
            <a:avLst/>
          </a:prstGeom>
          <a:ln w="612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2" name="Line 137"/>
          <p:cNvSpPr/>
          <p:nvPr/>
        </p:nvSpPr>
        <p:spPr>
          <a:xfrm>
            <a:off x="11706480" y="2072520"/>
            <a:ext cx="0" cy="1684440"/>
          </a:xfrm>
          <a:prstGeom prst="line">
            <a:avLst/>
          </a:prstGeom>
          <a:ln w="612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3" name="Line 138"/>
          <p:cNvSpPr/>
          <p:nvPr/>
        </p:nvSpPr>
        <p:spPr>
          <a:xfrm>
            <a:off x="6092640" y="2075760"/>
            <a:ext cx="5617080" cy="0"/>
          </a:xfrm>
          <a:prstGeom prst="line">
            <a:avLst/>
          </a:prstGeom>
          <a:ln w="612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4" name="Line 139"/>
          <p:cNvSpPr/>
          <p:nvPr/>
        </p:nvSpPr>
        <p:spPr>
          <a:xfrm>
            <a:off x="6092640" y="3753720"/>
            <a:ext cx="5617080" cy="0"/>
          </a:xfrm>
          <a:prstGeom prst="line">
            <a:avLst/>
          </a:prstGeom>
          <a:ln w="6120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85" name="TextShape 140"/>
          <p:cNvSpPr txBox="1"/>
          <p:nvPr/>
        </p:nvSpPr>
        <p:spPr>
          <a:xfrm>
            <a:off x="2487240" y="361080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000000"/>
                </a:solidFill>
                <a:latin typeface="MeiryoUI"/>
              </a:rPr>
              <a:t>中間資料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86" name="TextShape 141"/>
          <p:cNvSpPr txBox="1"/>
          <p:nvPr/>
        </p:nvSpPr>
        <p:spPr>
          <a:xfrm>
            <a:off x="6404400" y="2137320"/>
            <a:ext cx="91512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000" spc="-1" strike="noStrike">
                <a:solidFill>
                  <a:srgbClr val="000000"/>
                </a:solidFill>
                <a:latin typeface="MeiryoUI"/>
              </a:rPr>
              <a:t>資料名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1387" name="TextShape 142"/>
          <p:cNvSpPr txBox="1"/>
          <p:nvPr/>
        </p:nvSpPr>
        <p:spPr>
          <a:xfrm>
            <a:off x="9210240" y="2137320"/>
            <a:ext cx="91512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000" spc="-1" strike="noStrike">
                <a:solidFill>
                  <a:srgbClr val="000000"/>
                </a:solidFill>
                <a:latin typeface="MeiryoUI"/>
              </a:rPr>
              <a:t>格納日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1388" name="TextShape 143"/>
          <p:cNvSpPr txBox="1"/>
          <p:nvPr/>
        </p:nvSpPr>
        <p:spPr>
          <a:xfrm>
            <a:off x="6557040" y="2557080"/>
            <a:ext cx="61020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000" spc="-1" strike="noStrike">
                <a:solidFill>
                  <a:srgbClr val="000000"/>
                </a:solidFill>
                <a:latin typeface="MeiryoUI"/>
              </a:rPr>
              <a:t>月間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1389" name="TextShape 144"/>
          <p:cNvSpPr txBox="1"/>
          <p:nvPr/>
        </p:nvSpPr>
        <p:spPr>
          <a:xfrm>
            <a:off x="7740360" y="2557080"/>
            <a:ext cx="143712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en-US" sz="2000" spc="-1" strike="noStrike">
                <a:solidFill>
                  <a:srgbClr val="000000"/>
                </a:solidFill>
                <a:latin typeface="Meiryo UI"/>
              </a:rPr>
              <a:t>PLBS</a:t>
            </a:r>
            <a:r>
              <a:rPr b="0" lang="zh-CN" sz="2000" spc="-1" strike="noStrike">
                <a:solidFill>
                  <a:srgbClr val="000000"/>
                </a:solidFill>
                <a:latin typeface="MeiryoUI"/>
              </a:rPr>
              <a:t>翌日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1390" name="TextShape 145"/>
          <p:cNvSpPr txBox="1"/>
          <p:nvPr/>
        </p:nvSpPr>
        <p:spPr>
          <a:xfrm>
            <a:off x="6316200" y="2976480"/>
            <a:ext cx="113256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000" spc="-1" strike="noStrike">
                <a:solidFill>
                  <a:srgbClr val="000000"/>
                </a:solidFill>
                <a:latin typeface="MeiryoUI"/>
              </a:rPr>
              <a:t>週間･</a:t>
            </a:r>
            <a:r>
              <a:rPr b="0" lang="en-US" sz="2000" spc="-1" strike="noStrike">
                <a:solidFill>
                  <a:srgbClr val="000000"/>
                </a:solidFill>
                <a:latin typeface="Meiryo UI"/>
              </a:rPr>
              <a:t>AI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1391" name="TextShape 146"/>
          <p:cNvSpPr txBox="1"/>
          <p:nvPr/>
        </p:nvSpPr>
        <p:spPr>
          <a:xfrm>
            <a:off x="7740360" y="2976480"/>
            <a:ext cx="131724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000" spc="-1" strike="noStrike">
                <a:solidFill>
                  <a:srgbClr val="000000"/>
                </a:solidFill>
                <a:latin typeface="MeiryoUI"/>
              </a:rPr>
              <a:t>毎週</a:t>
            </a:r>
            <a:r>
              <a:rPr b="0" lang="en-US" sz="2000" spc="-1" strike="noStrike">
                <a:solidFill>
                  <a:srgbClr val="000000"/>
                </a:solidFill>
                <a:latin typeface="Meiryo UI"/>
              </a:rPr>
              <a:t> </a:t>
            </a:r>
            <a:r>
              <a:rPr b="0" lang="zh-CN" sz="2000" spc="-1" strike="noStrike">
                <a:solidFill>
                  <a:srgbClr val="000000"/>
                </a:solidFill>
                <a:latin typeface="MeiryoUI"/>
              </a:rPr>
              <a:t>月曜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1392" name="TextShape 147"/>
          <p:cNvSpPr txBox="1"/>
          <p:nvPr/>
        </p:nvSpPr>
        <p:spPr>
          <a:xfrm>
            <a:off x="6557040" y="3396240"/>
            <a:ext cx="61020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000" spc="-1" strike="noStrike">
                <a:solidFill>
                  <a:srgbClr val="000000"/>
                </a:solidFill>
                <a:latin typeface="MeiryoUI"/>
              </a:rPr>
              <a:t>中間</a:t>
            </a:r>
            <a:endParaRPr b="0" lang="en-US" sz="2000" spc="-1" strike="noStrike">
              <a:latin typeface="Times New Roman"/>
            </a:endParaRPr>
          </a:p>
        </p:txBody>
      </p:sp>
      <p:pic>
        <p:nvPicPr>
          <p:cNvPr id="1393" name="" descr=""/>
          <p:cNvPicPr/>
          <p:nvPr/>
        </p:nvPicPr>
        <p:blipFill>
          <a:blip r:embed="rId6"/>
          <a:stretch/>
        </p:blipFill>
        <p:spPr>
          <a:xfrm>
            <a:off x="9621000" y="5298840"/>
            <a:ext cx="1464120" cy="711360"/>
          </a:xfrm>
          <a:prstGeom prst="rect">
            <a:avLst/>
          </a:prstGeom>
          <a:ln w="0">
            <a:noFill/>
          </a:ln>
        </p:spPr>
      </p:pic>
      <p:sp>
        <p:nvSpPr>
          <p:cNvPr id="1394" name="TextShape 148"/>
          <p:cNvSpPr txBox="1"/>
          <p:nvPr/>
        </p:nvSpPr>
        <p:spPr>
          <a:xfrm>
            <a:off x="7740360" y="3396240"/>
            <a:ext cx="345096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0" lang="zh-CN" sz="2000" spc="-1" strike="noStrike">
                <a:solidFill>
                  <a:srgbClr val="000000"/>
                </a:solidFill>
                <a:latin typeface="MeiryoUI"/>
              </a:rPr>
              <a:t>毎週 火曜＋人件費確定日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1395" name="Freeform 149"/>
          <p:cNvSpPr/>
          <p:nvPr/>
        </p:nvSpPr>
        <p:spPr>
          <a:xfrm>
            <a:off x="1278360" y="1792080"/>
            <a:ext cx="1067760" cy="214200"/>
          </a:xfrm>
          <a:custGeom>
            <a:avLst/>
            <a:gdLst/>
            <a:ahLst/>
            <a:rect l="0" t="0" r="r" b="b"/>
            <a:pathLst>
              <a:path w="2966" h="595">
                <a:moveTo>
                  <a:pt x="0" y="594"/>
                </a:moveTo>
                <a:lnTo>
                  <a:pt x="2965" y="594"/>
                </a:lnTo>
                <a:lnTo>
                  <a:pt x="2965" y="0"/>
                </a:lnTo>
                <a:lnTo>
                  <a:pt x="0" y="0"/>
                </a:lnTo>
                <a:lnTo>
                  <a:pt x="0" y="594"/>
                </a:lnTo>
                <a:close/>
              </a:path>
            </a:pathLst>
          </a:custGeom>
          <a:solidFill>
            <a:srgbClr val="dbeef4"/>
          </a:solidFill>
          <a:ln w="0">
            <a:noFill/>
          </a:ln>
        </p:spPr>
      </p:sp>
      <p:sp>
        <p:nvSpPr>
          <p:cNvPr id="1396" name="TextShape 150"/>
          <p:cNvSpPr txBox="1"/>
          <p:nvPr/>
        </p:nvSpPr>
        <p:spPr>
          <a:xfrm>
            <a:off x="183600" y="160560"/>
            <a:ext cx="4476600" cy="47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800" spc="-1" strike="noStrike">
                <a:solidFill>
                  <a:srgbClr val="262626"/>
                </a:solidFill>
                <a:latin typeface="MeiryoUI"/>
              </a:rPr>
              <a:t>５．今後のスケジュール</a:t>
            </a:r>
            <a:endParaRPr b="0" lang="en-US" sz="2800" spc="-1" strike="noStrike">
              <a:latin typeface="Times New Roman"/>
            </a:endParaRPr>
          </a:p>
        </p:txBody>
      </p:sp>
      <p:sp>
        <p:nvSpPr>
          <p:cNvPr id="1397" name="TextShape 151"/>
          <p:cNvSpPr txBox="1"/>
          <p:nvPr/>
        </p:nvSpPr>
        <p:spPr>
          <a:xfrm>
            <a:off x="1406520" y="1793520"/>
            <a:ext cx="811440" cy="23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400" spc="-1" strike="noStrike">
                <a:solidFill>
                  <a:srgbClr val="000000"/>
                </a:solidFill>
                <a:latin typeface="MeiryoUI"/>
              </a:rPr>
              <a:t>中間資料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398" name="TextShape 152"/>
          <p:cNvSpPr txBox="1"/>
          <p:nvPr/>
        </p:nvSpPr>
        <p:spPr>
          <a:xfrm>
            <a:off x="2797920" y="6018480"/>
            <a:ext cx="712404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2000" spc="-1" strike="noStrike">
                <a:solidFill>
                  <a:srgbClr val="000000"/>
                </a:solidFill>
                <a:latin typeface="MeiryoUI"/>
              </a:rPr>
              <a:t>問い合わせ先：オペレーションサポート部</a:t>
            </a:r>
            <a:r>
              <a:rPr b="1" lang="en-US" sz="2000" spc="-1" strike="noStrike">
                <a:solidFill>
                  <a:srgbClr val="000000"/>
                </a:solidFill>
                <a:latin typeface="Meiryo UI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Meiryo UI"/>
              </a:rPr>
              <a:t>OP</a:t>
            </a:r>
            <a:r>
              <a:rPr b="1" lang="zh-CN" sz="2000" spc="-1" strike="noStrike">
                <a:solidFill>
                  <a:srgbClr val="000000"/>
                </a:solidFill>
                <a:latin typeface="MeiryoUI"/>
              </a:rPr>
              <a:t>情報</a:t>
            </a:r>
            <a:endParaRPr b="0" lang="en-US" sz="2000" spc="-1" strike="noStrike">
              <a:latin typeface="Times New Roman"/>
            </a:endParaRPr>
          </a:p>
        </p:txBody>
      </p:sp>
      <p:sp>
        <p:nvSpPr>
          <p:cNvPr id="1399" name="TextShape 153"/>
          <p:cNvSpPr txBox="1"/>
          <p:nvPr/>
        </p:nvSpPr>
        <p:spPr>
          <a:xfrm>
            <a:off x="3604680" y="6367680"/>
            <a:ext cx="5207400" cy="29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p>
            <a:r>
              <a:rPr b="1" lang="zh-CN" sz="1800" spc="-1" strike="noStrike">
                <a:solidFill>
                  <a:srgbClr val="000000"/>
                </a:solidFill>
                <a:latin typeface="MeiryoUI"/>
              </a:rPr>
              <a:t>（廣田</a:t>
            </a:r>
            <a:r>
              <a:rPr b="1" lang="en-US" sz="1800" spc="-1" strike="noStrike">
                <a:solidFill>
                  <a:srgbClr val="000000"/>
                </a:solidFill>
                <a:latin typeface="Meiryo UI"/>
              </a:rPr>
              <a:t>M</a:t>
            </a:r>
            <a:r>
              <a:rPr b="1" lang="zh-CN" sz="1800" spc="-1" strike="noStrike">
                <a:solidFill>
                  <a:srgbClr val="000000"/>
                </a:solidFill>
                <a:latin typeface="MeiryoUI"/>
              </a:rPr>
              <a:t>、会田、石原、石田、分須、新原）</a:t>
            </a:r>
            <a:endParaRPr b="0" lang="en-US" sz="18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LibreOffice/7.0.4.2$Linux_X86_64 LibreOffice_project/00$Build-2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