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070280" y="673920"/>
            <a:ext cx="1019412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070280" y="1851120"/>
            <a:ext cx="10194120" cy="351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1760" y="2286000"/>
            <a:ext cx="2032560" cy="762480"/>
          </a:xfrm>
          <a:custGeom>
            <a:avLst/>
            <a:gdLst/>
            <a:ahLst/>
            <a:rect l="0" t="0" r="r" b="b"/>
            <a:pathLst>
              <a:path w="5646" h="2118">
                <a:moveTo>
                  <a:pt x="0" y="2118"/>
                </a:moveTo>
                <a:lnTo>
                  <a:pt x="5646" y="2118"/>
                </a:lnTo>
                <a:lnTo>
                  <a:pt x="5646" y="0"/>
                </a:lnTo>
                <a:lnTo>
                  <a:pt x="0" y="0"/>
                </a:lnTo>
                <a:lnTo>
                  <a:pt x="0" y="2118"/>
                </a:lnTo>
                <a:close/>
              </a:path>
            </a:pathLst>
          </a:custGeom>
          <a:solidFill>
            <a:srgbClr val="e5f0ff"/>
          </a:solidFill>
          <a:ln w="18720">
            <a:solidFill>
              <a:srgbClr val="334c99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507960" y="448920"/>
            <a:ext cx="3906720" cy="35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IPAGothic"/>
                <a:ea typeface="IPAGothic"/>
              </a:rPr>
              <a:t>受注から出荷までの流れ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4825800" y="2286000"/>
            <a:ext cx="2032560" cy="762480"/>
          </a:xfrm>
          <a:custGeom>
            <a:avLst/>
            <a:gdLst/>
            <a:ahLst/>
            <a:rect l="0" t="0" r="r" b="b"/>
            <a:pathLst>
              <a:path w="5646" h="2118">
                <a:moveTo>
                  <a:pt x="0" y="2118"/>
                </a:moveTo>
                <a:lnTo>
                  <a:pt x="5646" y="2118"/>
                </a:lnTo>
                <a:lnTo>
                  <a:pt x="5646" y="0"/>
                </a:lnTo>
                <a:lnTo>
                  <a:pt x="0" y="0"/>
                </a:lnTo>
                <a:lnTo>
                  <a:pt x="0" y="2118"/>
                </a:lnTo>
                <a:close/>
              </a:path>
            </a:pathLst>
          </a:custGeom>
          <a:solidFill>
            <a:srgbClr val="e5f0ff"/>
          </a:solidFill>
          <a:ln w="18720">
            <a:solidFill>
              <a:srgbClr val="334c99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574640" y="2564280"/>
            <a:ext cx="4060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IPAGothic"/>
                <a:ea typeface="IPAGothic"/>
              </a:rPr>
              <a:t>受注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8889840" y="2286000"/>
            <a:ext cx="2032200" cy="762480"/>
          </a:xfrm>
          <a:custGeom>
            <a:avLst/>
            <a:gdLst/>
            <a:ahLst/>
            <a:rect l="0" t="0" r="r" b="b"/>
            <a:pathLst>
              <a:path w="5645" h="2118">
                <a:moveTo>
                  <a:pt x="0" y="2118"/>
                </a:moveTo>
                <a:lnTo>
                  <a:pt x="5645" y="2118"/>
                </a:lnTo>
                <a:lnTo>
                  <a:pt x="5645" y="0"/>
                </a:lnTo>
                <a:lnTo>
                  <a:pt x="0" y="0"/>
                </a:lnTo>
                <a:lnTo>
                  <a:pt x="0" y="2118"/>
                </a:lnTo>
                <a:close/>
              </a:path>
            </a:pathLst>
          </a:custGeom>
          <a:solidFill>
            <a:srgbClr val="e5f0ff"/>
          </a:solidFill>
          <a:ln w="18720">
            <a:solidFill>
              <a:srgbClr val="334c99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435640" y="2564280"/>
            <a:ext cx="8114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IPAGothic"/>
                <a:ea typeface="IPAGothic"/>
              </a:rPr>
              <a:t>在庫確認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4825800" y="4317840"/>
            <a:ext cx="2032560" cy="762480"/>
          </a:xfrm>
          <a:custGeom>
            <a:avLst/>
            <a:gdLst/>
            <a:ahLst/>
            <a:rect l="0" t="0" r="r" b="b"/>
            <a:pathLst>
              <a:path w="5646" h="2118">
                <a:moveTo>
                  <a:pt x="0" y="2118"/>
                </a:moveTo>
                <a:lnTo>
                  <a:pt x="5646" y="2118"/>
                </a:lnTo>
                <a:lnTo>
                  <a:pt x="5646" y="0"/>
                </a:lnTo>
                <a:lnTo>
                  <a:pt x="0" y="0"/>
                </a:lnTo>
                <a:lnTo>
                  <a:pt x="0" y="2118"/>
                </a:lnTo>
                <a:close/>
              </a:path>
            </a:pathLst>
          </a:custGeom>
          <a:solidFill>
            <a:srgbClr val="e5f0ff"/>
          </a:solidFill>
          <a:ln w="18720">
            <a:solidFill>
              <a:srgbClr val="334c99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702720" y="2564280"/>
            <a:ext cx="4060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IPAGothic"/>
                <a:ea typeface="IPAGothic"/>
              </a:rPr>
              <a:t>出荷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793960" y="2666880"/>
            <a:ext cx="2031840" cy="0"/>
          </a:xfrm>
          <a:prstGeom prst="line">
            <a:avLst/>
          </a:prstGeom>
          <a:ln w="252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4720680" y="2622240"/>
            <a:ext cx="105480" cy="89280"/>
          </a:xfrm>
          <a:custGeom>
            <a:avLst/>
            <a:gdLst/>
            <a:ahLst/>
            <a:rect l="0" t="0" r="r" b="b"/>
            <a:pathLst>
              <a:path w="293" h="248">
                <a:moveTo>
                  <a:pt x="293" y="125"/>
                </a:moveTo>
                <a:lnTo>
                  <a:pt x="0" y="0"/>
                </a:lnTo>
                <a:lnTo>
                  <a:pt x="0" y="248"/>
                </a:lnTo>
                <a:lnTo>
                  <a:pt x="293" y="1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858000" y="2666880"/>
            <a:ext cx="2031840" cy="0"/>
          </a:xfrm>
          <a:prstGeom prst="line">
            <a:avLst/>
          </a:prstGeom>
          <a:ln w="25200">
            <a:solidFill>
              <a:srgbClr val="cc0000"/>
            </a:solidFill>
            <a:custDash>
              <a:ds d="301429" sp="201429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8784720" y="2622240"/>
            <a:ext cx="105480" cy="89280"/>
          </a:xfrm>
          <a:custGeom>
            <a:avLst/>
            <a:gdLst/>
            <a:ahLst/>
            <a:rect l="0" t="0" r="r" b="b"/>
            <a:pathLst>
              <a:path w="293" h="248">
                <a:moveTo>
                  <a:pt x="293" y="125"/>
                </a:moveTo>
                <a:lnTo>
                  <a:pt x="0" y="0"/>
                </a:lnTo>
                <a:lnTo>
                  <a:pt x="0" y="248"/>
                </a:lnTo>
                <a:lnTo>
                  <a:pt x="293" y="125"/>
                </a:lnTo>
                <a:close/>
              </a:path>
            </a:pathLst>
          </a:custGeom>
          <a:solidFill>
            <a:srgbClr val="cc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5841720" y="3047760"/>
            <a:ext cx="0" cy="1270080"/>
          </a:xfrm>
          <a:prstGeom prst="line">
            <a:avLst/>
          </a:prstGeom>
          <a:ln w="25200">
            <a:solidFill>
              <a:srgbClr val="008000"/>
            </a:solidFill>
            <a:custDash>
              <a:ds d="74286" sp="1500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5797440" y="4212720"/>
            <a:ext cx="89280" cy="105480"/>
          </a:xfrm>
          <a:custGeom>
            <a:avLst/>
            <a:gdLst/>
            <a:ahLst/>
            <a:rect l="0" t="0" r="r" b="b"/>
            <a:pathLst>
              <a:path w="248" h="293">
                <a:moveTo>
                  <a:pt x="124" y="293"/>
                </a:moveTo>
                <a:lnTo>
                  <a:pt x="248" y="0"/>
                </a:lnTo>
                <a:lnTo>
                  <a:pt x="0" y="0"/>
                </a:lnTo>
                <a:lnTo>
                  <a:pt x="124" y="293"/>
                </a:lnTo>
                <a:close/>
              </a:path>
            </a:pathLst>
          </a:custGeom>
          <a:solidFill>
            <a:srgbClr val="008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638680" y="4596480"/>
            <a:ext cx="4060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IPAGothic"/>
                <a:ea typeface="IPAGothic"/>
              </a:rPr>
              <a:t>発注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62120" y="5707800"/>
            <a:ext cx="6865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008000"/>
                </a:solidFill>
                <a:latin typeface="IPAGothic"/>
                <a:ea typeface="IPAGothic"/>
              </a:rPr>
              <a:t>ROI </a:t>
            </a:r>
            <a:r>
              <a:rPr b="0" lang="en-US" sz="1200" spc="-1" strike="noStrike">
                <a:solidFill>
                  <a:srgbClr val="cc0000"/>
                </a:solidFill>
                <a:latin typeface="IPAGothic"/>
                <a:ea typeface="IPAGothic"/>
              </a:rPr>
              <a:t> 217%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809880" y="5637960"/>
            <a:ext cx="1445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KEY TAKEAWAY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